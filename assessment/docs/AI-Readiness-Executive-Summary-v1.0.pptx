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id="{ecb24581-bf3e-a65c-8d70-25918366c824}">
          <p14:sldIdLst>
            <p14:sldId id="256"/>
            <p14:sldId id="257"/>
            <p14:sldId id="258"/>
          </p14:sldIdLst>
        </p14:section>
        <p14:section name="How it works" id="{438dc9a4-5433-f260-17fb-6b388eeaf1d1}">
          <p14:sldIdLst>
            <p14:sldId id="259"/>
            <p14:sldId id="260"/>
            <p14:sldId id="261"/>
            <p14:sldId id="262"/>
          </p14:sldIdLst>
        </p14:section>
        <p14:section name="The recommendation" id="{b583658e-f9c7-e3ce-45c9-166bac3c89ef}">
          <p14:sldIdLst>
            <p14:sldId id="263"/>
            <p14:sldId id="264"/>
            <p14:sldId id="265"/>
          </p14:sldIdLst>
        </p14:section>
        <p14:section name="Example and outputs" id="{da3dea17-7b1e-1a9b-6cc0-2a38b45ec729}">
          <p14:sldIdLst>
            <p14:sldId id="266"/>
            <p14:sldId id="267"/>
            <p14:sldId id="268"/>
          </p14:sldIdLst>
        </p14:section>
        <p14:section name="Appendix" id="{03df70e9-e610-1f51-70d7-faf1cb96cdec}">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in plain language, how the AI Readiness Assessment works: what it looks at, how it scores, and how it decides what a company should do next with AI. No technical or AI background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Almost every company is being told it needs to “do something with AI.” Many respond by buying a tool or launching a project right away, and a lot of those projects quietly stall. Usually the technology isn’t what failed. Something basic was missing: no owner, no understanding of the work, scattered information, or nobody checking the output. So the useful question is what to do next, given where the company actually is. That is the question this tool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you renovate a house you get it inspected. The inspector checks specific things and tells you what to fix first. This assessment works the same way: the operator (the advisor, strategist, or consultant running it) checks specific, factual things about the company, and the tool turns the findings into a recommendation. And it won’t let a company jump to advanced AI when the basics are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the operator enters the company and its type: business software, software for one industry, AI-first, or services plus software. The type changes the wording, not the rules. Step 2: 67 factual questions in 8 areas. Step 3: each area gets a score from 1 to 4. Step 4: the eight scores roll up into one number from 0 to 100. Step 5: the tool checks for deal-breakers, then recommends one of five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Nobody types in a score directly. The operator records what is true about the company, and the tool does the scoring. That way two people assessing the same company should reach the same answer, because facts can be checked while opinions vary. Some questions describe good things (a named owner) and raise the score. Others describe warning signs (records on paper) and lower it. The most important questions count about one and a half times as much as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eight areas. Leadership, Workflows, Data, and Technical Ability count a little more (15% each) because without them nothing can get built: you need a reason, an understanding of the work, the raw material, and the ability to build. The other four (10% each) decide how well an AI effort lands, how safe it is, and how far it can go. Each area is scored from 1 (weak) to 4 (advanced).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area gets a score from 1 to 4: Weak, Partial, Strong, Advanced. The overall score runs from 0 to 100 in four bands: Low (0–44), Developing (45–69), Strong (70–81), and Advanced (82–100). The bar is high on purpose: a company that is “Strong” in every single area lands at 67, which is Developing. To be called Strong overall, a company needs some areas that are genuinely advanced.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recommendation is always one step on this staircase, and steps can’t be skipped. Step 1: get leadership aligned on why AI matters, who owns it, and what success looks like. Step 2: map the work and the data, and measure the starting point. Step 3: run one small, supervised trial where AI assists people. Step 4: redesign the work itself around AI. Step 5: let AI take certain actions on its own, within clear limits and with full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weaknesses can’t be made up for by strengths elsewhere: a beautiful new kitchen doesn’t fix a cracked foundation. If leadership is weak, the recommendation can’t go past Step 1. If workflows and data are both weak, not past Step 2. If oversight is weak, not past Step 3. If technical ability is weak, not past Step 4. These rules only ever lower a recommendation. They’re on by default, and switching them off shows what the company would be ready for once the foundation is fixed, which is a useful way to show leadership what’s at stake.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that surprises people most. The overall score answers “how much is in place overall?” It’s an average, so strengths make up for weaknesses. The recommendation answers “what’s the next thing to do?” It isn’t an average; it’s decided by the foundation. So a company scoring 90 out of 100 can still be sent to Step 1 if its leadership isn’t aligned. That’s the house with the cracked foundation.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Meridian is a made-up company that makes software for freight brokers. It has good engineers, a modern platform, documented workflows, and data in proper systems. But no single executive owns AI, there’s no written business case, and quality checking depends on a couple of careful people. The scores come out at 55 out of 100, Developing. Without the deal-breaker check, the tool would say Step 3, run small trials. With it, the default, the answer is Step 1, because a trial with no executive owner is an orphan. Oversight also tripped a deal-breaker, but leadership is the one that decided the outcome. Next actions: name an AI owner and thesis, prioritize workflows, agree success criteria before technical work, and consolidate existing experiments.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end the operator gets two things. The report: the overall score and label, the eight area scores, strengths and weaknesses, the recommended step with its reasoning, any deal-breakers that held it back, six recommended activities, four immediate next actions, and the operator’s evidence notes. And the “show your work” view, which traces every score back to the specific answers behind it, so any recommendation can be defended.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you can trust it: it’s built on facts that can be checked, it’s consistent, it explains every number, and it’s cautious. Where its limits are: it’s a first version, and how much each answer counts and where the score lines fall are informed judgment calls that haven’t yet been tested against how real companies turned out. It’s only as good as its answers. It recommends the next step, not the whole journey. And it assesses the company’s conditions, not its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definitions for the terms used in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48840"/>
            <a:ext cx="6766560" cy="155448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731520" y="3840480"/>
            <a:ext cx="6766560" cy="640080"/>
          </a:xfrm>
          <a:prstGeom prst="rect">
            <a:avLst/>
          </a:prstGeom>
          <a:noFill/>
          <a:ln/>
        </p:spPr>
        <p:txBody>
          <a:bodyPr wrap="square" rtlCol="0"/>
          <a:lstStyle>
            <a:lvl1pPr indent="0" marL="0">
              <a:buNone/>
              <a:defRPr lang="en-US" sz="2200" dirty="0">
                <a:solidFill>
                  <a:schemeClr val="bg2"/>
                </a:solidFill>
              </a:defRPr>
            </a:lvl1pPr>
          </a:lstStyle>
          <a:p>
            <a:pPr indent="0" marL="0">
              <a:buNone/>
            </a:pPr>
            <a:endParaRPr lang="en-US" sz="2200" dirty="0"/>
          </a:p>
        </p:txBody>
      </p:sp>
      <p:sp>
        <p:nvSpPr>
          <p:cNvPr id="4" name="Text 0"/>
          <p:cNvSpPr/>
          <p:nvPr/>
        </p:nvSpPr>
        <p:spPr>
          <a:xfrm>
            <a:off x="731520" y="5989320"/>
            <a:ext cx="5486400" cy="320040"/>
          </a:xfrm>
          <a:prstGeom prst="rect">
            <a:avLst/>
          </a:prstGeom>
          <a:noFill/>
          <a:ln/>
        </p:spPr>
        <p:txBody>
          <a:bodyPr wrap="square" lIns="0" tIns="0" rIns="0" bIns="0" rtlCol="0" anchor="ctr"/>
          <a:lstStyle/>
          <a:p>
            <a:pPr indent="0" marL="0">
              <a:buNone/>
            </a:pPr>
            <a:r>
              <a:rPr lang="en-US" sz="1400" dirty="0">
                <a:solidFill>
                  <a:schemeClr val="bg2"/>
                </a:solidFill>
              </a:rPr>
              <a:t>Version 1.0  ·  October 2026</a:t>
            </a: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3152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AI Readiness Assessment  ·  Executive Summary v1.0</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3152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bg2"/>
                </a:solidFill>
              </a:rPr>
              <a:t>AI Readiness Assessment  ·  Executive Summary v1.0</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3.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slideLayout" Target="../slideLayouts/slideLayout4.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48840"/>
            <a:ext cx="6766560" cy="1554480"/>
          </a:xfrm>
          <a:prstGeom prst="rect">
            <a:avLst/>
          </a:prstGeom>
          <a:noFill/>
          <a:ln/>
        </p:spPr>
        <p:txBody>
          <a:bodyPr wrap="square" lIns="0" tIns="0" rIns="0" bIns="0" rtlCol="0" anchor="b"/>
          <a:lstStyle/>
          <a:p>
            <a:pPr algn="l" indent="0" marL="0">
              <a:buNone/>
            </a:pPr>
            <a:r>
              <a:rPr lang="en-US" sz="4800" b="1" dirty="0">
                <a:solidFill>
                  <a:schemeClr val="bg1"/>
                </a:solidFill>
              </a:rPr>
              <a:t>AI Readiness Assessment</a:t>
            </a:r>
            <a:endParaRPr lang="en-US" sz="4800" dirty="0"/>
          </a:p>
        </p:txBody>
      </p:sp>
      <p:sp>
        <p:nvSpPr>
          <p:cNvPr id="3" name="Text 0"/>
          <p:cNvSpPr/>
          <p:nvPr>
            <p:ph idx="101" type="body" hasCustomPrompt="1"/>
          </p:nvPr>
        </p:nvSpPr>
        <p:spPr>
          <a:xfrm>
            <a:off x="731520" y="3840480"/>
            <a:ext cx="6766560" cy="640080"/>
          </a:xfrm>
          <a:prstGeom prst="rect">
            <a:avLst/>
          </a:prstGeom>
          <a:noFill/>
          <a:ln/>
        </p:spPr>
        <p:txBody>
          <a:bodyPr wrap="square" lIns="0" tIns="0" rIns="0" bIns="0" rtlCol="0" anchor="t"/>
          <a:lstStyle/>
          <a:p>
            <a:pPr indent="0" marL="0">
              <a:buNone/>
            </a:pPr>
            <a:r>
              <a:rPr lang="en-US" sz="2200" dirty="0">
                <a:solidFill>
                  <a:schemeClr val="bg2"/>
                </a:solidFill>
              </a:rPr>
              <a:t>How it works: an executive summary</a:t>
            </a:r>
            <a:endParaRPr lang="en-US" sz="2200" dirty="0"/>
          </a:p>
        </p:txBody>
      </p:sp>
      <p:sp>
        <p:nvSpPr>
          <p:cNvPr id="4" name="stair-1"/>
          <p:cNvSpPr/>
          <p:nvPr/>
        </p:nvSpPr>
        <p:spPr>
          <a:xfrm>
            <a:off x="7726680" y="5074920"/>
            <a:ext cx="713232" cy="685800"/>
          </a:xfrm>
          <a:prstGeom prst="rect">
            <a:avLst/>
          </a:prstGeom>
          <a:solidFill>
            <a:schemeClr val="bg1">
              <a:alpha val="22000"/>
            </a:schemeClr>
          </a:solidFill>
          <a:ln w="12700">
            <a:solidFill>
              <a:schemeClr val="bg1">
                <a:alpha val="0"/>
              </a:schemeClr>
            </a:solidFill>
            <a:prstDash val="solid"/>
          </a:ln>
        </p:spPr>
      </p:sp>
      <p:sp>
        <p:nvSpPr>
          <p:cNvPr id="5" name="Text 3"/>
          <p:cNvSpPr txBox="1"/>
          <p:nvPr/>
        </p:nvSpPr>
        <p:spPr>
          <a:xfrm>
            <a:off x="7726680" y="5166360"/>
            <a:ext cx="713232" cy="457200"/>
          </a:xfrm>
          <a:prstGeom prst="rect">
            <a:avLst/>
          </a:prstGeom>
          <a:noFill/>
          <a:ln/>
        </p:spPr>
        <p:txBody>
          <a:bodyPr wrap="square" lIns="0" tIns="0" rIns="0" bIns="0" rtlCol="0" anchor="t"/>
          <a:lstStyle/>
          <a:p>
            <a:pPr algn="ctr" indent="0" marL="0">
              <a:buNone/>
            </a:pPr>
            <a:r>
              <a:rPr lang="en-US" sz="2200" b="1" dirty="0">
                <a:solidFill>
                  <a:schemeClr val="bg1"/>
                </a:solidFill>
                <a:latin typeface="+mj-lt" pitchFamily="34" charset="0"/>
                <a:ea typeface="+mj-lt" pitchFamily="34" charset="-122"/>
                <a:cs typeface="+mj-lt" pitchFamily="34" charset="-120"/>
              </a:rPr>
              <a:t>1</a:t>
            </a:r>
            <a:endParaRPr lang="en-US" sz="2200" dirty="0"/>
          </a:p>
        </p:txBody>
      </p:sp>
      <p:sp>
        <p:nvSpPr>
          <p:cNvPr id="6" name="stair-2"/>
          <p:cNvSpPr/>
          <p:nvPr/>
        </p:nvSpPr>
        <p:spPr>
          <a:xfrm>
            <a:off x="8549640" y="4416552"/>
            <a:ext cx="713232" cy="1344168"/>
          </a:xfrm>
          <a:prstGeom prst="rect">
            <a:avLst/>
          </a:prstGeom>
          <a:solidFill>
            <a:schemeClr val="bg1">
              <a:alpha val="37000"/>
            </a:schemeClr>
          </a:solidFill>
          <a:ln w="12700">
            <a:solidFill>
              <a:schemeClr val="bg1">
                <a:alpha val="0"/>
              </a:schemeClr>
            </a:solidFill>
            <a:prstDash val="solid"/>
          </a:ln>
        </p:spPr>
      </p:sp>
      <p:sp>
        <p:nvSpPr>
          <p:cNvPr id="7" name="Text 5"/>
          <p:cNvSpPr txBox="1"/>
          <p:nvPr/>
        </p:nvSpPr>
        <p:spPr>
          <a:xfrm>
            <a:off x="8549640" y="4507992"/>
            <a:ext cx="713232" cy="457200"/>
          </a:xfrm>
          <a:prstGeom prst="rect">
            <a:avLst/>
          </a:prstGeom>
          <a:noFill/>
          <a:ln/>
        </p:spPr>
        <p:txBody>
          <a:bodyPr wrap="square" lIns="0" tIns="0" rIns="0" bIns="0" rtlCol="0" anchor="t"/>
          <a:lstStyle/>
          <a:p>
            <a:pPr algn="ctr" indent="0" marL="0">
              <a:buNone/>
            </a:pPr>
            <a:r>
              <a:rPr lang="en-US" sz="2200" b="1" dirty="0">
                <a:solidFill>
                  <a:schemeClr val="bg1"/>
                </a:solidFill>
                <a:latin typeface="+mj-lt" pitchFamily="34" charset="0"/>
                <a:ea typeface="+mj-lt" pitchFamily="34" charset="-122"/>
                <a:cs typeface="+mj-lt" pitchFamily="34" charset="-120"/>
              </a:rPr>
              <a:t>2</a:t>
            </a:r>
            <a:endParaRPr lang="en-US" sz="2200" dirty="0"/>
          </a:p>
        </p:txBody>
      </p:sp>
      <p:sp>
        <p:nvSpPr>
          <p:cNvPr id="8" name="stair-3"/>
          <p:cNvSpPr/>
          <p:nvPr/>
        </p:nvSpPr>
        <p:spPr>
          <a:xfrm>
            <a:off x="9372600" y="3758184"/>
            <a:ext cx="713232" cy="2002536"/>
          </a:xfrm>
          <a:prstGeom prst="rect">
            <a:avLst/>
          </a:prstGeom>
          <a:solidFill>
            <a:schemeClr val="bg1">
              <a:alpha val="52000"/>
            </a:schemeClr>
          </a:solidFill>
          <a:ln w="12700">
            <a:solidFill>
              <a:schemeClr val="bg1">
                <a:alpha val="0"/>
              </a:schemeClr>
            </a:solidFill>
            <a:prstDash val="solid"/>
          </a:ln>
        </p:spPr>
      </p:sp>
      <p:sp>
        <p:nvSpPr>
          <p:cNvPr id="9" name="Text 7"/>
          <p:cNvSpPr txBox="1"/>
          <p:nvPr/>
        </p:nvSpPr>
        <p:spPr>
          <a:xfrm>
            <a:off x="9372600" y="3849624"/>
            <a:ext cx="713232" cy="457200"/>
          </a:xfrm>
          <a:prstGeom prst="rect">
            <a:avLst/>
          </a:prstGeom>
          <a:noFill/>
          <a:ln/>
        </p:spPr>
        <p:txBody>
          <a:bodyPr wrap="square" lIns="0" tIns="0" rIns="0" bIns="0" rtlCol="0" anchor="t"/>
          <a:lstStyle/>
          <a:p>
            <a:pPr algn="ctr" indent="0" marL="0">
              <a:buNone/>
            </a:pPr>
            <a:r>
              <a:rPr lang="en-US" sz="2200" b="1" dirty="0">
                <a:solidFill>
                  <a:schemeClr val="bg1"/>
                </a:solidFill>
                <a:latin typeface="+mj-lt" pitchFamily="34" charset="0"/>
                <a:ea typeface="+mj-lt" pitchFamily="34" charset="-122"/>
                <a:cs typeface="+mj-lt" pitchFamily="34" charset="-120"/>
              </a:rPr>
              <a:t>3</a:t>
            </a:r>
            <a:endParaRPr lang="en-US" sz="2200" dirty="0"/>
          </a:p>
        </p:txBody>
      </p:sp>
      <p:sp>
        <p:nvSpPr>
          <p:cNvPr id="10" name="stair-4"/>
          <p:cNvSpPr/>
          <p:nvPr/>
        </p:nvSpPr>
        <p:spPr>
          <a:xfrm>
            <a:off x="10195560" y="3099816"/>
            <a:ext cx="713232" cy="2660904"/>
          </a:xfrm>
          <a:prstGeom prst="rect">
            <a:avLst/>
          </a:prstGeom>
          <a:solidFill>
            <a:schemeClr val="bg1">
              <a:alpha val="67000"/>
            </a:schemeClr>
          </a:solidFill>
          <a:ln w="12700">
            <a:solidFill>
              <a:schemeClr val="bg1">
                <a:alpha val="0"/>
              </a:schemeClr>
            </a:solidFill>
            <a:prstDash val="solid"/>
          </a:ln>
        </p:spPr>
      </p:sp>
      <p:sp>
        <p:nvSpPr>
          <p:cNvPr id="11" name="Text 9"/>
          <p:cNvSpPr txBox="1"/>
          <p:nvPr/>
        </p:nvSpPr>
        <p:spPr>
          <a:xfrm>
            <a:off x="10195560" y="3191256"/>
            <a:ext cx="713232" cy="457200"/>
          </a:xfrm>
          <a:prstGeom prst="rect">
            <a:avLst/>
          </a:prstGeom>
          <a:noFill/>
          <a:ln/>
        </p:spPr>
        <p:txBody>
          <a:bodyPr wrap="square" lIns="0" tIns="0" rIns="0" bIns="0" rtlCol="0" anchor="t"/>
          <a:lstStyle/>
          <a:p>
            <a:pPr algn="ctr" indent="0" marL="0">
              <a:buNone/>
            </a:pPr>
            <a:r>
              <a:rPr lang="en-US" sz="2200" b="1" dirty="0">
                <a:solidFill>
                  <a:schemeClr val="tx2"/>
                </a:solidFill>
                <a:latin typeface="+mj-lt" pitchFamily="34" charset="0"/>
                <a:ea typeface="+mj-lt" pitchFamily="34" charset="-122"/>
                <a:cs typeface="+mj-lt" pitchFamily="34" charset="-120"/>
              </a:rPr>
              <a:t>4</a:t>
            </a:r>
            <a:endParaRPr lang="en-US" sz="2200" dirty="0"/>
          </a:p>
        </p:txBody>
      </p:sp>
      <p:sp>
        <p:nvSpPr>
          <p:cNvPr id="12" name="stair-5"/>
          <p:cNvSpPr/>
          <p:nvPr/>
        </p:nvSpPr>
        <p:spPr>
          <a:xfrm>
            <a:off x="11018520" y="2441448"/>
            <a:ext cx="713232" cy="3319272"/>
          </a:xfrm>
          <a:prstGeom prst="rect">
            <a:avLst/>
          </a:prstGeom>
          <a:solidFill>
            <a:schemeClr val="bg1">
              <a:alpha val="82000"/>
            </a:schemeClr>
          </a:solidFill>
          <a:ln w="12700">
            <a:solidFill>
              <a:schemeClr val="bg1">
                <a:alpha val="0"/>
              </a:schemeClr>
            </a:solidFill>
            <a:prstDash val="solid"/>
          </a:ln>
        </p:spPr>
      </p:sp>
      <p:sp>
        <p:nvSpPr>
          <p:cNvPr id="13" name="Text 11"/>
          <p:cNvSpPr txBox="1"/>
          <p:nvPr/>
        </p:nvSpPr>
        <p:spPr>
          <a:xfrm>
            <a:off x="11018520" y="2532888"/>
            <a:ext cx="713232" cy="457200"/>
          </a:xfrm>
          <a:prstGeom prst="rect">
            <a:avLst/>
          </a:prstGeom>
          <a:noFill/>
          <a:ln/>
        </p:spPr>
        <p:txBody>
          <a:bodyPr wrap="square" lIns="0" tIns="0" rIns="0" bIns="0" rtlCol="0" anchor="t"/>
          <a:lstStyle/>
          <a:p>
            <a:pPr algn="ctr" indent="0" marL="0">
              <a:buNone/>
            </a:pPr>
            <a:r>
              <a:rPr lang="en-US" sz="2200" b="1" dirty="0">
                <a:solidFill>
                  <a:schemeClr val="tx2"/>
                </a:solidFill>
                <a:latin typeface="+mj-lt" pitchFamily="34" charset="0"/>
                <a:ea typeface="+mj-lt" pitchFamily="34" charset="-122"/>
                <a:cs typeface="+mj-lt" pitchFamily="34" charset="-120"/>
              </a:rPr>
              <a:t>5</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31520"/>
          </a:xfrm>
          <a:prstGeom prst="rect">
            <a:avLst/>
          </a:prstGeom>
          <a:noFill/>
          <a:ln/>
        </p:spPr>
        <p:txBody>
          <a:bodyPr wrap="square" lIns="0" tIns="0" rIns="0" bIns="0" rtlCol="0" anchor="ctr"/>
          <a:lstStyle/>
          <a:p>
            <a:pPr algn="l" indent="0" marL="0">
              <a:buNone/>
            </a:pPr>
            <a:r>
              <a:rPr lang="en-US" sz="3600" b="1" dirty="0">
                <a:solidFill>
                  <a:schemeClr val="tx1"/>
                </a:solidFill>
              </a:rPr>
              <a:t>Most AI projects stall for basic reasons</a:t>
            </a:r>
            <a:endParaRPr lang="en-US" sz="3600" dirty="0"/>
          </a:p>
        </p:txBody>
      </p:sp>
      <p:sp>
        <p:nvSpPr>
          <p:cNvPr id="3" name="Text 1"/>
          <p:cNvSpPr txBox="1"/>
          <p:nvPr/>
        </p:nvSpPr>
        <p:spPr>
          <a:xfrm>
            <a:off x="548640" y="1261872"/>
            <a:ext cx="11094415" cy="411480"/>
          </a:xfrm>
          <a:prstGeom prst="rect">
            <a:avLst/>
          </a:prstGeom>
          <a:noFill/>
          <a:ln/>
        </p:spPr>
        <p:txBody>
          <a:bodyPr wrap="square" lIns="0" tIns="0" rIns="0" bIns="0" rtlCol="0" anchor="t"/>
          <a:lstStyle/>
          <a:p>
            <a:pPr indent="0" marL="0">
              <a:buNone/>
            </a:pPr>
            <a:r>
              <a:rPr lang="en-US" sz="1800" dirty="0">
                <a:solidFill>
                  <a:schemeClr val="accent6"/>
                </a:solidFill>
              </a:rPr>
              <a:t>Usually it isn’t the technology that fails. Something more basic is missing.</a:t>
            </a:r>
            <a:endParaRPr lang="en-US" sz="1800" dirty="0"/>
          </a:p>
        </p:txBody>
      </p:sp>
      <p:sp>
        <p:nvSpPr>
          <p:cNvPr id="4" name="problem-card-1"/>
          <p:cNvSpPr/>
          <p:nvPr/>
        </p:nvSpPr>
        <p:spPr>
          <a:xfrm>
            <a:off x="548640" y="1920240"/>
            <a:ext cx="2560320" cy="2697480"/>
          </a:xfrm>
          <a:prstGeom prst="roundRect">
            <a:avLst>
              <a:gd name="adj" fmla="val 2857"/>
            </a:avLst>
          </a:prstGeom>
          <a:solidFill>
            <a:schemeClr val="bg2"/>
          </a:solidFill>
          <a:ln w="12700">
            <a:solidFill>
              <a:schemeClr val="bg2"/>
            </a:solidFill>
            <a:prstDash val="solid"/>
          </a:ln>
        </p:spPr>
      </p:sp>
      <p:sp>
        <p:nvSpPr>
          <p:cNvPr id="5" name="Shape 3"/>
          <p:cNvSpPr/>
          <p:nvPr/>
        </p:nvSpPr>
        <p:spPr>
          <a:xfrm>
            <a:off x="822960" y="2194560"/>
            <a:ext cx="640080" cy="640080"/>
          </a:xfrm>
          <a:prstGeom prst="ellipse">
            <a:avLst/>
          </a:prstGeom>
          <a:solidFill>
            <a:schemeClr val="tx2"/>
          </a:solidFill>
          <a:ln w="12700">
            <a:solidFill>
              <a:schemeClr val="tx2"/>
            </a:solidFill>
            <a:prstDash val="solid"/>
          </a:ln>
        </p:spPr>
      </p:sp>
      <p:pic>
        <p:nvPicPr>
          <p:cNvPr id="6" name="Image 0" descr="UserX icon">    </p:cNvPr>
          <p:cNvPicPr>
            <a:picLocks noChangeAspect="1"/>
          </p:cNvPicPr>
          <p:nvPr/>
        </p:nvPicPr>
        <p:blipFill>
          <a:blip r:embed="rId1"/>
          <a:stretch>
            <a:fillRect/>
          </a:stretch>
        </p:blipFill>
        <p:spPr>
          <a:xfrm>
            <a:off x="976579" y="2348179"/>
            <a:ext cx="332842" cy="332842"/>
          </a:xfrm>
          <a:prstGeom prst="rect">
            <a:avLst/>
          </a:prstGeom>
        </p:spPr>
      </p:pic>
      <p:sp>
        <p:nvSpPr>
          <p:cNvPr id="7" name="Text 4"/>
          <p:cNvSpPr txBox="1"/>
          <p:nvPr/>
        </p:nvSpPr>
        <p:spPr>
          <a:xfrm>
            <a:off x="822960" y="2971800"/>
            <a:ext cx="2011680" cy="658368"/>
          </a:xfrm>
          <a:prstGeom prst="rect">
            <a:avLst/>
          </a:prstGeom>
          <a:noFill/>
          <a:ln/>
        </p:spPr>
        <p:txBody>
          <a:bodyPr wrap="square" lIns="0" tIns="0" rIns="0" bIns="0" rtlCol="0" anchor="b"/>
          <a:lstStyle/>
          <a:p>
            <a:pPr indent="0" marL="0">
              <a:buNone/>
            </a:pPr>
            <a:r>
              <a:rPr lang="en-US" sz="1800" b="1" dirty="0">
                <a:solidFill>
                  <a:schemeClr val="tx1"/>
                </a:solidFill>
              </a:rPr>
              <a:t>No one in charge</a:t>
            </a:r>
            <a:endParaRPr lang="en-US" sz="1800" dirty="0"/>
          </a:p>
        </p:txBody>
      </p:sp>
      <p:sp>
        <p:nvSpPr>
          <p:cNvPr id="8" name="Text 5"/>
          <p:cNvSpPr txBox="1"/>
          <p:nvPr/>
        </p:nvSpPr>
        <p:spPr>
          <a:xfrm>
            <a:off x="822960" y="3703320"/>
            <a:ext cx="2011680" cy="822960"/>
          </a:xfrm>
          <a:prstGeom prst="rect">
            <a:avLst/>
          </a:prstGeom>
          <a:noFill/>
          <a:ln/>
        </p:spPr>
        <p:txBody>
          <a:bodyPr wrap="square" lIns="0" tIns="0" rIns="0" bIns="0" rtlCol="0" anchor="t"/>
          <a:lstStyle/>
          <a:p>
            <a:pPr indent="0" marL="0">
              <a:buNone/>
            </a:pPr>
            <a:r>
              <a:rPr lang="en-US" sz="1400" dirty="0">
                <a:solidFill>
                  <a:schemeClr val="tx1"/>
                </a:solidFill>
              </a:rPr>
              <a:t>Nobody clearly owns the effort or answers for its results.</a:t>
            </a:r>
            <a:endParaRPr lang="en-US" sz="1400" dirty="0"/>
          </a:p>
        </p:txBody>
      </p:sp>
      <p:sp>
        <p:nvSpPr>
          <p:cNvPr id="9" name="problem-card-2"/>
          <p:cNvSpPr/>
          <p:nvPr/>
        </p:nvSpPr>
        <p:spPr>
          <a:xfrm>
            <a:off x="3393338" y="1920240"/>
            <a:ext cx="2560320" cy="2697480"/>
          </a:xfrm>
          <a:prstGeom prst="roundRect">
            <a:avLst>
              <a:gd name="adj" fmla="val 2857"/>
            </a:avLst>
          </a:prstGeom>
          <a:solidFill>
            <a:schemeClr val="bg2"/>
          </a:solidFill>
          <a:ln w="12700">
            <a:solidFill>
              <a:schemeClr val="bg2"/>
            </a:solidFill>
            <a:prstDash val="solid"/>
          </a:ln>
        </p:spPr>
      </p:sp>
      <p:sp>
        <p:nvSpPr>
          <p:cNvPr id="10" name="Shape 7"/>
          <p:cNvSpPr/>
          <p:nvPr/>
        </p:nvSpPr>
        <p:spPr>
          <a:xfrm>
            <a:off x="3667658" y="2194560"/>
            <a:ext cx="640080" cy="640080"/>
          </a:xfrm>
          <a:prstGeom prst="ellipse">
            <a:avLst/>
          </a:prstGeom>
          <a:solidFill>
            <a:schemeClr val="tx2"/>
          </a:solidFill>
          <a:ln w="12700">
            <a:solidFill>
              <a:schemeClr val="tx2"/>
            </a:solidFill>
            <a:prstDash val="solid"/>
          </a:ln>
        </p:spPr>
      </p:sp>
      <p:pic>
        <p:nvPicPr>
          <p:cNvPr id="11" name="Image 1" descr="Workflow icon">    </p:cNvPr>
          <p:cNvPicPr>
            <a:picLocks noChangeAspect="1"/>
          </p:cNvPicPr>
          <p:nvPr/>
        </p:nvPicPr>
        <p:blipFill>
          <a:blip r:embed="rId2"/>
          <a:stretch>
            <a:fillRect/>
          </a:stretch>
        </p:blipFill>
        <p:spPr>
          <a:xfrm>
            <a:off x="3821278" y="2348179"/>
            <a:ext cx="332842" cy="332842"/>
          </a:xfrm>
          <a:prstGeom prst="rect">
            <a:avLst/>
          </a:prstGeom>
        </p:spPr>
      </p:pic>
      <p:sp>
        <p:nvSpPr>
          <p:cNvPr id="12" name="Text 8"/>
          <p:cNvSpPr txBox="1"/>
          <p:nvPr/>
        </p:nvSpPr>
        <p:spPr>
          <a:xfrm>
            <a:off x="3667658" y="2971800"/>
            <a:ext cx="2011680" cy="658368"/>
          </a:xfrm>
          <a:prstGeom prst="rect">
            <a:avLst/>
          </a:prstGeom>
          <a:noFill/>
          <a:ln/>
        </p:spPr>
        <p:txBody>
          <a:bodyPr wrap="square" lIns="0" tIns="0" rIns="0" bIns="0" rtlCol="0" anchor="b"/>
          <a:lstStyle/>
          <a:p>
            <a:pPr indent="0" marL="0">
              <a:buNone/>
            </a:pPr>
            <a:r>
              <a:rPr lang="en-US" sz="1800" b="1" dirty="0">
                <a:solidFill>
                  <a:schemeClr val="tx1"/>
                </a:solidFill>
              </a:rPr>
              <a:t>The work isn’t understood</a:t>
            </a:r>
            <a:endParaRPr lang="en-US" sz="1800" dirty="0"/>
          </a:p>
        </p:txBody>
      </p:sp>
      <p:sp>
        <p:nvSpPr>
          <p:cNvPr id="13" name="Text 9"/>
          <p:cNvSpPr txBox="1"/>
          <p:nvPr/>
        </p:nvSpPr>
        <p:spPr>
          <a:xfrm>
            <a:off x="3667658" y="3703320"/>
            <a:ext cx="2011680" cy="822960"/>
          </a:xfrm>
          <a:prstGeom prst="rect">
            <a:avLst/>
          </a:prstGeom>
          <a:noFill/>
          <a:ln/>
        </p:spPr>
        <p:txBody>
          <a:bodyPr wrap="square" lIns="0" tIns="0" rIns="0" bIns="0" rtlCol="0" anchor="t"/>
          <a:lstStyle/>
          <a:p>
            <a:pPr indent="0" marL="0">
              <a:buNone/>
            </a:pPr>
            <a:r>
              <a:rPr lang="en-US" sz="1400" dirty="0">
                <a:solidFill>
                  <a:schemeClr val="tx1"/>
                </a:solidFill>
              </a:rPr>
              <a:t>The company can’t describe how the work it wants to improve actually flows.</a:t>
            </a:r>
            <a:endParaRPr lang="en-US" sz="1400" dirty="0"/>
          </a:p>
        </p:txBody>
      </p:sp>
      <p:sp>
        <p:nvSpPr>
          <p:cNvPr id="14" name="problem-card-3"/>
          <p:cNvSpPr/>
          <p:nvPr/>
        </p:nvSpPr>
        <p:spPr>
          <a:xfrm>
            <a:off x="6238037" y="1920240"/>
            <a:ext cx="2560320" cy="2697480"/>
          </a:xfrm>
          <a:prstGeom prst="roundRect">
            <a:avLst>
              <a:gd name="adj" fmla="val 2857"/>
            </a:avLst>
          </a:prstGeom>
          <a:solidFill>
            <a:schemeClr val="bg2"/>
          </a:solidFill>
          <a:ln w="12700">
            <a:solidFill>
              <a:schemeClr val="bg2"/>
            </a:solidFill>
            <a:prstDash val="solid"/>
          </a:ln>
        </p:spPr>
      </p:sp>
      <p:sp>
        <p:nvSpPr>
          <p:cNvPr id="15" name="Shape 11"/>
          <p:cNvSpPr/>
          <p:nvPr/>
        </p:nvSpPr>
        <p:spPr>
          <a:xfrm>
            <a:off x="6512357" y="2194560"/>
            <a:ext cx="640080" cy="640080"/>
          </a:xfrm>
          <a:prstGeom prst="ellipse">
            <a:avLst/>
          </a:prstGeom>
          <a:solidFill>
            <a:schemeClr val="tx2"/>
          </a:solidFill>
          <a:ln w="12700">
            <a:solidFill>
              <a:schemeClr val="tx2"/>
            </a:solidFill>
            <a:prstDash val="solid"/>
          </a:ln>
        </p:spPr>
      </p:sp>
      <p:pic>
        <p:nvPicPr>
          <p:cNvPr id="16" name="Image 2" descr="FileSpreadsheet icon">    </p:cNvPr>
          <p:cNvPicPr>
            <a:picLocks noChangeAspect="1"/>
          </p:cNvPicPr>
          <p:nvPr/>
        </p:nvPicPr>
        <p:blipFill>
          <a:blip r:embed="rId3"/>
          <a:stretch>
            <a:fillRect/>
          </a:stretch>
        </p:blipFill>
        <p:spPr>
          <a:xfrm>
            <a:off x="6665976" y="2348179"/>
            <a:ext cx="332842" cy="332842"/>
          </a:xfrm>
          <a:prstGeom prst="rect">
            <a:avLst/>
          </a:prstGeom>
        </p:spPr>
      </p:pic>
      <p:sp>
        <p:nvSpPr>
          <p:cNvPr id="17" name="Text 12"/>
          <p:cNvSpPr txBox="1"/>
          <p:nvPr/>
        </p:nvSpPr>
        <p:spPr>
          <a:xfrm>
            <a:off x="6512357" y="2971800"/>
            <a:ext cx="2011680" cy="658368"/>
          </a:xfrm>
          <a:prstGeom prst="rect">
            <a:avLst/>
          </a:prstGeom>
          <a:noFill/>
          <a:ln/>
        </p:spPr>
        <p:txBody>
          <a:bodyPr wrap="square" lIns="0" tIns="0" rIns="0" bIns="0" rtlCol="0" anchor="b"/>
          <a:lstStyle/>
          <a:p>
            <a:pPr indent="0" marL="0">
              <a:buNone/>
            </a:pPr>
            <a:r>
              <a:rPr lang="en-US" sz="1800" b="1" dirty="0">
                <a:solidFill>
                  <a:schemeClr val="tx1"/>
                </a:solidFill>
              </a:rPr>
              <a:t>Information is scattered</a:t>
            </a:r>
            <a:endParaRPr lang="en-US" sz="1800" dirty="0"/>
          </a:p>
        </p:txBody>
      </p:sp>
      <p:sp>
        <p:nvSpPr>
          <p:cNvPr id="18" name="Text 13"/>
          <p:cNvSpPr txBox="1"/>
          <p:nvPr/>
        </p:nvSpPr>
        <p:spPr>
          <a:xfrm>
            <a:off x="6512357" y="3703320"/>
            <a:ext cx="2011680" cy="822960"/>
          </a:xfrm>
          <a:prstGeom prst="rect">
            <a:avLst/>
          </a:prstGeom>
          <a:noFill/>
          <a:ln/>
        </p:spPr>
        <p:txBody>
          <a:bodyPr wrap="square" lIns="0" tIns="0" rIns="0" bIns="0" rtlCol="0" anchor="t"/>
          <a:lstStyle/>
          <a:p>
            <a:pPr indent="0" marL="0">
              <a:buNone/>
            </a:pPr>
            <a:r>
              <a:rPr lang="en-US" sz="1400" dirty="0">
                <a:solidFill>
                  <a:schemeClr val="tx1"/>
                </a:solidFill>
              </a:rPr>
              <a:t>Key records live in spreadsheets, email, and paper.</a:t>
            </a:r>
            <a:endParaRPr lang="en-US" sz="1400" dirty="0"/>
          </a:p>
        </p:txBody>
      </p:sp>
      <p:sp>
        <p:nvSpPr>
          <p:cNvPr id="19" name="problem-card-4"/>
          <p:cNvSpPr/>
          <p:nvPr/>
        </p:nvSpPr>
        <p:spPr>
          <a:xfrm>
            <a:off x="9082735" y="1920240"/>
            <a:ext cx="2560320" cy="2697480"/>
          </a:xfrm>
          <a:prstGeom prst="roundRect">
            <a:avLst>
              <a:gd name="adj" fmla="val 2857"/>
            </a:avLst>
          </a:prstGeom>
          <a:solidFill>
            <a:schemeClr val="bg2"/>
          </a:solidFill>
          <a:ln w="12700">
            <a:solidFill>
              <a:schemeClr val="bg2"/>
            </a:solidFill>
            <a:prstDash val="solid"/>
          </a:ln>
        </p:spPr>
      </p:sp>
      <p:sp>
        <p:nvSpPr>
          <p:cNvPr id="20" name="Shape 15"/>
          <p:cNvSpPr/>
          <p:nvPr/>
        </p:nvSpPr>
        <p:spPr>
          <a:xfrm>
            <a:off x="9357055" y="2194560"/>
            <a:ext cx="640080" cy="640080"/>
          </a:xfrm>
          <a:prstGeom prst="ellipse">
            <a:avLst/>
          </a:prstGeom>
          <a:solidFill>
            <a:schemeClr val="tx2"/>
          </a:solidFill>
          <a:ln w="12700">
            <a:solidFill>
              <a:schemeClr val="tx2"/>
            </a:solidFill>
            <a:prstDash val="solid"/>
          </a:ln>
        </p:spPr>
      </p:sp>
      <p:pic>
        <p:nvPicPr>
          <p:cNvPr id="21" name="Image 3" descr="EyeOff icon">    </p:cNvPr>
          <p:cNvPicPr>
            <a:picLocks noChangeAspect="1"/>
          </p:cNvPicPr>
          <p:nvPr/>
        </p:nvPicPr>
        <p:blipFill>
          <a:blip r:embed="rId4"/>
          <a:stretch>
            <a:fillRect/>
          </a:stretch>
        </p:blipFill>
        <p:spPr>
          <a:xfrm>
            <a:off x="9510674" y="2348179"/>
            <a:ext cx="332842" cy="332842"/>
          </a:xfrm>
          <a:prstGeom prst="rect">
            <a:avLst/>
          </a:prstGeom>
        </p:spPr>
      </p:pic>
      <p:sp>
        <p:nvSpPr>
          <p:cNvPr id="22" name="Text 16"/>
          <p:cNvSpPr txBox="1"/>
          <p:nvPr/>
        </p:nvSpPr>
        <p:spPr>
          <a:xfrm>
            <a:off x="9357055" y="2971800"/>
            <a:ext cx="2011680" cy="658368"/>
          </a:xfrm>
          <a:prstGeom prst="rect">
            <a:avLst/>
          </a:prstGeom>
          <a:noFill/>
          <a:ln/>
        </p:spPr>
        <p:txBody>
          <a:bodyPr wrap="square" lIns="0" tIns="0" rIns="0" bIns="0" rtlCol="0" anchor="b"/>
          <a:lstStyle/>
          <a:p>
            <a:pPr indent="0" marL="0">
              <a:buNone/>
            </a:pPr>
            <a:r>
              <a:rPr lang="en-US" sz="1800" b="1" dirty="0">
                <a:solidFill>
                  <a:schemeClr val="tx1"/>
                </a:solidFill>
              </a:rPr>
              <a:t>Nobody checks the output</a:t>
            </a:r>
            <a:endParaRPr lang="en-US" sz="1800" dirty="0"/>
          </a:p>
        </p:txBody>
      </p:sp>
      <p:sp>
        <p:nvSpPr>
          <p:cNvPr id="23" name="Text 17"/>
          <p:cNvSpPr txBox="1"/>
          <p:nvPr/>
        </p:nvSpPr>
        <p:spPr>
          <a:xfrm>
            <a:off x="9357055" y="3703320"/>
            <a:ext cx="2011680" cy="822960"/>
          </a:xfrm>
          <a:prstGeom prst="rect">
            <a:avLst/>
          </a:prstGeom>
          <a:noFill/>
          <a:ln/>
        </p:spPr>
        <p:txBody>
          <a:bodyPr wrap="square" lIns="0" tIns="0" rIns="0" bIns="0" rtlCol="0" anchor="t"/>
          <a:lstStyle/>
          <a:p>
            <a:pPr indent="0" marL="0">
              <a:buNone/>
            </a:pPr>
            <a:r>
              <a:rPr lang="en-US" sz="1400" dirty="0">
                <a:solidFill>
                  <a:schemeClr val="tx1"/>
                </a:solidFill>
              </a:rPr>
              <a:t>No one is responsible for catching the AI when it’s wrong.</a:t>
            </a:r>
            <a:endParaRPr lang="en-US" sz="1400" dirty="0"/>
          </a:p>
        </p:txBody>
      </p:sp>
      <p:sp>
        <p:nvSpPr>
          <p:cNvPr id="24" name="Text 18"/>
          <p:cNvSpPr txBox="1"/>
          <p:nvPr/>
        </p:nvSpPr>
        <p:spPr>
          <a:xfrm>
            <a:off x="548640" y="4937760"/>
            <a:ext cx="11094415" cy="1005840"/>
          </a:xfrm>
          <a:prstGeom prst="rect">
            <a:avLst/>
          </a:prstGeom>
          <a:noFill/>
          <a:ln/>
        </p:spPr>
        <p:txBody>
          <a:bodyPr wrap="square" lIns="0" tIns="0" rIns="0" bIns="0" rtlCol="0" anchor="ctr"/>
          <a:lstStyle/>
          <a:p>
            <a:pPr indent="0" marL="0">
              <a:buNone/>
            </a:pPr>
            <a:r>
              <a:rPr lang="en-US" sz="2400" i="1" dirty="0">
                <a:solidFill>
                  <a:schemeClr val="accent6"/>
                </a:solidFill>
                <a:latin typeface="+mj-lt" pitchFamily="34" charset="0"/>
                <a:ea typeface="+mj-lt" pitchFamily="34" charset="-122"/>
                <a:cs typeface="+mj-lt" pitchFamily="34" charset="-120"/>
              </a:rPr>
              <a:t>The real question isn’t “Should we use AI?”  </a:t>
            </a:r>
            <a:pPr indent="0" marL="0">
              <a:buNone/>
            </a:pPr>
            <a:r>
              <a:rPr lang="en-US" sz="2400" b="1" i="1" dirty="0">
                <a:solidFill>
                  <a:schemeClr val="tx2"/>
                </a:solidFill>
                <a:latin typeface="+mj-lt" pitchFamily="34" charset="0"/>
                <a:ea typeface="+mj-lt" pitchFamily="34" charset="-122"/>
                <a:cs typeface="+mj-lt" pitchFamily="34" charset="-120"/>
              </a:rPr>
              <a:t>It’s “Given where we actually are, what should we do next?”</a:t>
            </a:r>
            <a:endParaRPr lang="en-US" sz="2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31520"/>
          </a:xfrm>
          <a:prstGeom prst="rect">
            <a:avLst/>
          </a:prstGeom>
          <a:noFill/>
          <a:ln/>
        </p:spPr>
        <p:txBody>
          <a:bodyPr wrap="square" lIns="0" tIns="0" rIns="0" bIns="0" rtlCol="0" anchor="ctr"/>
          <a:lstStyle/>
          <a:p>
            <a:pPr algn="l" indent="0" marL="0">
              <a:buNone/>
            </a:pPr>
            <a:r>
              <a:rPr lang="en-US" sz="3600" b="1" dirty="0">
                <a:solidFill>
                  <a:schemeClr val="tx1"/>
                </a:solidFill>
              </a:rPr>
              <a:t>A home inspection before the renovation</a:t>
            </a:r>
            <a:endParaRPr lang="en-US" sz="3600" dirty="0"/>
          </a:p>
        </p:txBody>
      </p:sp>
      <p:sp>
        <p:nvSpPr>
          <p:cNvPr id="3" name="Shape 1"/>
          <p:cNvSpPr/>
          <p:nvPr/>
        </p:nvSpPr>
        <p:spPr>
          <a:xfrm>
            <a:off x="548640" y="1463040"/>
            <a:ext cx="914400" cy="914400"/>
          </a:xfrm>
          <a:prstGeom prst="ellipse">
            <a:avLst/>
          </a:prstGeom>
          <a:solidFill>
            <a:schemeClr val="tx2"/>
          </a:solidFill>
          <a:ln w="12700">
            <a:solidFill>
              <a:schemeClr val="tx2"/>
            </a:solidFill>
            <a:prstDash val="solid"/>
          </a:ln>
        </p:spPr>
      </p:sp>
      <p:pic>
        <p:nvPicPr>
          <p:cNvPr id="4" name="Image 0" descr="House icon">    </p:cNvPr>
          <p:cNvPicPr>
            <a:picLocks noChangeAspect="1"/>
          </p:cNvPicPr>
          <p:nvPr/>
        </p:nvPicPr>
        <p:blipFill>
          <a:blip r:embed="rId1"/>
          <a:stretch>
            <a:fillRect/>
          </a:stretch>
        </p:blipFill>
        <p:spPr>
          <a:xfrm>
            <a:off x="768096" y="1682496"/>
            <a:ext cx="475488" cy="475488"/>
          </a:xfrm>
          <a:prstGeom prst="rect">
            <a:avLst/>
          </a:prstGeom>
        </p:spPr>
      </p:pic>
      <p:sp>
        <p:nvSpPr>
          <p:cNvPr id="5" name="Text 2"/>
          <p:cNvSpPr txBox="1"/>
          <p:nvPr/>
        </p:nvSpPr>
        <p:spPr>
          <a:xfrm>
            <a:off x="548640" y="2606040"/>
            <a:ext cx="5029200" cy="1371600"/>
          </a:xfrm>
          <a:prstGeom prst="rect">
            <a:avLst/>
          </a:prstGeom>
          <a:noFill/>
          <a:ln/>
        </p:spPr>
        <p:txBody>
          <a:bodyPr wrap="square" lIns="0" tIns="0" rIns="0" bIns="0" rtlCol="0" anchor="t"/>
          <a:lstStyle/>
          <a:p>
            <a:pPr indent="0" marL="0">
              <a:buNone/>
            </a:pPr>
            <a:r>
              <a:rPr lang="en-US" sz="1800" dirty="0">
                <a:solidFill>
                  <a:schemeClr val="tx1"/>
                </a:solidFill>
              </a:rPr>
              <a:t>An inspector doesn’t ask how you feel about the house. They check specific things, write down what they find, and tell you what has to be fixed first.</a:t>
            </a:r>
            <a:endParaRPr lang="en-US" sz="1800" dirty="0"/>
          </a:p>
        </p:txBody>
      </p:sp>
      <p:sp>
        <p:nvSpPr>
          <p:cNvPr id="6" name="Text 3"/>
          <p:cNvSpPr txBox="1"/>
          <p:nvPr/>
        </p:nvSpPr>
        <p:spPr>
          <a:xfrm>
            <a:off x="548640" y="4069080"/>
            <a:ext cx="5029200" cy="1280160"/>
          </a:xfrm>
          <a:prstGeom prst="rect">
            <a:avLst/>
          </a:prstGeom>
          <a:noFill/>
          <a:ln/>
        </p:spPr>
        <p:txBody>
          <a:bodyPr wrap="square" lIns="0" tIns="0" rIns="0" bIns="0" rtlCol="0" anchor="t"/>
          <a:lstStyle/>
          <a:p>
            <a:pPr indent="0" marL="0">
              <a:buNone/>
            </a:pPr>
            <a:r>
              <a:rPr lang="en-US" sz="1800" b="1" dirty="0">
                <a:solidFill>
                  <a:schemeClr val="tx2"/>
                </a:solidFill>
              </a:rPr>
              <a:t>This assessment works the same way. And like a good inspector, it won’t let you put solar panels on a roof that’s about to cave in.</a:t>
            </a:r>
            <a:endParaRPr lang="en-US" sz="1800" dirty="0"/>
          </a:p>
        </p:txBody>
      </p:sp>
      <p:graphicFrame>
        <p:nvGraphicFramePr>
          <p:cNvPr id="4" name="analogy-table"/>
          <p:cNvGraphicFramePr>
            <a:graphicFrameLocks noGrp="1"/>
          </p:cNvGraphicFramePr>
          <p:nvPr>
            <p:extLst>
              <p:ext uri="{D42A27DB-BD31-4B8C-83A1-F6EECF244321}">
                <p14:modId xmlns:p14="http://schemas.microsoft.com/office/powerpoint/2010/main" val="1579011935"/>
              </p:ext>
            </p:extLst>
          </p:nvPr>
        </p:nvGraphicFramePr>
        <p:xfrm>
          <a:off x="6126480" y="1463040"/>
          <a:ext cx="5513832" cy="914400"/>
        </p:xfrm>
        <a:graphic>
          <a:graphicData uri="http://schemas.openxmlformats.org/drawingml/2006/table">
            <a:tbl>
              <a:tblPr/>
              <a:tblGrid>
                <a:gridCol w="2743200"/>
                <a:gridCol w="2770632"/>
              </a:tblGrid>
              <a:tr h="502920">
                <a:tc>
                  <a:txBody>
                    <a:bodyPr/>
                    <a:lstStyle/>
                    <a:p>
                      <a:pPr indent="0" marL="0">
                        <a:buNone/>
                      </a:pPr>
                      <a:r>
                        <a:rPr lang="en-US" sz="1600" b="1" dirty="0">
                          <a:solidFill>
                            <a:schemeClr val="bg1"/>
                          </a:solidFill>
                        </a:rPr>
                        <a:t>A home inspection</a:t>
                      </a:r>
                      <a:endParaRPr lang="en-US" sz="1600" dirty="0"/>
                    </a:p>
                  </a:txBody>
                  <a:tcPr marL="146304" marR="146304"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indent="0" marL="0">
                        <a:buNone/>
                      </a:pPr>
                      <a:r>
                        <a:rPr lang="en-US" sz="1600" b="1" dirty="0">
                          <a:solidFill>
                            <a:schemeClr val="bg1"/>
                          </a:solidFill>
                        </a:rPr>
                        <a:t>This assessment</a:t>
                      </a:r>
                      <a:endParaRPr lang="en-US" sz="1600" dirty="0"/>
                    </a:p>
                  </a:txBody>
                  <a:tcPr marL="146304" marR="146304"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r>
              <a:tr h="868680">
                <a:tc>
                  <a:txBody>
                    <a:bodyPr/>
                    <a:lstStyle/>
                    <a:p>
                      <a:pPr indent="0" marL="0">
                        <a:buNone/>
                      </a:pPr>
                      <a:r>
                        <a:rPr lang="en-US" sz="1400" dirty="0">
                          <a:solidFill>
                            <a:schemeClr val="tx1"/>
                          </a:solidFill>
                        </a:rPr>
                        <a:t>Checks specific parts: foundation, wiring, plumbing, roof</a:t>
                      </a:r>
                      <a:endParaRPr lang="en-US" sz="1400" dirty="0"/>
                    </a:p>
                  </a:txBody>
                  <a:tcPr marL="146304" marR="146304"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Checks 8 specific areas, from leadership to data to oversight</a:t>
                      </a:r>
                      <a:endParaRPr lang="en-US" sz="1400" dirty="0"/>
                    </a:p>
                  </a:txBody>
                  <a:tcPr marL="146304" marR="146304"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r>
              <a:tr h="685800">
                <a:tc>
                  <a:txBody>
                    <a:bodyPr/>
                    <a:lstStyle/>
                    <a:p>
                      <a:pPr indent="0" marL="0">
                        <a:buNone/>
                      </a:pPr>
                      <a:r>
                        <a:rPr lang="en-US" sz="1400" dirty="0">
                          <a:solidFill>
                            <a:schemeClr val="tx1"/>
                          </a:solidFill>
                        </a:rPr>
                        <a:t>Writes down what they actually find</a:t>
                      </a:r>
                      <a:endParaRPr lang="en-US" sz="1400" dirty="0"/>
                    </a:p>
                  </a:txBody>
                  <a:tcPr marL="146304" marR="146304"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Records 67 facts, not opinions</a:t>
                      </a:r>
                      <a:endParaRPr lang="en-US" sz="1400" dirty="0"/>
                    </a:p>
                  </a:txBody>
                  <a:tcPr marL="146304" marR="146304"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r>
              <a:tr h="868680">
                <a:tc>
                  <a:txBody>
                    <a:bodyPr/>
                    <a:lstStyle/>
                    <a:p>
                      <a:pPr indent="0" marL="0">
                        <a:buNone/>
                      </a:pPr>
                      <a:r>
                        <a:rPr lang="en-US" sz="1400" dirty="0">
                          <a:solidFill>
                            <a:schemeClr val="tx1"/>
                          </a:solidFill>
                        </a:rPr>
                        <a:t>Flags deal-breakers, like a cracked foundation</a:t>
                      </a:r>
                      <a:endParaRPr lang="en-US" sz="1400" dirty="0"/>
                    </a:p>
                  </a:txBody>
                  <a:tcPr marL="146304" marR="146304"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Flags deal-breakers, like no one owning AI</a:t>
                      </a:r>
                      <a:endParaRPr lang="en-US" sz="1400" dirty="0"/>
                    </a:p>
                  </a:txBody>
                  <a:tcPr marL="146304" marR="146304"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r>
              <a:tr h="685800">
                <a:tc>
                  <a:txBody>
                    <a:bodyPr/>
                    <a:lstStyle/>
                    <a:p>
                      <a:pPr indent="0" marL="0">
                        <a:buNone/>
                      </a:pPr>
                      <a:r>
                        <a:rPr lang="en-US" sz="1400" dirty="0">
                          <a:solidFill>
                            <a:schemeClr val="tx1"/>
                          </a:solidFill>
                        </a:rPr>
                        <a:t>Tells you what to fix first</a:t>
                      </a:r>
                      <a:endParaRPr lang="en-US" sz="1400" dirty="0"/>
                    </a:p>
                  </a:txBody>
                  <a:tcPr marL="146304" marR="146304"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Recommends one next step, and explains why</a:t>
                      </a:r>
                      <a:endParaRPr lang="en-US" sz="1400" dirty="0"/>
                    </a:p>
                  </a:txBody>
                  <a:tcPr marL="146304" marR="146304" marT="109728" marB="10972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31520"/>
          </a:xfrm>
          <a:prstGeom prst="rect">
            <a:avLst/>
          </a:prstGeom>
          <a:noFill/>
          <a:ln/>
        </p:spPr>
        <p:txBody>
          <a:bodyPr wrap="square" lIns="0" tIns="0" rIns="0" bIns="0" rtlCol="0" anchor="ctr"/>
          <a:lstStyle/>
          <a:p>
            <a:pPr algn="l" indent="0" marL="0">
              <a:buNone/>
            </a:pPr>
            <a:r>
              <a:rPr lang="en-US" sz="3600" b="1" dirty="0">
                <a:solidFill>
                  <a:schemeClr val="tx1"/>
                </a:solidFill>
              </a:rPr>
              <a:t>How it works, in five steps</a:t>
            </a:r>
            <a:endParaRPr lang="en-US" sz="3600" dirty="0"/>
          </a:p>
        </p:txBody>
      </p:sp>
      <p:sp>
        <p:nvSpPr>
          <p:cNvPr id="3" name="step-card-1"/>
          <p:cNvSpPr/>
          <p:nvPr/>
        </p:nvSpPr>
        <p:spPr>
          <a:xfrm>
            <a:off x="548640" y="1600200"/>
            <a:ext cx="2011680" cy="3337560"/>
          </a:xfrm>
          <a:prstGeom prst="roundRect">
            <a:avLst>
              <a:gd name="adj" fmla="val 3636"/>
            </a:avLst>
          </a:prstGeom>
          <a:solidFill>
            <a:schemeClr val="bg2"/>
          </a:solidFill>
          <a:ln w="12700">
            <a:solidFill>
              <a:schemeClr val="bg2"/>
            </a:solidFill>
            <a:prstDash val="solid"/>
          </a:ln>
        </p:spPr>
      </p:sp>
      <p:sp>
        <p:nvSpPr>
          <p:cNvPr id="4" name="Shape 2"/>
          <p:cNvSpPr/>
          <p:nvPr/>
        </p:nvSpPr>
        <p:spPr>
          <a:xfrm>
            <a:off x="777240" y="1856232"/>
            <a:ext cx="548640" cy="548640"/>
          </a:xfrm>
          <a:prstGeom prst="roundRect">
            <a:avLst>
              <a:gd name="adj" fmla="val 8333"/>
            </a:avLst>
          </a:prstGeom>
          <a:solidFill>
            <a:schemeClr val="tx2"/>
          </a:solidFill>
          <a:ln w="12700">
            <a:solidFill>
              <a:schemeClr val="tx2"/>
            </a:solidFill>
            <a:prstDash val="solid"/>
          </a:ln>
        </p:spPr>
      </p:sp>
      <p:sp>
        <p:nvSpPr>
          <p:cNvPr id="5" name="Text 3"/>
          <p:cNvSpPr txBox="1"/>
          <p:nvPr/>
        </p:nvSpPr>
        <p:spPr>
          <a:xfrm>
            <a:off x="777240" y="1856232"/>
            <a:ext cx="548640" cy="548640"/>
          </a:xfrm>
          <a:prstGeom prst="rect">
            <a:avLst/>
          </a:prstGeom>
          <a:noFill/>
          <a:ln/>
        </p:spPr>
        <p:txBody>
          <a:bodyPr wrap="square" lIns="0" tIns="0" rIns="0" bIns="0" rtlCol="0" anchor="ctr"/>
          <a:lstStyle/>
          <a:p>
            <a:pPr algn="ctr" indent="0" marL="0">
              <a:buNone/>
            </a:pPr>
            <a:r>
              <a:rPr lang="en-US" sz="2200" b="1" dirty="0">
                <a:solidFill>
                  <a:schemeClr val="bg1"/>
                </a:solidFill>
                <a:latin typeface="+mj-lt" pitchFamily="34" charset="0"/>
                <a:ea typeface="+mj-lt" pitchFamily="34" charset="-122"/>
                <a:cs typeface="+mj-lt" pitchFamily="34" charset="-120"/>
              </a:rPr>
              <a:t>1</a:t>
            </a:r>
            <a:endParaRPr lang="en-US" sz="2200" dirty="0"/>
          </a:p>
        </p:txBody>
      </p:sp>
      <p:sp>
        <p:nvSpPr>
          <p:cNvPr id="6" name="Text 4"/>
          <p:cNvSpPr txBox="1"/>
          <p:nvPr/>
        </p:nvSpPr>
        <p:spPr>
          <a:xfrm>
            <a:off x="777240" y="2560320"/>
            <a:ext cx="1554480" cy="868680"/>
          </a:xfrm>
          <a:prstGeom prst="rect">
            <a:avLst/>
          </a:prstGeom>
          <a:noFill/>
          <a:ln/>
        </p:spPr>
        <p:txBody>
          <a:bodyPr wrap="square" lIns="0" tIns="0" rIns="0" bIns="0" rtlCol="0" anchor="t"/>
          <a:lstStyle/>
          <a:p>
            <a:pPr indent="0" marL="0">
              <a:buNone/>
            </a:pPr>
            <a:r>
              <a:rPr lang="en-US" sz="1800" b="1" dirty="0">
                <a:solidFill>
                  <a:schemeClr val="tx1"/>
                </a:solidFill>
              </a:rPr>
              <a:t>Describe the company</a:t>
            </a:r>
            <a:endParaRPr lang="en-US" sz="1800" dirty="0"/>
          </a:p>
        </p:txBody>
      </p:sp>
      <p:sp>
        <p:nvSpPr>
          <p:cNvPr id="7" name="Text 5"/>
          <p:cNvSpPr txBox="1"/>
          <p:nvPr/>
        </p:nvSpPr>
        <p:spPr>
          <a:xfrm>
            <a:off x="777240" y="3538728"/>
            <a:ext cx="1554480" cy="1280160"/>
          </a:xfrm>
          <a:prstGeom prst="rect">
            <a:avLst/>
          </a:prstGeom>
          <a:noFill/>
          <a:ln/>
        </p:spPr>
        <p:txBody>
          <a:bodyPr wrap="square" lIns="0" tIns="0" rIns="0" bIns="0" rtlCol="0" anchor="t"/>
          <a:lstStyle/>
          <a:p>
            <a:pPr indent="0" marL="0">
              <a:buNone/>
            </a:pPr>
            <a:r>
              <a:rPr lang="en-US" sz="1400" dirty="0">
                <a:solidFill>
                  <a:schemeClr val="tx1"/>
                </a:solidFill>
              </a:rPr>
              <a:t>Name and type of business. The type changes the wording of the results, not the rules.</a:t>
            </a:r>
            <a:endParaRPr lang="en-US" sz="1400" dirty="0"/>
          </a:p>
        </p:txBody>
      </p:sp>
      <p:sp>
        <p:nvSpPr>
          <p:cNvPr id="8" name="Shape 6"/>
          <p:cNvSpPr/>
          <p:nvPr/>
        </p:nvSpPr>
        <p:spPr>
          <a:xfrm>
            <a:off x="2587752" y="3268980"/>
            <a:ext cx="204140" cy="0"/>
          </a:xfrm>
          <a:prstGeom prst="line">
            <a:avLst/>
          </a:prstGeom>
          <a:noFill/>
          <a:ln w="19050">
            <a:solidFill>
              <a:schemeClr val="accent6"/>
            </a:solidFill>
            <a:prstDash val="solid"/>
            <a:tailEnd type="triangle"/>
          </a:ln>
        </p:spPr>
      </p:sp>
      <p:sp>
        <p:nvSpPr>
          <p:cNvPr id="9" name="step-card-2"/>
          <p:cNvSpPr/>
          <p:nvPr/>
        </p:nvSpPr>
        <p:spPr>
          <a:xfrm>
            <a:off x="2819324" y="1600200"/>
            <a:ext cx="2011680" cy="3337560"/>
          </a:xfrm>
          <a:prstGeom prst="roundRect">
            <a:avLst>
              <a:gd name="adj" fmla="val 3636"/>
            </a:avLst>
          </a:prstGeom>
          <a:solidFill>
            <a:schemeClr val="bg2"/>
          </a:solidFill>
          <a:ln w="12700">
            <a:solidFill>
              <a:schemeClr val="bg2"/>
            </a:solidFill>
            <a:prstDash val="solid"/>
          </a:ln>
        </p:spPr>
      </p:sp>
      <p:sp>
        <p:nvSpPr>
          <p:cNvPr id="10" name="Shape 8"/>
          <p:cNvSpPr/>
          <p:nvPr/>
        </p:nvSpPr>
        <p:spPr>
          <a:xfrm>
            <a:off x="3047924" y="1856232"/>
            <a:ext cx="548640" cy="548640"/>
          </a:xfrm>
          <a:prstGeom prst="roundRect">
            <a:avLst>
              <a:gd name="adj" fmla="val 8333"/>
            </a:avLst>
          </a:prstGeom>
          <a:solidFill>
            <a:schemeClr val="tx2"/>
          </a:solidFill>
          <a:ln w="12700">
            <a:solidFill>
              <a:schemeClr val="tx2"/>
            </a:solidFill>
            <a:prstDash val="solid"/>
          </a:ln>
        </p:spPr>
      </p:sp>
      <p:sp>
        <p:nvSpPr>
          <p:cNvPr id="11" name="Text 9"/>
          <p:cNvSpPr txBox="1"/>
          <p:nvPr/>
        </p:nvSpPr>
        <p:spPr>
          <a:xfrm>
            <a:off x="3047924" y="1856232"/>
            <a:ext cx="548640" cy="548640"/>
          </a:xfrm>
          <a:prstGeom prst="rect">
            <a:avLst/>
          </a:prstGeom>
          <a:noFill/>
          <a:ln/>
        </p:spPr>
        <p:txBody>
          <a:bodyPr wrap="square" lIns="0" tIns="0" rIns="0" bIns="0" rtlCol="0" anchor="ctr"/>
          <a:lstStyle/>
          <a:p>
            <a:pPr algn="ctr" indent="0" marL="0">
              <a:buNone/>
            </a:pPr>
            <a:r>
              <a:rPr lang="en-US" sz="2200" b="1" dirty="0">
                <a:solidFill>
                  <a:schemeClr val="bg1"/>
                </a:solidFill>
                <a:latin typeface="+mj-lt" pitchFamily="34" charset="0"/>
                <a:ea typeface="+mj-lt" pitchFamily="34" charset="-122"/>
                <a:cs typeface="+mj-lt" pitchFamily="34" charset="-120"/>
              </a:rPr>
              <a:t>2</a:t>
            </a:r>
            <a:endParaRPr lang="en-US" sz="2200" dirty="0"/>
          </a:p>
        </p:txBody>
      </p:sp>
      <p:sp>
        <p:nvSpPr>
          <p:cNvPr id="12" name="Text 10"/>
          <p:cNvSpPr txBox="1"/>
          <p:nvPr/>
        </p:nvSpPr>
        <p:spPr>
          <a:xfrm>
            <a:off x="3047924" y="2560320"/>
            <a:ext cx="1554480" cy="868680"/>
          </a:xfrm>
          <a:prstGeom prst="rect">
            <a:avLst/>
          </a:prstGeom>
          <a:noFill/>
          <a:ln/>
        </p:spPr>
        <p:txBody>
          <a:bodyPr wrap="square" lIns="0" tIns="0" rIns="0" bIns="0" rtlCol="0" anchor="t"/>
          <a:lstStyle/>
          <a:p>
            <a:pPr indent="0" marL="0">
              <a:buNone/>
            </a:pPr>
            <a:r>
              <a:rPr lang="en-US" sz="1800" b="1" dirty="0">
                <a:solidFill>
                  <a:schemeClr val="tx1"/>
                </a:solidFill>
              </a:rPr>
              <a:t>Answer factual questions</a:t>
            </a:r>
            <a:endParaRPr lang="en-US" sz="1800" dirty="0"/>
          </a:p>
        </p:txBody>
      </p:sp>
      <p:sp>
        <p:nvSpPr>
          <p:cNvPr id="13" name="Text 11"/>
          <p:cNvSpPr txBox="1"/>
          <p:nvPr/>
        </p:nvSpPr>
        <p:spPr>
          <a:xfrm>
            <a:off x="3047924" y="3538728"/>
            <a:ext cx="1554480" cy="1280160"/>
          </a:xfrm>
          <a:prstGeom prst="rect">
            <a:avLst/>
          </a:prstGeom>
          <a:noFill/>
          <a:ln/>
        </p:spPr>
        <p:txBody>
          <a:bodyPr wrap="square" lIns="0" tIns="0" rIns="0" bIns="0" rtlCol="0" anchor="t"/>
          <a:lstStyle/>
          <a:p>
            <a:pPr indent="0" marL="0">
              <a:buNone/>
            </a:pPr>
            <a:r>
              <a:rPr lang="en-US" sz="1400" dirty="0">
                <a:solidFill>
                  <a:schemeClr val="tx1"/>
                </a:solidFill>
              </a:rPr>
              <a:t>67 questions across 8 areas, each one yes/no or a rating from 1 to 5.</a:t>
            </a:r>
            <a:endParaRPr lang="en-US" sz="1400" dirty="0"/>
          </a:p>
        </p:txBody>
      </p:sp>
      <p:sp>
        <p:nvSpPr>
          <p:cNvPr id="14" name="Shape 12"/>
          <p:cNvSpPr/>
          <p:nvPr/>
        </p:nvSpPr>
        <p:spPr>
          <a:xfrm>
            <a:off x="4858436" y="3268980"/>
            <a:ext cx="204140" cy="0"/>
          </a:xfrm>
          <a:prstGeom prst="line">
            <a:avLst/>
          </a:prstGeom>
          <a:noFill/>
          <a:ln w="19050">
            <a:solidFill>
              <a:schemeClr val="accent6"/>
            </a:solidFill>
            <a:prstDash val="solid"/>
            <a:tailEnd type="triangle"/>
          </a:ln>
        </p:spPr>
      </p:sp>
      <p:sp>
        <p:nvSpPr>
          <p:cNvPr id="15" name="step-card-3"/>
          <p:cNvSpPr/>
          <p:nvPr/>
        </p:nvSpPr>
        <p:spPr>
          <a:xfrm>
            <a:off x="5090008" y="1600200"/>
            <a:ext cx="2011680" cy="3337560"/>
          </a:xfrm>
          <a:prstGeom prst="roundRect">
            <a:avLst>
              <a:gd name="adj" fmla="val 3636"/>
            </a:avLst>
          </a:prstGeom>
          <a:solidFill>
            <a:schemeClr val="bg2"/>
          </a:solidFill>
          <a:ln w="12700">
            <a:solidFill>
              <a:schemeClr val="bg2"/>
            </a:solidFill>
            <a:prstDash val="solid"/>
          </a:ln>
        </p:spPr>
      </p:sp>
      <p:sp>
        <p:nvSpPr>
          <p:cNvPr id="16" name="Shape 14"/>
          <p:cNvSpPr/>
          <p:nvPr/>
        </p:nvSpPr>
        <p:spPr>
          <a:xfrm>
            <a:off x="5318608" y="1856232"/>
            <a:ext cx="548640" cy="548640"/>
          </a:xfrm>
          <a:prstGeom prst="roundRect">
            <a:avLst>
              <a:gd name="adj" fmla="val 8333"/>
            </a:avLst>
          </a:prstGeom>
          <a:solidFill>
            <a:schemeClr val="tx2"/>
          </a:solidFill>
          <a:ln w="12700">
            <a:solidFill>
              <a:schemeClr val="tx2"/>
            </a:solidFill>
            <a:prstDash val="solid"/>
          </a:ln>
        </p:spPr>
      </p:sp>
      <p:sp>
        <p:nvSpPr>
          <p:cNvPr id="17" name="Text 15"/>
          <p:cNvSpPr txBox="1"/>
          <p:nvPr/>
        </p:nvSpPr>
        <p:spPr>
          <a:xfrm>
            <a:off x="5318608" y="1856232"/>
            <a:ext cx="548640" cy="548640"/>
          </a:xfrm>
          <a:prstGeom prst="rect">
            <a:avLst/>
          </a:prstGeom>
          <a:noFill/>
          <a:ln/>
        </p:spPr>
        <p:txBody>
          <a:bodyPr wrap="square" lIns="0" tIns="0" rIns="0" bIns="0" rtlCol="0" anchor="ctr"/>
          <a:lstStyle/>
          <a:p>
            <a:pPr algn="ctr" indent="0" marL="0">
              <a:buNone/>
            </a:pPr>
            <a:r>
              <a:rPr lang="en-US" sz="2200" b="1" dirty="0">
                <a:solidFill>
                  <a:schemeClr val="bg1"/>
                </a:solidFill>
                <a:latin typeface="+mj-lt" pitchFamily="34" charset="0"/>
                <a:ea typeface="+mj-lt" pitchFamily="34" charset="-122"/>
                <a:cs typeface="+mj-lt" pitchFamily="34" charset="-120"/>
              </a:rPr>
              <a:t>3</a:t>
            </a:r>
            <a:endParaRPr lang="en-US" sz="2200" dirty="0"/>
          </a:p>
        </p:txBody>
      </p:sp>
      <p:sp>
        <p:nvSpPr>
          <p:cNvPr id="18" name="Text 16"/>
          <p:cNvSpPr txBox="1"/>
          <p:nvPr/>
        </p:nvSpPr>
        <p:spPr>
          <a:xfrm>
            <a:off x="5318608" y="2560320"/>
            <a:ext cx="1554480" cy="868680"/>
          </a:xfrm>
          <a:prstGeom prst="rect">
            <a:avLst/>
          </a:prstGeom>
          <a:noFill/>
          <a:ln/>
        </p:spPr>
        <p:txBody>
          <a:bodyPr wrap="square" lIns="0" tIns="0" rIns="0" bIns="0" rtlCol="0" anchor="t"/>
          <a:lstStyle/>
          <a:p>
            <a:pPr indent="0" marL="0">
              <a:buNone/>
            </a:pPr>
            <a:r>
              <a:rPr lang="en-US" sz="1800" b="1" dirty="0">
                <a:solidFill>
                  <a:schemeClr val="tx1"/>
                </a:solidFill>
              </a:rPr>
              <a:t>Score each area</a:t>
            </a:r>
            <a:endParaRPr lang="en-US" sz="1800" dirty="0"/>
          </a:p>
        </p:txBody>
      </p:sp>
      <p:sp>
        <p:nvSpPr>
          <p:cNvPr id="19" name="Text 17"/>
          <p:cNvSpPr txBox="1"/>
          <p:nvPr/>
        </p:nvSpPr>
        <p:spPr>
          <a:xfrm>
            <a:off x="5318608" y="3538728"/>
            <a:ext cx="1554480" cy="1280160"/>
          </a:xfrm>
          <a:prstGeom prst="rect">
            <a:avLst/>
          </a:prstGeom>
          <a:noFill/>
          <a:ln/>
        </p:spPr>
        <p:txBody>
          <a:bodyPr wrap="square" lIns="0" tIns="0" rIns="0" bIns="0" rtlCol="0" anchor="t"/>
          <a:lstStyle/>
          <a:p>
            <a:pPr indent="0" marL="0">
              <a:buNone/>
            </a:pPr>
            <a:r>
              <a:rPr lang="en-US" sz="1400" dirty="0">
                <a:solidFill>
                  <a:schemeClr val="tx1"/>
                </a:solidFill>
              </a:rPr>
              <a:t>The answers in each area become a score from 1 (weak) to 4 (advanced).</a:t>
            </a:r>
            <a:endParaRPr lang="en-US" sz="1400" dirty="0"/>
          </a:p>
        </p:txBody>
      </p:sp>
      <p:sp>
        <p:nvSpPr>
          <p:cNvPr id="20" name="Shape 18"/>
          <p:cNvSpPr/>
          <p:nvPr/>
        </p:nvSpPr>
        <p:spPr>
          <a:xfrm>
            <a:off x="7129120" y="3268980"/>
            <a:ext cx="204140" cy="0"/>
          </a:xfrm>
          <a:prstGeom prst="line">
            <a:avLst/>
          </a:prstGeom>
          <a:noFill/>
          <a:ln w="19050">
            <a:solidFill>
              <a:schemeClr val="accent6"/>
            </a:solidFill>
            <a:prstDash val="solid"/>
            <a:tailEnd type="triangle"/>
          </a:ln>
        </p:spPr>
      </p:sp>
      <p:sp>
        <p:nvSpPr>
          <p:cNvPr id="21" name="step-card-4"/>
          <p:cNvSpPr/>
          <p:nvPr/>
        </p:nvSpPr>
        <p:spPr>
          <a:xfrm>
            <a:off x="7360691" y="1600200"/>
            <a:ext cx="2011680" cy="3337560"/>
          </a:xfrm>
          <a:prstGeom prst="roundRect">
            <a:avLst>
              <a:gd name="adj" fmla="val 3636"/>
            </a:avLst>
          </a:prstGeom>
          <a:solidFill>
            <a:schemeClr val="bg2"/>
          </a:solidFill>
          <a:ln w="12700">
            <a:solidFill>
              <a:schemeClr val="bg2"/>
            </a:solidFill>
            <a:prstDash val="solid"/>
          </a:ln>
        </p:spPr>
      </p:sp>
      <p:sp>
        <p:nvSpPr>
          <p:cNvPr id="22" name="Shape 20"/>
          <p:cNvSpPr/>
          <p:nvPr/>
        </p:nvSpPr>
        <p:spPr>
          <a:xfrm>
            <a:off x="7589291" y="1856232"/>
            <a:ext cx="548640" cy="548640"/>
          </a:xfrm>
          <a:prstGeom prst="roundRect">
            <a:avLst>
              <a:gd name="adj" fmla="val 8333"/>
            </a:avLst>
          </a:prstGeom>
          <a:solidFill>
            <a:schemeClr val="tx2"/>
          </a:solidFill>
          <a:ln w="12700">
            <a:solidFill>
              <a:schemeClr val="tx2"/>
            </a:solidFill>
            <a:prstDash val="solid"/>
          </a:ln>
        </p:spPr>
      </p:sp>
      <p:sp>
        <p:nvSpPr>
          <p:cNvPr id="23" name="Text 21"/>
          <p:cNvSpPr txBox="1"/>
          <p:nvPr/>
        </p:nvSpPr>
        <p:spPr>
          <a:xfrm>
            <a:off x="7589291" y="1856232"/>
            <a:ext cx="548640" cy="548640"/>
          </a:xfrm>
          <a:prstGeom prst="rect">
            <a:avLst/>
          </a:prstGeom>
          <a:noFill/>
          <a:ln/>
        </p:spPr>
        <p:txBody>
          <a:bodyPr wrap="square" lIns="0" tIns="0" rIns="0" bIns="0" rtlCol="0" anchor="ctr"/>
          <a:lstStyle/>
          <a:p>
            <a:pPr algn="ctr" indent="0" marL="0">
              <a:buNone/>
            </a:pPr>
            <a:r>
              <a:rPr lang="en-US" sz="2200" b="1" dirty="0">
                <a:solidFill>
                  <a:schemeClr val="bg1"/>
                </a:solidFill>
                <a:latin typeface="+mj-lt" pitchFamily="34" charset="0"/>
                <a:ea typeface="+mj-lt" pitchFamily="34" charset="-122"/>
                <a:cs typeface="+mj-lt" pitchFamily="34" charset="-120"/>
              </a:rPr>
              <a:t>4</a:t>
            </a:r>
            <a:endParaRPr lang="en-US" sz="2200" dirty="0"/>
          </a:p>
        </p:txBody>
      </p:sp>
      <p:sp>
        <p:nvSpPr>
          <p:cNvPr id="24" name="Text 22"/>
          <p:cNvSpPr txBox="1"/>
          <p:nvPr/>
        </p:nvSpPr>
        <p:spPr>
          <a:xfrm>
            <a:off x="7589291" y="2560320"/>
            <a:ext cx="1554480" cy="868680"/>
          </a:xfrm>
          <a:prstGeom prst="rect">
            <a:avLst/>
          </a:prstGeom>
          <a:noFill/>
          <a:ln/>
        </p:spPr>
        <p:txBody>
          <a:bodyPr wrap="square" lIns="0" tIns="0" rIns="0" bIns="0" rtlCol="0" anchor="t"/>
          <a:lstStyle/>
          <a:p>
            <a:pPr indent="0" marL="0">
              <a:buNone/>
            </a:pPr>
            <a:r>
              <a:rPr lang="en-US" sz="1800" b="1" dirty="0">
                <a:solidFill>
                  <a:schemeClr val="tx1"/>
                </a:solidFill>
              </a:rPr>
              <a:t>Combine into one number</a:t>
            </a:r>
            <a:endParaRPr lang="en-US" sz="1800" dirty="0"/>
          </a:p>
        </p:txBody>
      </p:sp>
      <p:sp>
        <p:nvSpPr>
          <p:cNvPr id="25" name="Text 23"/>
          <p:cNvSpPr txBox="1"/>
          <p:nvPr/>
        </p:nvSpPr>
        <p:spPr>
          <a:xfrm>
            <a:off x="7589291" y="3538728"/>
            <a:ext cx="1554480" cy="1280160"/>
          </a:xfrm>
          <a:prstGeom prst="rect">
            <a:avLst/>
          </a:prstGeom>
          <a:noFill/>
          <a:ln/>
        </p:spPr>
        <p:txBody>
          <a:bodyPr wrap="square" lIns="0" tIns="0" rIns="0" bIns="0" rtlCol="0" anchor="t"/>
          <a:lstStyle/>
          <a:p>
            <a:pPr indent="0" marL="0">
              <a:buNone/>
            </a:pPr>
            <a:r>
              <a:rPr lang="en-US" sz="1400" dirty="0">
                <a:solidFill>
                  <a:schemeClr val="tx1"/>
                </a:solidFill>
              </a:rPr>
              <a:t>The eight scores roll up into one readiness score from 0 to 100.</a:t>
            </a:r>
            <a:endParaRPr lang="en-US" sz="1400" dirty="0"/>
          </a:p>
        </p:txBody>
      </p:sp>
      <p:sp>
        <p:nvSpPr>
          <p:cNvPr id="26" name="Shape 24"/>
          <p:cNvSpPr/>
          <p:nvPr/>
        </p:nvSpPr>
        <p:spPr>
          <a:xfrm>
            <a:off x="9399803" y="3268980"/>
            <a:ext cx="204140" cy="0"/>
          </a:xfrm>
          <a:prstGeom prst="line">
            <a:avLst/>
          </a:prstGeom>
          <a:noFill/>
          <a:ln w="19050">
            <a:solidFill>
              <a:schemeClr val="accent6"/>
            </a:solidFill>
            <a:prstDash val="solid"/>
            <a:tailEnd type="triangle"/>
          </a:ln>
        </p:spPr>
      </p:sp>
      <p:sp>
        <p:nvSpPr>
          <p:cNvPr id="27" name="step-card-5"/>
          <p:cNvSpPr/>
          <p:nvPr/>
        </p:nvSpPr>
        <p:spPr>
          <a:xfrm>
            <a:off x="9631375" y="1600200"/>
            <a:ext cx="2011680" cy="3337560"/>
          </a:xfrm>
          <a:prstGeom prst="roundRect">
            <a:avLst>
              <a:gd name="adj" fmla="val 3636"/>
            </a:avLst>
          </a:prstGeom>
          <a:solidFill>
            <a:schemeClr val="tx2"/>
          </a:solidFill>
          <a:ln w="12700">
            <a:solidFill>
              <a:schemeClr val="tx2"/>
            </a:solidFill>
            <a:prstDash val="solid"/>
          </a:ln>
        </p:spPr>
      </p:sp>
      <p:sp>
        <p:nvSpPr>
          <p:cNvPr id="28" name="Shape 26"/>
          <p:cNvSpPr/>
          <p:nvPr/>
        </p:nvSpPr>
        <p:spPr>
          <a:xfrm>
            <a:off x="9859975" y="1856232"/>
            <a:ext cx="548640" cy="548640"/>
          </a:xfrm>
          <a:prstGeom prst="roundRect">
            <a:avLst>
              <a:gd name="adj" fmla="val 8333"/>
            </a:avLst>
          </a:prstGeom>
          <a:solidFill>
            <a:schemeClr val="accent5"/>
          </a:solidFill>
          <a:ln w="12700">
            <a:solidFill>
              <a:schemeClr val="accent5"/>
            </a:solidFill>
            <a:prstDash val="solid"/>
          </a:ln>
        </p:spPr>
      </p:sp>
      <p:sp>
        <p:nvSpPr>
          <p:cNvPr id="29" name="Text 27"/>
          <p:cNvSpPr txBox="1"/>
          <p:nvPr/>
        </p:nvSpPr>
        <p:spPr>
          <a:xfrm>
            <a:off x="9859975" y="1856232"/>
            <a:ext cx="548640" cy="548640"/>
          </a:xfrm>
          <a:prstGeom prst="rect">
            <a:avLst/>
          </a:prstGeom>
          <a:noFill/>
          <a:ln/>
        </p:spPr>
        <p:txBody>
          <a:bodyPr wrap="square" lIns="0" tIns="0" rIns="0" bIns="0" rtlCol="0" anchor="ctr"/>
          <a:lstStyle/>
          <a:p>
            <a:pPr algn="ctr" indent="0" marL="0">
              <a:buNone/>
            </a:pPr>
            <a:r>
              <a:rPr lang="en-US" sz="2200" b="1" dirty="0">
                <a:solidFill>
                  <a:schemeClr val="bg1"/>
                </a:solidFill>
                <a:latin typeface="+mj-lt" pitchFamily="34" charset="0"/>
                <a:ea typeface="+mj-lt" pitchFamily="34" charset="-122"/>
                <a:cs typeface="+mj-lt" pitchFamily="34" charset="-120"/>
              </a:rPr>
              <a:t>5</a:t>
            </a:r>
            <a:endParaRPr lang="en-US" sz="2200" dirty="0"/>
          </a:p>
        </p:txBody>
      </p:sp>
      <p:sp>
        <p:nvSpPr>
          <p:cNvPr id="30" name="Text 28"/>
          <p:cNvSpPr txBox="1"/>
          <p:nvPr/>
        </p:nvSpPr>
        <p:spPr>
          <a:xfrm>
            <a:off x="9859975" y="2560320"/>
            <a:ext cx="1554480" cy="868680"/>
          </a:xfrm>
          <a:prstGeom prst="rect">
            <a:avLst/>
          </a:prstGeom>
          <a:noFill/>
          <a:ln/>
        </p:spPr>
        <p:txBody>
          <a:bodyPr wrap="square" lIns="0" tIns="0" rIns="0" bIns="0" rtlCol="0" anchor="t"/>
          <a:lstStyle/>
          <a:p>
            <a:pPr indent="0" marL="0">
              <a:buNone/>
            </a:pPr>
            <a:r>
              <a:rPr lang="en-US" sz="1800" b="1" dirty="0">
                <a:solidFill>
                  <a:schemeClr val="bg1"/>
                </a:solidFill>
              </a:rPr>
              <a:t>Check deal-breakers, then recommend</a:t>
            </a:r>
            <a:endParaRPr lang="en-US" sz="1800" dirty="0"/>
          </a:p>
        </p:txBody>
      </p:sp>
      <p:sp>
        <p:nvSpPr>
          <p:cNvPr id="31" name="Text 29"/>
          <p:cNvSpPr txBox="1"/>
          <p:nvPr/>
        </p:nvSpPr>
        <p:spPr>
          <a:xfrm>
            <a:off x="9859975" y="3538728"/>
            <a:ext cx="1554480" cy="1280160"/>
          </a:xfrm>
          <a:prstGeom prst="rect">
            <a:avLst/>
          </a:prstGeom>
          <a:noFill/>
          <a:ln/>
        </p:spPr>
        <p:txBody>
          <a:bodyPr wrap="square" lIns="0" tIns="0" rIns="0" bIns="0" rtlCol="0" anchor="t"/>
          <a:lstStyle/>
          <a:p>
            <a:pPr indent="0" marL="0">
              <a:buNone/>
            </a:pPr>
            <a:r>
              <a:rPr lang="en-US" sz="1400" dirty="0">
                <a:solidFill>
                  <a:schemeClr val="bg2"/>
                </a:solidFill>
              </a:rPr>
              <a:t>Problems that must be fixed first are checked, then one of five next steps is chosen.</a:t>
            </a:r>
            <a:endParaRPr lang="en-US" sz="1400" dirty="0"/>
          </a:p>
        </p:txBody>
      </p:sp>
      <p:sp>
        <p:nvSpPr>
          <p:cNvPr id="32" name="Text 30"/>
          <p:cNvSpPr txBox="1"/>
          <p:nvPr/>
        </p:nvSpPr>
        <p:spPr>
          <a:xfrm>
            <a:off x="548640" y="5303520"/>
            <a:ext cx="11094415" cy="457200"/>
          </a:xfrm>
          <a:prstGeom prst="rect">
            <a:avLst/>
          </a:prstGeom>
          <a:noFill/>
          <a:ln/>
        </p:spPr>
        <p:txBody>
          <a:bodyPr wrap="square" lIns="0" tIns="0" rIns="0" bIns="0" rtlCol="0" anchor="t"/>
          <a:lstStyle/>
          <a:p>
            <a:pPr indent="0" marL="0">
              <a:buNone/>
            </a:pPr>
            <a:r>
              <a:rPr lang="en-US" sz="1800" i="1" dirty="0">
                <a:solidFill>
                  <a:schemeClr val="accent6"/>
                </a:solidFill>
              </a:rPr>
              <a:t>Steps 1–4 build an accurate picture of the company. Step 5 turns that picture into a decision.</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31520"/>
          </a:xfrm>
          <a:prstGeom prst="rect">
            <a:avLst/>
          </a:prstGeom>
          <a:noFill/>
          <a:ln/>
        </p:spPr>
        <p:txBody>
          <a:bodyPr wrap="square" lIns="0" tIns="0" rIns="0" bIns="0" rtlCol="0" anchor="ctr"/>
          <a:lstStyle/>
          <a:p>
            <a:pPr algn="l" indent="0" marL="0">
              <a:buNone/>
            </a:pPr>
            <a:r>
              <a:rPr lang="en-US" sz="3600" b="1" dirty="0">
                <a:solidFill>
                  <a:schemeClr val="tx1"/>
                </a:solidFill>
              </a:rPr>
              <a:t>Facts, not opinions</a:t>
            </a:r>
            <a:endParaRPr lang="en-US" sz="3600" dirty="0"/>
          </a:p>
        </p:txBody>
      </p:sp>
      <p:sp>
        <p:nvSpPr>
          <p:cNvPr id="3" name="Text 1"/>
          <p:cNvSpPr txBox="1"/>
          <p:nvPr/>
        </p:nvSpPr>
        <p:spPr>
          <a:xfrm>
            <a:off x="548640" y="1417320"/>
            <a:ext cx="5193792" cy="365760"/>
          </a:xfrm>
          <a:prstGeom prst="rect">
            <a:avLst/>
          </a:prstGeom>
          <a:noFill/>
          <a:ln/>
        </p:spPr>
        <p:txBody>
          <a:bodyPr wrap="square" lIns="0" tIns="0" rIns="0" bIns="0" rtlCol="0" anchor="t"/>
          <a:lstStyle/>
          <a:p>
            <a:pPr indent="0" marL="0">
              <a:buNone/>
            </a:pPr>
            <a:r>
              <a:rPr lang="en-US" sz="1600" b="1" dirty="0">
                <a:solidFill>
                  <a:schemeClr val="accent2"/>
                </a:solidFill>
              </a:rPr>
              <a:t>An opinion question: not used</a:t>
            </a:r>
            <a:endParaRPr lang="en-US" sz="1600" dirty="0"/>
          </a:p>
        </p:txBody>
      </p:sp>
      <p:sp>
        <p:nvSpPr>
          <p:cNvPr id="4" name="Text 2"/>
          <p:cNvSpPr txBox="1"/>
          <p:nvPr/>
        </p:nvSpPr>
        <p:spPr>
          <a:xfrm>
            <a:off x="6446520" y="1417320"/>
            <a:ext cx="5193792" cy="365760"/>
          </a:xfrm>
          <a:prstGeom prst="rect">
            <a:avLst/>
          </a:prstGeom>
          <a:noFill/>
          <a:ln/>
        </p:spPr>
        <p:txBody>
          <a:bodyPr wrap="square" lIns="0" tIns="0" rIns="0" bIns="0" rtlCol="0" anchor="t"/>
          <a:lstStyle/>
          <a:p>
            <a:pPr indent="0" marL="0">
              <a:buNone/>
            </a:pPr>
            <a:r>
              <a:rPr lang="en-US" sz="1600" b="1" dirty="0">
                <a:solidFill>
                  <a:schemeClr val="accent4"/>
                </a:solidFill>
              </a:rPr>
              <a:t>A factual question: used instead</a:t>
            </a:r>
            <a:endParaRPr lang="en-US" sz="1600" dirty="0"/>
          </a:p>
        </p:txBody>
      </p:sp>
      <p:sp>
        <p:nvSpPr>
          <p:cNvPr id="5" name="opinion-1"/>
          <p:cNvSpPr/>
          <p:nvPr/>
        </p:nvSpPr>
        <p:spPr>
          <a:xfrm>
            <a:off x="548640" y="1874520"/>
            <a:ext cx="5193792" cy="868680"/>
          </a:xfrm>
          <a:prstGeom prst="roundRect">
            <a:avLst>
              <a:gd name="adj" fmla="val 8421"/>
            </a:avLst>
          </a:prstGeom>
          <a:solidFill>
            <a:schemeClr val="accent2">
              <a:alpha val="10000"/>
            </a:schemeClr>
          </a:solidFill>
          <a:ln w="12700">
            <a:solidFill>
              <a:schemeClr val="accent2">
                <a:alpha val="0"/>
              </a:schemeClr>
            </a:solidFill>
            <a:prstDash val="solid"/>
          </a:ln>
        </p:spPr>
      </p:sp>
      <p:sp>
        <p:nvSpPr>
          <p:cNvPr id="6" name="Text 4"/>
          <p:cNvSpPr txBox="1"/>
          <p:nvPr/>
        </p:nvSpPr>
        <p:spPr>
          <a:xfrm>
            <a:off x="777240" y="1874520"/>
            <a:ext cx="4736592" cy="868680"/>
          </a:xfrm>
          <a:prstGeom prst="rect">
            <a:avLst/>
          </a:prstGeom>
          <a:noFill/>
          <a:ln/>
        </p:spPr>
        <p:txBody>
          <a:bodyPr wrap="square" lIns="0" tIns="0" rIns="0" bIns="0" rtlCol="0" anchor="ctr"/>
          <a:lstStyle/>
          <a:p>
            <a:pPr indent="0" marL="0">
              <a:buNone/>
            </a:pPr>
            <a:r>
              <a:rPr lang="en-US" sz="1600" i="1" dirty="0">
                <a:solidFill>
                  <a:schemeClr val="accent6"/>
                </a:solidFill>
              </a:rPr>
              <a:t>“How strong is leadership’s AI vision, 1–10?”</a:t>
            </a:r>
            <a:endParaRPr lang="en-US" sz="1600" dirty="0"/>
          </a:p>
        </p:txBody>
      </p:sp>
      <p:sp>
        <p:nvSpPr>
          <p:cNvPr id="7" name="Shape 5"/>
          <p:cNvSpPr/>
          <p:nvPr/>
        </p:nvSpPr>
        <p:spPr>
          <a:xfrm>
            <a:off x="5852160" y="2308860"/>
            <a:ext cx="484632" cy="0"/>
          </a:xfrm>
          <a:prstGeom prst="line">
            <a:avLst/>
          </a:prstGeom>
          <a:noFill/>
          <a:ln w="19050">
            <a:solidFill>
              <a:schemeClr val="accent6"/>
            </a:solidFill>
            <a:prstDash val="solid"/>
            <a:tailEnd type="triangle"/>
          </a:ln>
        </p:spPr>
      </p:sp>
      <p:sp>
        <p:nvSpPr>
          <p:cNvPr id="8" name="fact-1"/>
          <p:cNvSpPr/>
          <p:nvPr/>
        </p:nvSpPr>
        <p:spPr>
          <a:xfrm>
            <a:off x="6446520" y="1874520"/>
            <a:ext cx="5193792" cy="868680"/>
          </a:xfrm>
          <a:prstGeom prst="roundRect">
            <a:avLst>
              <a:gd name="adj" fmla="val 8421"/>
            </a:avLst>
          </a:prstGeom>
          <a:solidFill>
            <a:schemeClr val="accent4">
              <a:alpha val="12000"/>
            </a:schemeClr>
          </a:solidFill>
          <a:ln w="12700">
            <a:solidFill>
              <a:schemeClr val="accent4">
                <a:alpha val="0"/>
              </a:schemeClr>
            </a:solidFill>
            <a:prstDash val="solid"/>
          </a:ln>
        </p:spPr>
      </p:sp>
      <p:sp>
        <p:nvSpPr>
          <p:cNvPr id="9" name="Text 7"/>
          <p:cNvSpPr txBox="1"/>
          <p:nvPr/>
        </p:nvSpPr>
        <p:spPr>
          <a:xfrm>
            <a:off x="6675120" y="1874520"/>
            <a:ext cx="4736592" cy="868680"/>
          </a:xfrm>
          <a:prstGeom prst="rect">
            <a:avLst/>
          </a:prstGeom>
          <a:noFill/>
          <a:ln/>
        </p:spPr>
        <p:txBody>
          <a:bodyPr wrap="square" lIns="0" tIns="0" rIns="0" bIns="0" rtlCol="0" anchor="ctr"/>
          <a:lstStyle/>
          <a:p>
            <a:pPr indent="0" marL="0">
              <a:buNone/>
            </a:pPr>
            <a:r>
              <a:rPr lang="en-US" sz="1600" dirty="0">
                <a:solidFill>
                  <a:schemeClr val="tx1"/>
                </a:solidFill>
              </a:rPr>
              <a:t>Is there one named executive who owns AI strategy?  </a:t>
            </a:r>
            <a:pPr indent="0" marL="0">
              <a:buNone/>
            </a:pPr>
            <a:r>
              <a:rPr lang="en-US" sz="1600" b="1" dirty="0">
                <a:solidFill>
                  <a:schemeClr val="accent4"/>
                </a:solidFill>
              </a:rPr>
              <a:t>Yes / No</a:t>
            </a:r>
            <a:endParaRPr lang="en-US" sz="1600" dirty="0"/>
          </a:p>
        </p:txBody>
      </p:sp>
      <p:sp>
        <p:nvSpPr>
          <p:cNvPr id="10" name="opinion-2"/>
          <p:cNvSpPr/>
          <p:nvPr/>
        </p:nvSpPr>
        <p:spPr>
          <a:xfrm>
            <a:off x="548640" y="2898648"/>
            <a:ext cx="5193792" cy="868680"/>
          </a:xfrm>
          <a:prstGeom prst="roundRect">
            <a:avLst>
              <a:gd name="adj" fmla="val 8421"/>
            </a:avLst>
          </a:prstGeom>
          <a:solidFill>
            <a:schemeClr val="accent2">
              <a:alpha val="10000"/>
            </a:schemeClr>
          </a:solidFill>
          <a:ln w="12700">
            <a:solidFill>
              <a:schemeClr val="accent2">
                <a:alpha val="0"/>
              </a:schemeClr>
            </a:solidFill>
            <a:prstDash val="solid"/>
          </a:ln>
        </p:spPr>
      </p:sp>
      <p:sp>
        <p:nvSpPr>
          <p:cNvPr id="11" name="Text 9"/>
          <p:cNvSpPr txBox="1"/>
          <p:nvPr/>
        </p:nvSpPr>
        <p:spPr>
          <a:xfrm>
            <a:off x="777240" y="2898648"/>
            <a:ext cx="4736592" cy="868680"/>
          </a:xfrm>
          <a:prstGeom prst="rect">
            <a:avLst/>
          </a:prstGeom>
          <a:noFill/>
          <a:ln/>
        </p:spPr>
        <p:txBody>
          <a:bodyPr wrap="square" lIns="0" tIns="0" rIns="0" bIns="0" rtlCol="0" anchor="ctr"/>
          <a:lstStyle/>
          <a:p>
            <a:pPr indent="0" marL="0">
              <a:buNone/>
            </a:pPr>
            <a:r>
              <a:rPr lang="en-US" sz="1600" i="1" dirty="0">
                <a:solidFill>
                  <a:schemeClr val="accent6"/>
                </a:solidFill>
              </a:rPr>
              <a:t>“How good is their data?”</a:t>
            </a:r>
            <a:endParaRPr lang="en-US" sz="1600" dirty="0"/>
          </a:p>
        </p:txBody>
      </p:sp>
      <p:sp>
        <p:nvSpPr>
          <p:cNvPr id="12" name="Shape 10"/>
          <p:cNvSpPr/>
          <p:nvPr/>
        </p:nvSpPr>
        <p:spPr>
          <a:xfrm>
            <a:off x="5852160" y="3332988"/>
            <a:ext cx="484632" cy="0"/>
          </a:xfrm>
          <a:prstGeom prst="line">
            <a:avLst/>
          </a:prstGeom>
          <a:noFill/>
          <a:ln w="19050">
            <a:solidFill>
              <a:schemeClr val="accent6"/>
            </a:solidFill>
            <a:prstDash val="solid"/>
            <a:tailEnd type="triangle"/>
          </a:ln>
        </p:spPr>
      </p:sp>
      <p:sp>
        <p:nvSpPr>
          <p:cNvPr id="13" name="fact-2"/>
          <p:cNvSpPr/>
          <p:nvPr/>
        </p:nvSpPr>
        <p:spPr>
          <a:xfrm>
            <a:off x="6446520" y="2898648"/>
            <a:ext cx="5193792" cy="868680"/>
          </a:xfrm>
          <a:prstGeom prst="roundRect">
            <a:avLst>
              <a:gd name="adj" fmla="val 8421"/>
            </a:avLst>
          </a:prstGeom>
          <a:solidFill>
            <a:schemeClr val="accent4">
              <a:alpha val="12000"/>
            </a:schemeClr>
          </a:solidFill>
          <a:ln w="12700">
            <a:solidFill>
              <a:schemeClr val="accent4">
                <a:alpha val="0"/>
              </a:schemeClr>
            </a:solidFill>
            <a:prstDash val="solid"/>
          </a:ln>
        </p:spPr>
      </p:sp>
      <p:sp>
        <p:nvSpPr>
          <p:cNvPr id="14" name="Text 12"/>
          <p:cNvSpPr txBox="1"/>
          <p:nvPr/>
        </p:nvSpPr>
        <p:spPr>
          <a:xfrm>
            <a:off x="6675120" y="2898648"/>
            <a:ext cx="4736592" cy="868680"/>
          </a:xfrm>
          <a:prstGeom prst="rect">
            <a:avLst/>
          </a:prstGeom>
          <a:noFill/>
          <a:ln/>
        </p:spPr>
        <p:txBody>
          <a:bodyPr wrap="square" lIns="0" tIns="0" rIns="0" bIns="0" rtlCol="0" anchor="ctr"/>
          <a:lstStyle/>
          <a:p>
            <a:pPr indent="0" marL="0">
              <a:buNone/>
            </a:pPr>
            <a:r>
              <a:rPr lang="en-US" sz="1600" dirty="0">
                <a:solidFill>
                  <a:schemeClr val="tx1"/>
                </a:solidFill>
              </a:rPr>
              <a:t>Do critical records still exist on paper?  </a:t>
            </a:r>
            <a:pPr indent="0" marL="0">
              <a:buNone/>
            </a:pPr>
            <a:r>
              <a:rPr lang="en-US" sz="1600" b="1" dirty="0">
                <a:solidFill>
                  <a:schemeClr val="accent4"/>
                </a:solidFill>
              </a:rPr>
              <a:t>Yes / No</a:t>
            </a:r>
            <a:endParaRPr lang="en-US" sz="1600" dirty="0"/>
          </a:p>
        </p:txBody>
      </p:sp>
      <p:sp>
        <p:nvSpPr>
          <p:cNvPr id="15" name="opinion-3"/>
          <p:cNvSpPr/>
          <p:nvPr/>
        </p:nvSpPr>
        <p:spPr>
          <a:xfrm>
            <a:off x="548640" y="3922776"/>
            <a:ext cx="5193792" cy="868680"/>
          </a:xfrm>
          <a:prstGeom prst="roundRect">
            <a:avLst>
              <a:gd name="adj" fmla="val 8421"/>
            </a:avLst>
          </a:prstGeom>
          <a:solidFill>
            <a:schemeClr val="accent2">
              <a:alpha val="10000"/>
            </a:schemeClr>
          </a:solidFill>
          <a:ln w="12700">
            <a:solidFill>
              <a:schemeClr val="accent2">
                <a:alpha val="0"/>
              </a:schemeClr>
            </a:solidFill>
            <a:prstDash val="solid"/>
          </a:ln>
        </p:spPr>
      </p:sp>
      <p:sp>
        <p:nvSpPr>
          <p:cNvPr id="16" name="Text 14"/>
          <p:cNvSpPr txBox="1"/>
          <p:nvPr/>
        </p:nvSpPr>
        <p:spPr>
          <a:xfrm>
            <a:off x="777240" y="3922776"/>
            <a:ext cx="4736592" cy="868680"/>
          </a:xfrm>
          <a:prstGeom prst="rect">
            <a:avLst/>
          </a:prstGeom>
          <a:noFill/>
          <a:ln/>
        </p:spPr>
        <p:txBody>
          <a:bodyPr wrap="square" lIns="0" tIns="0" rIns="0" bIns="0" rtlCol="0" anchor="ctr"/>
          <a:lstStyle/>
          <a:p>
            <a:pPr indent="0" marL="0">
              <a:buNone/>
            </a:pPr>
            <a:r>
              <a:rPr lang="en-US" sz="1600" i="1" dirty="0">
                <a:solidFill>
                  <a:schemeClr val="accent6"/>
                </a:solidFill>
              </a:rPr>
              <a:t>“Are they ready to oversee AI responsibly?”</a:t>
            </a:r>
            <a:endParaRPr lang="en-US" sz="1600" dirty="0"/>
          </a:p>
        </p:txBody>
      </p:sp>
      <p:sp>
        <p:nvSpPr>
          <p:cNvPr id="17" name="Shape 15"/>
          <p:cNvSpPr/>
          <p:nvPr/>
        </p:nvSpPr>
        <p:spPr>
          <a:xfrm>
            <a:off x="5852160" y="4357116"/>
            <a:ext cx="484632" cy="0"/>
          </a:xfrm>
          <a:prstGeom prst="line">
            <a:avLst/>
          </a:prstGeom>
          <a:noFill/>
          <a:ln w="19050">
            <a:solidFill>
              <a:schemeClr val="accent6"/>
            </a:solidFill>
            <a:prstDash val="solid"/>
            <a:tailEnd type="triangle"/>
          </a:ln>
        </p:spPr>
      </p:sp>
      <p:sp>
        <p:nvSpPr>
          <p:cNvPr id="18" name="fact-3"/>
          <p:cNvSpPr/>
          <p:nvPr/>
        </p:nvSpPr>
        <p:spPr>
          <a:xfrm>
            <a:off x="6446520" y="3922776"/>
            <a:ext cx="5193792" cy="868680"/>
          </a:xfrm>
          <a:prstGeom prst="roundRect">
            <a:avLst>
              <a:gd name="adj" fmla="val 8421"/>
            </a:avLst>
          </a:prstGeom>
          <a:solidFill>
            <a:schemeClr val="accent4">
              <a:alpha val="12000"/>
            </a:schemeClr>
          </a:solidFill>
          <a:ln w="12700">
            <a:solidFill>
              <a:schemeClr val="accent4">
                <a:alpha val="0"/>
              </a:schemeClr>
            </a:solidFill>
            <a:prstDash val="solid"/>
          </a:ln>
        </p:spPr>
      </p:sp>
      <p:sp>
        <p:nvSpPr>
          <p:cNvPr id="19" name="Text 17"/>
          <p:cNvSpPr txBox="1"/>
          <p:nvPr/>
        </p:nvSpPr>
        <p:spPr>
          <a:xfrm>
            <a:off x="6675120" y="3922776"/>
            <a:ext cx="4736592" cy="868680"/>
          </a:xfrm>
          <a:prstGeom prst="rect">
            <a:avLst/>
          </a:prstGeom>
          <a:noFill/>
          <a:ln/>
        </p:spPr>
        <p:txBody>
          <a:bodyPr wrap="square" lIns="0" tIns="0" rIns="0" bIns="0" rtlCol="0" anchor="ctr"/>
          <a:lstStyle/>
          <a:p>
            <a:pPr indent="0" marL="0">
              <a:buNone/>
            </a:pPr>
            <a:r>
              <a:rPr lang="en-US" sz="1600" dirty="0">
                <a:solidFill>
                  <a:schemeClr val="tx1"/>
                </a:solidFill>
              </a:rPr>
              <a:t>Is there a defined process for when the AI gets something wrong?  </a:t>
            </a:r>
            <a:pPr indent="0" marL="0">
              <a:buNone/>
            </a:pPr>
            <a:r>
              <a:rPr lang="en-US" sz="1600" b="1" dirty="0">
                <a:solidFill>
                  <a:schemeClr val="accent4"/>
                </a:solidFill>
              </a:rPr>
              <a:t>Yes / No</a:t>
            </a:r>
            <a:endParaRPr lang="en-US" sz="1600" dirty="0"/>
          </a:p>
        </p:txBody>
      </p:sp>
      <p:sp>
        <p:nvSpPr>
          <p:cNvPr id="20" name="Shape 18"/>
          <p:cNvSpPr/>
          <p:nvPr/>
        </p:nvSpPr>
        <p:spPr>
          <a:xfrm>
            <a:off x="548640" y="5120640"/>
            <a:ext cx="685800" cy="685800"/>
          </a:xfrm>
          <a:prstGeom prst="ellipse">
            <a:avLst/>
          </a:prstGeom>
          <a:solidFill>
            <a:schemeClr val="tx2"/>
          </a:solidFill>
          <a:ln w="12700">
            <a:solidFill>
              <a:schemeClr val="tx2"/>
            </a:solidFill>
            <a:prstDash val="solid"/>
          </a:ln>
        </p:spPr>
      </p:sp>
      <p:pic>
        <p:nvPicPr>
          <p:cNvPr id="21" name="Image 0" descr="Scale icon">    </p:cNvPr>
          <p:cNvPicPr>
            <a:picLocks noChangeAspect="1"/>
          </p:cNvPicPr>
          <p:nvPr/>
        </p:nvPicPr>
        <p:blipFill>
          <a:blip r:embed="rId1"/>
          <a:stretch>
            <a:fillRect/>
          </a:stretch>
        </p:blipFill>
        <p:spPr>
          <a:xfrm>
            <a:off x="713232" y="5285232"/>
            <a:ext cx="356616" cy="356616"/>
          </a:xfrm>
          <a:prstGeom prst="rect">
            <a:avLst/>
          </a:prstGeom>
        </p:spPr>
      </p:pic>
      <p:sp>
        <p:nvSpPr>
          <p:cNvPr id="22" name="Text 19"/>
          <p:cNvSpPr txBox="1"/>
          <p:nvPr/>
        </p:nvSpPr>
        <p:spPr>
          <a:xfrm>
            <a:off x="1463040" y="5029200"/>
            <a:ext cx="10180015" cy="914400"/>
          </a:xfrm>
          <a:prstGeom prst="rect">
            <a:avLst/>
          </a:prstGeom>
          <a:noFill/>
          <a:ln/>
        </p:spPr>
        <p:txBody>
          <a:bodyPr wrap="square" lIns="0" tIns="0" rIns="0" bIns="0" rtlCol="0" anchor="ctr"/>
          <a:lstStyle/>
          <a:p>
            <a:pPr indent="0" marL="0">
              <a:buNone/>
            </a:pPr>
            <a:r>
              <a:rPr lang="en-US" sz="1600" b="1" dirty="0">
                <a:solidFill>
                  <a:schemeClr val="tx2"/>
                </a:solidFill>
              </a:rPr>
              <a:t>Why it matters: </a:t>
            </a:r>
            <a:pPr indent="0" marL="0">
              <a:buNone/>
            </a:pPr>
            <a:r>
              <a:rPr lang="en-US" sz="1600" dirty="0">
                <a:solidFill>
                  <a:schemeClr val="tx1"/>
                </a:solidFill>
              </a:rPr>
              <a:t>two people assessing the same company should reach the same answer. Facts can be checked in an interview, a document, or a demo. Good signs raise the score, warning signs lower it, and the most important questions count about 1.5 times as much.</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31520"/>
          </a:xfrm>
          <a:prstGeom prst="rect">
            <a:avLst/>
          </a:prstGeom>
          <a:noFill/>
          <a:ln/>
        </p:spPr>
        <p:txBody>
          <a:bodyPr wrap="square" lIns="0" tIns="0" rIns="0" bIns="0" rtlCol="0" anchor="ctr"/>
          <a:lstStyle/>
          <a:p>
            <a:pPr algn="l" indent="0" marL="0">
              <a:buNone/>
            </a:pPr>
            <a:r>
              <a:rPr lang="en-US" sz="3600" b="1" dirty="0">
                <a:solidFill>
                  <a:schemeClr val="tx1"/>
                </a:solidFill>
              </a:rPr>
              <a:t>Eight areas, each scored 1 to 4</a:t>
            </a:r>
            <a:endParaRPr lang="en-US" sz="3600" dirty="0"/>
          </a:p>
        </p:txBody>
      </p:sp>
      <p:sp>
        <p:nvSpPr>
          <p:cNvPr id="3" name="area-1"/>
          <p:cNvSpPr/>
          <p:nvPr/>
        </p:nvSpPr>
        <p:spPr>
          <a:xfrm>
            <a:off x="548640" y="1371600"/>
            <a:ext cx="2560320" cy="2286000"/>
          </a:xfrm>
          <a:prstGeom prst="roundRect">
            <a:avLst>
              <a:gd name="adj" fmla="val 3200"/>
            </a:avLst>
          </a:prstGeom>
          <a:solidFill>
            <a:schemeClr val="bg2"/>
          </a:solidFill>
          <a:ln w="12700">
            <a:solidFill>
              <a:schemeClr val="bg2"/>
            </a:solidFill>
            <a:prstDash val="solid"/>
          </a:ln>
        </p:spPr>
      </p:sp>
      <p:sp>
        <p:nvSpPr>
          <p:cNvPr id="4" name="Shape 2"/>
          <p:cNvSpPr/>
          <p:nvPr/>
        </p:nvSpPr>
        <p:spPr>
          <a:xfrm>
            <a:off x="777240" y="1600200"/>
            <a:ext cx="548640" cy="548640"/>
          </a:xfrm>
          <a:prstGeom prst="ellipse">
            <a:avLst/>
          </a:prstGeom>
          <a:solidFill>
            <a:schemeClr val="tx2"/>
          </a:solidFill>
          <a:ln w="12700">
            <a:solidFill>
              <a:schemeClr val="tx2"/>
            </a:solidFill>
            <a:prstDash val="solid"/>
          </a:ln>
        </p:spPr>
      </p:sp>
      <p:pic>
        <p:nvPicPr>
          <p:cNvPr id="5" name="Image 0" descr="Compass icon">    </p:cNvPr>
          <p:cNvPicPr>
            <a:picLocks noChangeAspect="1"/>
          </p:cNvPicPr>
          <p:nvPr/>
        </p:nvPicPr>
        <p:blipFill>
          <a:blip r:embed="rId1"/>
          <a:stretch>
            <a:fillRect/>
          </a:stretch>
        </p:blipFill>
        <p:spPr>
          <a:xfrm>
            <a:off x="908914" y="1731874"/>
            <a:ext cx="285293" cy="285293"/>
          </a:xfrm>
          <a:prstGeom prst="rect">
            <a:avLst/>
          </a:prstGeom>
        </p:spPr>
      </p:pic>
      <p:sp>
        <p:nvSpPr>
          <p:cNvPr id="6" name="Shape 3"/>
          <p:cNvSpPr/>
          <p:nvPr/>
        </p:nvSpPr>
        <p:spPr>
          <a:xfrm>
            <a:off x="2240280" y="1673352"/>
            <a:ext cx="640080" cy="365760"/>
          </a:xfrm>
          <a:prstGeom prst="roundRect">
            <a:avLst>
              <a:gd name="adj" fmla="val 15000"/>
            </a:avLst>
          </a:prstGeom>
          <a:solidFill>
            <a:schemeClr val="tx2"/>
          </a:solidFill>
          <a:ln w="12700">
            <a:solidFill>
              <a:schemeClr val="tx2"/>
            </a:solidFill>
            <a:prstDash val="solid"/>
          </a:ln>
        </p:spPr>
      </p:sp>
      <p:sp>
        <p:nvSpPr>
          <p:cNvPr id="7" name="Text 4"/>
          <p:cNvSpPr txBox="1"/>
          <p:nvPr/>
        </p:nvSpPr>
        <p:spPr>
          <a:xfrm>
            <a:off x="2240280" y="1673352"/>
            <a:ext cx="640080" cy="365760"/>
          </a:xfrm>
          <a:prstGeom prst="rect">
            <a:avLst/>
          </a:prstGeom>
          <a:noFill/>
          <a:ln/>
        </p:spPr>
        <p:txBody>
          <a:bodyPr wrap="square" lIns="0" tIns="0" rIns="0" bIns="0" rtlCol="0" anchor="ctr"/>
          <a:lstStyle/>
          <a:p>
            <a:pPr algn="ctr" indent="0" marL="0">
              <a:buNone/>
            </a:pPr>
            <a:r>
              <a:rPr lang="en-US" sz="1400" b="1" dirty="0">
                <a:solidFill>
                  <a:schemeClr val="bg1"/>
                </a:solidFill>
              </a:rPr>
              <a:t>15%</a:t>
            </a:r>
            <a:endParaRPr lang="en-US" sz="1400" dirty="0"/>
          </a:p>
        </p:txBody>
      </p:sp>
      <p:sp>
        <p:nvSpPr>
          <p:cNvPr id="8" name="Text 5"/>
          <p:cNvSpPr txBox="1"/>
          <p:nvPr/>
        </p:nvSpPr>
        <p:spPr>
          <a:xfrm>
            <a:off x="777240" y="2240280"/>
            <a:ext cx="2103120" cy="566928"/>
          </a:xfrm>
          <a:prstGeom prst="rect">
            <a:avLst/>
          </a:prstGeom>
          <a:noFill/>
          <a:ln/>
        </p:spPr>
        <p:txBody>
          <a:bodyPr wrap="square" lIns="0" tIns="0" rIns="0" bIns="0" rtlCol="0" anchor="b"/>
          <a:lstStyle/>
          <a:p>
            <a:pPr indent="0" marL="0">
              <a:buNone/>
            </a:pPr>
            <a:r>
              <a:rPr lang="en-US" sz="1700" b="1" dirty="0">
                <a:solidFill>
                  <a:schemeClr val="tx1"/>
                </a:solidFill>
              </a:rPr>
              <a:t>Leadership &amp; AI Strategy</a:t>
            </a:r>
            <a:endParaRPr lang="en-US" sz="1700" dirty="0"/>
          </a:p>
        </p:txBody>
      </p:sp>
      <p:sp>
        <p:nvSpPr>
          <p:cNvPr id="9" name="Text 6"/>
          <p:cNvSpPr txBox="1"/>
          <p:nvPr/>
        </p:nvSpPr>
        <p:spPr>
          <a:xfrm>
            <a:off x="777240" y="2871216"/>
            <a:ext cx="2103120" cy="731520"/>
          </a:xfrm>
          <a:prstGeom prst="rect">
            <a:avLst/>
          </a:prstGeom>
          <a:noFill/>
          <a:ln/>
        </p:spPr>
        <p:txBody>
          <a:bodyPr wrap="square" lIns="0" tIns="0" rIns="0" bIns="0" rtlCol="0" anchor="t"/>
          <a:lstStyle/>
          <a:p>
            <a:pPr indent="0" marL="0">
              <a:buNone/>
            </a:pPr>
            <a:r>
              <a:rPr lang="en-US" sz="1400" dirty="0">
                <a:solidFill>
                  <a:schemeClr val="tx1"/>
                </a:solidFill>
              </a:rPr>
              <a:t>Does someone in charge own this, and know why they’re doing it?</a:t>
            </a:r>
            <a:endParaRPr lang="en-US" sz="1400" dirty="0"/>
          </a:p>
        </p:txBody>
      </p:sp>
      <p:sp>
        <p:nvSpPr>
          <p:cNvPr id="10" name="area-2"/>
          <p:cNvSpPr/>
          <p:nvPr/>
        </p:nvSpPr>
        <p:spPr>
          <a:xfrm>
            <a:off x="3393338" y="1371600"/>
            <a:ext cx="2560320" cy="2286000"/>
          </a:xfrm>
          <a:prstGeom prst="roundRect">
            <a:avLst>
              <a:gd name="adj" fmla="val 3200"/>
            </a:avLst>
          </a:prstGeom>
          <a:solidFill>
            <a:schemeClr val="bg2"/>
          </a:solidFill>
          <a:ln w="12700">
            <a:solidFill>
              <a:schemeClr val="bg2"/>
            </a:solidFill>
            <a:prstDash val="solid"/>
          </a:ln>
        </p:spPr>
      </p:sp>
      <p:sp>
        <p:nvSpPr>
          <p:cNvPr id="11" name="Shape 8"/>
          <p:cNvSpPr/>
          <p:nvPr/>
        </p:nvSpPr>
        <p:spPr>
          <a:xfrm>
            <a:off x="3621938" y="1600200"/>
            <a:ext cx="548640" cy="548640"/>
          </a:xfrm>
          <a:prstGeom prst="ellipse">
            <a:avLst/>
          </a:prstGeom>
          <a:solidFill>
            <a:schemeClr val="tx2"/>
          </a:solidFill>
          <a:ln w="12700">
            <a:solidFill>
              <a:schemeClr val="tx2"/>
            </a:solidFill>
            <a:prstDash val="solid"/>
          </a:ln>
        </p:spPr>
      </p:sp>
      <p:pic>
        <p:nvPicPr>
          <p:cNvPr id="12" name="Image 1" descr="Workflow icon">    </p:cNvPr>
          <p:cNvPicPr>
            <a:picLocks noChangeAspect="1"/>
          </p:cNvPicPr>
          <p:nvPr/>
        </p:nvPicPr>
        <p:blipFill>
          <a:blip r:embed="rId2"/>
          <a:stretch>
            <a:fillRect/>
          </a:stretch>
        </p:blipFill>
        <p:spPr>
          <a:xfrm>
            <a:off x="3753612" y="1731874"/>
            <a:ext cx="285293" cy="285293"/>
          </a:xfrm>
          <a:prstGeom prst="rect">
            <a:avLst/>
          </a:prstGeom>
        </p:spPr>
      </p:pic>
      <p:sp>
        <p:nvSpPr>
          <p:cNvPr id="13" name="Shape 9"/>
          <p:cNvSpPr/>
          <p:nvPr/>
        </p:nvSpPr>
        <p:spPr>
          <a:xfrm>
            <a:off x="5084978" y="1673352"/>
            <a:ext cx="640080" cy="365760"/>
          </a:xfrm>
          <a:prstGeom prst="roundRect">
            <a:avLst>
              <a:gd name="adj" fmla="val 15000"/>
            </a:avLst>
          </a:prstGeom>
          <a:solidFill>
            <a:schemeClr val="tx2"/>
          </a:solidFill>
          <a:ln w="12700">
            <a:solidFill>
              <a:schemeClr val="tx2"/>
            </a:solidFill>
            <a:prstDash val="solid"/>
          </a:ln>
        </p:spPr>
      </p:sp>
      <p:sp>
        <p:nvSpPr>
          <p:cNvPr id="14" name="Text 10"/>
          <p:cNvSpPr txBox="1"/>
          <p:nvPr/>
        </p:nvSpPr>
        <p:spPr>
          <a:xfrm>
            <a:off x="5084978" y="1673352"/>
            <a:ext cx="640080" cy="365760"/>
          </a:xfrm>
          <a:prstGeom prst="rect">
            <a:avLst/>
          </a:prstGeom>
          <a:noFill/>
          <a:ln/>
        </p:spPr>
        <p:txBody>
          <a:bodyPr wrap="square" lIns="0" tIns="0" rIns="0" bIns="0" rtlCol="0" anchor="ctr"/>
          <a:lstStyle/>
          <a:p>
            <a:pPr algn="ctr" indent="0" marL="0">
              <a:buNone/>
            </a:pPr>
            <a:r>
              <a:rPr lang="en-US" sz="1400" b="1" dirty="0">
                <a:solidFill>
                  <a:schemeClr val="bg1"/>
                </a:solidFill>
              </a:rPr>
              <a:t>15%</a:t>
            </a:r>
            <a:endParaRPr lang="en-US" sz="1400" dirty="0"/>
          </a:p>
        </p:txBody>
      </p:sp>
      <p:sp>
        <p:nvSpPr>
          <p:cNvPr id="15" name="Text 11"/>
          <p:cNvSpPr txBox="1"/>
          <p:nvPr/>
        </p:nvSpPr>
        <p:spPr>
          <a:xfrm>
            <a:off x="3621938" y="2240280"/>
            <a:ext cx="2103120" cy="566928"/>
          </a:xfrm>
          <a:prstGeom prst="rect">
            <a:avLst/>
          </a:prstGeom>
          <a:noFill/>
          <a:ln/>
        </p:spPr>
        <p:txBody>
          <a:bodyPr wrap="square" lIns="0" tIns="0" rIns="0" bIns="0" rtlCol="0" anchor="b"/>
          <a:lstStyle/>
          <a:p>
            <a:pPr indent="0" marL="0">
              <a:buNone/>
            </a:pPr>
            <a:r>
              <a:rPr lang="en-US" sz="1700" b="1" dirty="0">
                <a:solidFill>
                  <a:schemeClr val="tx1"/>
                </a:solidFill>
              </a:rPr>
              <a:t>Workflows</a:t>
            </a:r>
            <a:endParaRPr lang="en-US" sz="1700" dirty="0"/>
          </a:p>
        </p:txBody>
      </p:sp>
      <p:sp>
        <p:nvSpPr>
          <p:cNvPr id="16" name="Text 12"/>
          <p:cNvSpPr txBox="1"/>
          <p:nvPr/>
        </p:nvSpPr>
        <p:spPr>
          <a:xfrm>
            <a:off x="3621938" y="2871216"/>
            <a:ext cx="2103120" cy="731520"/>
          </a:xfrm>
          <a:prstGeom prst="rect">
            <a:avLst/>
          </a:prstGeom>
          <a:noFill/>
          <a:ln/>
        </p:spPr>
        <p:txBody>
          <a:bodyPr wrap="square" lIns="0" tIns="0" rIns="0" bIns="0" rtlCol="0" anchor="t"/>
          <a:lstStyle/>
          <a:p>
            <a:pPr indent="0" marL="0">
              <a:buNone/>
            </a:pPr>
            <a:r>
              <a:rPr lang="en-US" sz="1400" dirty="0">
                <a:solidFill>
                  <a:schemeClr val="tx1"/>
                </a:solidFill>
              </a:rPr>
              <a:t>Do they understand how the work actually gets done, step by step?</a:t>
            </a:r>
            <a:endParaRPr lang="en-US" sz="1400" dirty="0"/>
          </a:p>
        </p:txBody>
      </p:sp>
      <p:sp>
        <p:nvSpPr>
          <p:cNvPr id="17" name="area-3"/>
          <p:cNvSpPr/>
          <p:nvPr/>
        </p:nvSpPr>
        <p:spPr>
          <a:xfrm>
            <a:off x="6238037" y="1371600"/>
            <a:ext cx="2560320" cy="2286000"/>
          </a:xfrm>
          <a:prstGeom prst="roundRect">
            <a:avLst>
              <a:gd name="adj" fmla="val 3200"/>
            </a:avLst>
          </a:prstGeom>
          <a:solidFill>
            <a:schemeClr val="bg2"/>
          </a:solidFill>
          <a:ln w="12700">
            <a:solidFill>
              <a:schemeClr val="bg2"/>
            </a:solidFill>
            <a:prstDash val="solid"/>
          </a:ln>
        </p:spPr>
      </p:sp>
      <p:sp>
        <p:nvSpPr>
          <p:cNvPr id="18" name="Shape 14"/>
          <p:cNvSpPr/>
          <p:nvPr/>
        </p:nvSpPr>
        <p:spPr>
          <a:xfrm>
            <a:off x="6466637" y="1600200"/>
            <a:ext cx="548640" cy="548640"/>
          </a:xfrm>
          <a:prstGeom prst="ellipse">
            <a:avLst/>
          </a:prstGeom>
          <a:solidFill>
            <a:schemeClr val="tx2"/>
          </a:solidFill>
          <a:ln w="12700">
            <a:solidFill>
              <a:schemeClr val="tx2"/>
            </a:solidFill>
            <a:prstDash val="solid"/>
          </a:ln>
        </p:spPr>
      </p:sp>
      <p:pic>
        <p:nvPicPr>
          <p:cNvPr id="19" name="Image 2" descr="Database icon">    </p:cNvPr>
          <p:cNvPicPr>
            <a:picLocks noChangeAspect="1"/>
          </p:cNvPicPr>
          <p:nvPr/>
        </p:nvPicPr>
        <p:blipFill>
          <a:blip r:embed="rId3"/>
          <a:stretch>
            <a:fillRect/>
          </a:stretch>
        </p:blipFill>
        <p:spPr>
          <a:xfrm>
            <a:off x="6598310" y="1731874"/>
            <a:ext cx="285293" cy="285293"/>
          </a:xfrm>
          <a:prstGeom prst="rect">
            <a:avLst/>
          </a:prstGeom>
        </p:spPr>
      </p:pic>
      <p:sp>
        <p:nvSpPr>
          <p:cNvPr id="20" name="Shape 15"/>
          <p:cNvSpPr/>
          <p:nvPr/>
        </p:nvSpPr>
        <p:spPr>
          <a:xfrm>
            <a:off x="7929677" y="1673352"/>
            <a:ext cx="640080" cy="365760"/>
          </a:xfrm>
          <a:prstGeom prst="roundRect">
            <a:avLst>
              <a:gd name="adj" fmla="val 15000"/>
            </a:avLst>
          </a:prstGeom>
          <a:solidFill>
            <a:schemeClr val="tx2"/>
          </a:solidFill>
          <a:ln w="12700">
            <a:solidFill>
              <a:schemeClr val="tx2"/>
            </a:solidFill>
            <a:prstDash val="solid"/>
          </a:ln>
        </p:spPr>
      </p:sp>
      <p:sp>
        <p:nvSpPr>
          <p:cNvPr id="21" name="Text 16"/>
          <p:cNvSpPr txBox="1"/>
          <p:nvPr/>
        </p:nvSpPr>
        <p:spPr>
          <a:xfrm>
            <a:off x="7929677" y="1673352"/>
            <a:ext cx="640080" cy="365760"/>
          </a:xfrm>
          <a:prstGeom prst="rect">
            <a:avLst/>
          </a:prstGeom>
          <a:noFill/>
          <a:ln/>
        </p:spPr>
        <p:txBody>
          <a:bodyPr wrap="square" lIns="0" tIns="0" rIns="0" bIns="0" rtlCol="0" anchor="ctr"/>
          <a:lstStyle/>
          <a:p>
            <a:pPr algn="ctr" indent="0" marL="0">
              <a:buNone/>
            </a:pPr>
            <a:r>
              <a:rPr lang="en-US" sz="1400" b="1" dirty="0">
                <a:solidFill>
                  <a:schemeClr val="bg1"/>
                </a:solidFill>
              </a:rPr>
              <a:t>15%</a:t>
            </a:r>
            <a:endParaRPr lang="en-US" sz="1400" dirty="0"/>
          </a:p>
        </p:txBody>
      </p:sp>
      <p:sp>
        <p:nvSpPr>
          <p:cNvPr id="22" name="Text 17"/>
          <p:cNvSpPr txBox="1"/>
          <p:nvPr/>
        </p:nvSpPr>
        <p:spPr>
          <a:xfrm>
            <a:off x="6466637" y="2240280"/>
            <a:ext cx="2103120" cy="566928"/>
          </a:xfrm>
          <a:prstGeom prst="rect">
            <a:avLst/>
          </a:prstGeom>
          <a:noFill/>
          <a:ln/>
        </p:spPr>
        <p:txBody>
          <a:bodyPr wrap="square" lIns="0" tIns="0" rIns="0" bIns="0" rtlCol="0" anchor="b"/>
          <a:lstStyle/>
          <a:p>
            <a:pPr indent="0" marL="0">
              <a:buNone/>
            </a:pPr>
            <a:r>
              <a:rPr lang="en-US" sz="1700" b="1" dirty="0">
                <a:solidFill>
                  <a:schemeClr val="tx1"/>
                </a:solidFill>
              </a:rPr>
              <a:t>Data</a:t>
            </a:r>
            <a:endParaRPr lang="en-US" sz="1700" dirty="0"/>
          </a:p>
        </p:txBody>
      </p:sp>
      <p:sp>
        <p:nvSpPr>
          <p:cNvPr id="23" name="Text 18"/>
          <p:cNvSpPr txBox="1"/>
          <p:nvPr/>
        </p:nvSpPr>
        <p:spPr>
          <a:xfrm>
            <a:off x="6466637" y="2871216"/>
            <a:ext cx="2103120" cy="731520"/>
          </a:xfrm>
          <a:prstGeom prst="rect">
            <a:avLst/>
          </a:prstGeom>
          <a:noFill/>
          <a:ln/>
        </p:spPr>
        <p:txBody>
          <a:bodyPr wrap="square" lIns="0" tIns="0" rIns="0" bIns="0" rtlCol="0" anchor="t"/>
          <a:lstStyle/>
          <a:p>
            <a:pPr indent="0" marL="0">
              <a:buNone/>
            </a:pPr>
            <a:r>
              <a:rPr lang="en-US" sz="1400" dirty="0">
                <a:solidFill>
                  <a:schemeClr val="tx1"/>
                </a:solidFill>
              </a:rPr>
              <a:t>Is the information organized, complete, and reachable?</a:t>
            </a:r>
            <a:endParaRPr lang="en-US" sz="1400" dirty="0"/>
          </a:p>
        </p:txBody>
      </p:sp>
      <p:sp>
        <p:nvSpPr>
          <p:cNvPr id="24" name="area-4"/>
          <p:cNvSpPr/>
          <p:nvPr/>
        </p:nvSpPr>
        <p:spPr>
          <a:xfrm>
            <a:off x="9082735" y="1371600"/>
            <a:ext cx="2560320" cy="2286000"/>
          </a:xfrm>
          <a:prstGeom prst="roundRect">
            <a:avLst>
              <a:gd name="adj" fmla="val 3200"/>
            </a:avLst>
          </a:prstGeom>
          <a:solidFill>
            <a:schemeClr val="bg2"/>
          </a:solidFill>
          <a:ln w="12700">
            <a:solidFill>
              <a:schemeClr val="bg2"/>
            </a:solidFill>
            <a:prstDash val="solid"/>
          </a:ln>
        </p:spPr>
      </p:sp>
      <p:sp>
        <p:nvSpPr>
          <p:cNvPr id="25" name="Shape 20"/>
          <p:cNvSpPr/>
          <p:nvPr/>
        </p:nvSpPr>
        <p:spPr>
          <a:xfrm>
            <a:off x="9311335" y="1600200"/>
            <a:ext cx="548640" cy="548640"/>
          </a:xfrm>
          <a:prstGeom prst="ellipse">
            <a:avLst/>
          </a:prstGeom>
          <a:solidFill>
            <a:schemeClr val="tx2"/>
          </a:solidFill>
          <a:ln w="12700">
            <a:solidFill>
              <a:schemeClr val="tx2"/>
            </a:solidFill>
            <a:prstDash val="solid"/>
          </a:ln>
        </p:spPr>
      </p:sp>
      <p:pic>
        <p:nvPicPr>
          <p:cNvPr id="26" name="Image 3" descr="Users icon">    </p:cNvPr>
          <p:cNvPicPr>
            <a:picLocks noChangeAspect="1"/>
          </p:cNvPicPr>
          <p:nvPr/>
        </p:nvPicPr>
        <p:blipFill>
          <a:blip r:embed="rId4"/>
          <a:stretch>
            <a:fillRect/>
          </a:stretch>
        </p:blipFill>
        <p:spPr>
          <a:xfrm>
            <a:off x="9443009" y="1731874"/>
            <a:ext cx="285293" cy="285293"/>
          </a:xfrm>
          <a:prstGeom prst="rect">
            <a:avLst/>
          </a:prstGeom>
        </p:spPr>
      </p:pic>
      <p:sp>
        <p:nvSpPr>
          <p:cNvPr id="27" name="Shape 21"/>
          <p:cNvSpPr/>
          <p:nvPr/>
        </p:nvSpPr>
        <p:spPr>
          <a:xfrm>
            <a:off x="10774375" y="1673352"/>
            <a:ext cx="640080" cy="365760"/>
          </a:xfrm>
          <a:prstGeom prst="roundRect">
            <a:avLst>
              <a:gd name="adj" fmla="val 15000"/>
            </a:avLst>
          </a:prstGeom>
          <a:solidFill>
            <a:schemeClr val="bg1"/>
          </a:solidFill>
          <a:ln w="12700">
            <a:solidFill>
              <a:schemeClr val="tx2"/>
            </a:solidFill>
            <a:prstDash val="solid"/>
          </a:ln>
        </p:spPr>
      </p:sp>
      <p:sp>
        <p:nvSpPr>
          <p:cNvPr id="28" name="Text 22"/>
          <p:cNvSpPr txBox="1"/>
          <p:nvPr/>
        </p:nvSpPr>
        <p:spPr>
          <a:xfrm>
            <a:off x="10774375" y="1673352"/>
            <a:ext cx="640080" cy="365760"/>
          </a:xfrm>
          <a:prstGeom prst="rect">
            <a:avLst/>
          </a:prstGeom>
          <a:noFill/>
          <a:ln/>
        </p:spPr>
        <p:txBody>
          <a:bodyPr wrap="square" lIns="0" tIns="0" rIns="0" bIns="0" rtlCol="0" anchor="ctr"/>
          <a:lstStyle/>
          <a:p>
            <a:pPr algn="ctr" indent="0" marL="0">
              <a:buNone/>
            </a:pPr>
            <a:r>
              <a:rPr lang="en-US" sz="1400" b="1" dirty="0">
                <a:solidFill>
                  <a:schemeClr val="tx2"/>
                </a:solidFill>
              </a:rPr>
              <a:t>10%</a:t>
            </a:r>
            <a:endParaRPr lang="en-US" sz="1400" dirty="0"/>
          </a:p>
        </p:txBody>
      </p:sp>
      <p:sp>
        <p:nvSpPr>
          <p:cNvPr id="29" name="Text 23"/>
          <p:cNvSpPr txBox="1"/>
          <p:nvPr/>
        </p:nvSpPr>
        <p:spPr>
          <a:xfrm>
            <a:off x="9311335" y="2240280"/>
            <a:ext cx="2103120" cy="566928"/>
          </a:xfrm>
          <a:prstGeom prst="rect">
            <a:avLst/>
          </a:prstGeom>
          <a:noFill/>
          <a:ln/>
        </p:spPr>
        <p:txBody>
          <a:bodyPr wrap="square" lIns="0" tIns="0" rIns="0" bIns="0" rtlCol="0" anchor="b"/>
          <a:lstStyle/>
          <a:p>
            <a:pPr indent="0" marL="0">
              <a:buNone/>
            </a:pPr>
            <a:r>
              <a:rPr lang="en-US" sz="1700" b="1" dirty="0">
                <a:solidFill>
                  <a:schemeClr val="tx1"/>
                </a:solidFill>
              </a:rPr>
              <a:t>People &amp; Trust</a:t>
            </a:r>
            <a:endParaRPr lang="en-US" sz="1700" dirty="0"/>
          </a:p>
        </p:txBody>
      </p:sp>
      <p:sp>
        <p:nvSpPr>
          <p:cNvPr id="30" name="Text 24"/>
          <p:cNvSpPr txBox="1"/>
          <p:nvPr/>
        </p:nvSpPr>
        <p:spPr>
          <a:xfrm>
            <a:off x="9311335" y="2871216"/>
            <a:ext cx="2103120" cy="731520"/>
          </a:xfrm>
          <a:prstGeom prst="rect">
            <a:avLst/>
          </a:prstGeom>
          <a:noFill/>
          <a:ln/>
        </p:spPr>
        <p:txBody>
          <a:bodyPr wrap="square" lIns="0" tIns="0" rIns="0" bIns="0" rtlCol="0" anchor="t"/>
          <a:lstStyle/>
          <a:p>
            <a:pPr indent="0" marL="0">
              <a:buNone/>
            </a:pPr>
            <a:r>
              <a:rPr lang="en-US" sz="1400" dirty="0">
                <a:solidFill>
                  <a:schemeClr val="tx1"/>
                </a:solidFill>
              </a:rPr>
              <a:t>Will the people doing the work use it, and trust it?</a:t>
            </a:r>
            <a:endParaRPr lang="en-US" sz="1400" dirty="0"/>
          </a:p>
        </p:txBody>
      </p:sp>
      <p:sp>
        <p:nvSpPr>
          <p:cNvPr id="31" name="area-5"/>
          <p:cNvSpPr/>
          <p:nvPr/>
        </p:nvSpPr>
        <p:spPr>
          <a:xfrm>
            <a:off x="548640" y="3886200"/>
            <a:ext cx="2560320" cy="2286000"/>
          </a:xfrm>
          <a:prstGeom prst="roundRect">
            <a:avLst>
              <a:gd name="adj" fmla="val 3200"/>
            </a:avLst>
          </a:prstGeom>
          <a:solidFill>
            <a:schemeClr val="bg2"/>
          </a:solidFill>
          <a:ln w="12700">
            <a:solidFill>
              <a:schemeClr val="bg2"/>
            </a:solidFill>
            <a:prstDash val="solid"/>
          </a:ln>
        </p:spPr>
      </p:sp>
      <p:sp>
        <p:nvSpPr>
          <p:cNvPr id="32" name="Shape 26"/>
          <p:cNvSpPr/>
          <p:nvPr/>
        </p:nvSpPr>
        <p:spPr>
          <a:xfrm>
            <a:off x="777240" y="4114800"/>
            <a:ext cx="548640" cy="548640"/>
          </a:xfrm>
          <a:prstGeom prst="ellipse">
            <a:avLst/>
          </a:prstGeom>
          <a:solidFill>
            <a:schemeClr val="tx2"/>
          </a:solidFill>
          <a:ln w="12700">
            <a:solidFill>
              <a:schemeClr val="tx2"/>
            </a:solidFill>
            <a:prstDash val="solid"/>
          </a:ln>
        </p:spPr>
      </p:sp>
      <p:pic>
        <p:nvPicPr>
          <p:cNvPr id="33" name="Image 4" descr="Wrench icon">    </p:cNvPr>
          <p:cNvPicPr>
            <a:picLocks noChangeAspect="1"/>
          </p:cNvPicPr>
          <p:nvPr/>
        </p:nvPicPr>
        <p:blipFill>
          <a:blip r:embed="rId5"/>
          <a:stretch>
            <a:fillRect/>
          </a:stretch>
        </p:blipFill>
        <p:spPr>
          <a:xfrm>
            <a:off x="908914" y="4246474"/>
            <a:ext cx="285293" cy="285293"/>
          </a:xfrm>
          <a:prstGeom prst="rect">
            <a:avLst/>
          </a:prstGeom>
        </p:spPr>
      </p:pic>
      <p:sp>
        <p:nvSpPr>
          <p:cNvPr id="34" name="Shape 27"/>
          <p:cNvSpPr/>
          <p:nvPr/>
        </p:nvSpPr>
        <p:spPr>
          <a:xfrm>
            <a:off x="2240280" y="4187952"/>
            <a:ext cx="640080" cy="365760"/>
          </a:xfrm>
          <a:prstGeom prst="roundRect">
            <a:avLst>
              <a:gd name="adj" fmla="val 15000"/>
            </a:avLst>
          </a:prstGeom>
          <a:solidFill>
            <a:schemeClr val="tx2"/>
          </a:solidFill>
          <a:ln w="12700">
            <a:solidFill>
              <a:schemeClr val="tx2"/>
            </a:solidFill>
            <a:prstDash val="solid"/>
          </a:ln>
        </p:spPr>
      </p:sp>
      <p:sp>
        <p:nvSpPr>
          <p:cNvPr id="35" name="Text 28"/>
          <p:cNvSpPr txBox="1"/>
          <p:nvPr/>
        </p:nvSpPr>
        <p:spPr>
          <a:xfrm>
            <a:off x="2240280" y="4187952"/>
            <a:ext cx="640080" cy="365760"/>
          </a:xfrm>
          <a:prstGeom prst="rect">
            <a:avLst/>
          </a:prstGeom>
          <a:noFill/>
          <a:ln/>
        </p:spPr>
        <p:txBody>
          <a:bodyPr wrap="square" lIns="0" tIns="0" rIns="0" bIns="0" rtlCol="0" anchor="ctr"/>
          <a:lstStyle/>
          <a:p>
            <a:pPr algn="ctr" indent="0" marL="0">
              <a:buNone/>
            </a:pPr>
            <a:r>
              <a:rPr lang="en-US" sz="1400" b="1" dirty="0">
                <a:solidFill>
                  <a:schemeClr val="bg1"/>
                </a:solidFill>
              </a:rPr>
              <a:t>15%</a:t>
            </a:r>
            <a:endParaRPr lang="en-US" sz="1400" dirty="0"/>
          </a:p>
        </p:txBody>
      </p:sp>
      <p:sp>
        <p:nvSpPr>
          <p:cNvPr id="36" name="Text 29"/>
          <p:cNvSpPr txBox="1"/>
          <p:nvPr/>
        </p:nvSpPr>
        <p:spPr>
          <a:xfrm>
            <a:off x="777240" y="4754880"/>
            <a:ext cx="2103120" cy="566928"/>
          </a:xfrm>
          <a:prstGeom prst="rect">
            <a:avLst/>
          </a:prstGeom>
          <a:noFill/>
          <a:ln/>
        </p:spPr>
        <p:txBody>
          <a:bodyPr wrap="square" lIns="0" tIns="0" rIns="0" bIns="0" rtlCol="0" anchor="b"/>
          <a:lstStyle/>
          <a:p>
            <a:pPr indent="0" marL="0">
              <a:buNone/>
            </a:pPr>
            <a:r>
              <a:rPr lang="en-US" sz="1700" b="1" dirty="0">
                <a:solidFill>
                  <a:schemeClr val="tx1"/>
                </a:solidFill>
              </a:rPr>
              <a:t>Technical Ability</a:t>
            </a:r>
            <a:endParaRPr lang="en-US" sz="1700" dirty="0"/>
          </a:p>
        </p:txBody>
      </p:sp>
      <p:sp>
        <p:nvSpPr>
          <p:cNvPr id="37" name="Text 30"/>
          <p:cNvSpPr txBox="1"/>
          <p:nvPr/>
        </p:nvSpPr>
        <p:spPr>
          <a:xfrm>
            <a:off x="777240" y="5385816"/>
            <a:ext cx="2103120" cy="731520"/>
          </a:xfrm>
          <a:prstGeom prst="rect">
            <a:avLst/>
          </a:prstGeom>
          <a:noFill/>
          <a:ln/>
        </p:spPr>
        <p:txBody>
          <a:bodyPr wrap="square" lIns="0" tIns="0" rIns="0" bIns="0" rtlCol="0" anchor="t"/>
          <a:lstStyle/>
          <a:p>
            <a:pPr indent="0" marL="0">
              <a:buNone/>
            </a:pPr>
            <a:r>
              <a:rPr lang="en-US" sz="1400" dirty="0">
                <a:solidFill>
                  <a:schemeClr val="tx1"/>
                </a:solidFill>
              </a:rPr>
              <a:t>Do they have the people and technology to build and run it?</a:t>
            </a:r>
            <a:endParaRPr lang="en-US" sz="1400" dirty="0"/>
          </a:p>
        </p:txBody>
      </p:sp>
      <p:sp>
        <p:nvSpPr>
          <p:cNvPr id="38" name="area-6"/>
          <p:cNvSpPr/>
          <p:nvPr/>
        </p:nvSpPr>
        <p:spPr>
          <a:xfrm>
            <a:off x="3393338" y="3886200"/>
            <a:ext cx="2560320" cy="2286000"/>
          </a:xfrm>
          <a:prstGeom prst="roundRect">
            <a:avLst>
              <a:gd name="adj" fmla="val 3200"/>
            </a:avLst>
          </a:prstGeom>
          <a:solidFill>
            <a:schemeClr val="bg2"/>
          </a:solidFill>
          <a:ln w="12700">
            <a:solidFill>
              <a:schemeClr val="bg2"/>
            </a:solidFill>
            <a:prstDash val="solid"/>
          </a:ln>
        </p:spPr>
      </p:sp>
      <p:sp>
        <p:nvSpPr>
          <p:cNvPr id="39" name="Shape 32"/>
          <p:cNvSpPr/>
          <p:nvPr/>
        </p:nvSpPr>
        <p:spPr>
          <a:xfrm>
            <a:off x="3621938" y="4114800"/>
            <a:ext cx="548640" cy="548640"/>
          </a:xfrm>
          <a:prstGeom prst="ellipse">
            <a:avLst/>
          </a:prstGeom>
          <a:solidFill>
            <a:schemeClr val="tx2"/>
          </a:solidFill>
          <a:ln w="12700">
            <a:solidFill>
              <a:schemeClr val="tx2"/>
            </a:solidFill>
            <a:prstDash val="solid"/>
          </a:ln>
        </p:spPr>
      </p:sp>
      <p:pic>
        <p:nvPicPr>
          <p:cNvPr id="40" name="Image 5" descr="ShieldCheck icon">    </p:cNvPr>
          <p:cNvPicPr>
            <a:picLocks noChangeAspect="1"/>
          </p:cNvPicPr>
          <p:nvPr/>
        </p:nvPicPr>
        <p:blipFill>
          <a:blip r:embed="rId6"/>
          <a:stretch>
            <a:fillRect/>
          </a:stretch>
        </p:blipFill>
        <p:spPr>
          <a:xfrm>
            <a:off x="3753612" y="4246474"/>
            <a:ext cx="285293" cy="285293"/>
          </a:xfrm>
          <a:prstGeom prst="rect">
            <a:avLst/>
          </a:prstGeom>
        </p:spPr>
      </p:pic>
      <p:sp>
        <p:nvSpPr>
          <p:cNvPr id="41" name="Shape 33"/>
          <p:cNvSpPr/>
          <p:nvPr/>
        </p:nvSpPr>
        <p:spPr>
          <a:xfrm>
            <a:off x="5084978" y="4187952"/>
            <a:ext cx="640080" cy="365760"/>
          </a:xfrm>
          <a:prstGeom prst="roundRect">
            <a:avLst>
              <a:gd name="adj" fmla="val 15000"/>
            </a:avLst>
          </a:prstGeom>
          <a:solidFill>
            <a:schemeClr val="bg1"/>
          </a:solidFill>
          <a:ln w="12700">
            <a:solidFill>
              <a:schemeClr val="tx2"/>
            </a:solidFill>
            <a:prstDash val="solid"/>
          </a:ln>
        </p:spPr>
      </p:sp>
      <p:sp>
        <p:nvSpPr>
          <p:cNvPr id="42" name="Text 34"/>
          <p:cNvSpPr txBox="1"/>
          <p:nvPr/>
        </p:nvSpPr>
        <p:spPr>
          <a:xfrm>
            <a:off x="5084978" y="4187952"/>
            <a:ext cx="640080" cy="365760"/>
          </a:xfrm>
          <a:prstGeom prst="rect">
            <a:avLst/>
          </a:prstGeom>
          <a:noFill/>
          <a:ln/>
        </p:spPr>
        <p:txBody>
          <a:bodyPr wrap="square" lIns="0" tIns="0" rIns="0" bIns="0" rtlCol="0" anchor="ctr"/>
          <a:lstStyle/>
          <a:p>
            <a:pPr algn="ctr" indent="0" marL="0">
              <a:buNone/>
            </a:pPr>
            <a:r>
              <a:rPr lang="en-US" sz="1400" b="1" dirty="0">
                <a:solidFill>
                  <a:schemeClr val="tx2"/>
                </a:solidFill>
              </a:rPr>
              <a:t>10%</a:t>
            </a:r>
            <a:endParaRPr lang="en-US" sz="1400" dirty="0"/>
          </a:p>
        </p:txBody>
      </p:sp>
      <p:sp>
        <p:nvSpPr>
          <p:cNvPr id="43" name="Text 35"/>
          <p:cNvSpPr txBox="1"/>
          <p:nvPr/>
        </p:nvSpPr>
        <p:spPr>
          <a:xfrm>
            <a:off x="3621938" y="4754880"/>
            <a:ext cx="2103120" cy="566928"/>
          </a:xfrm>
          <a:prstGeom prst="rect">
            <a:avLst/>
          </a:prstGeom>
          <a:noFill/>
          <a:ln/>
        </p:spPr>
        <p:txBody>
          <a:bodyPr wrap="square" lIns="0" tIns="0" rIns="0" bIns="0" rtlCol="0" anchor="b"/>
          <a:lstStyle/>
          <a:p>
            <a:pPr indent="0" marL="0">
              <a:buNone/>
            </a:pPr>
            <a:r>
              <a:rPr lang="en-US" sz="1700" b="1" dirty="0">
                <a:solidFill>
                  <a:schemeClr val="tx1"/>
                </a:solidFill>
              </a:rPr>
              <a:t>Oversight</a:t>
            </a:r>
            <a:endParaRPr lang="en-US" sz="1700" dirty="0"/>
          </a:p>
        </p:txBody>
      </p:sp>
      <p:sp>
        <p:nvSpPr>
          <p:cNvPr id="44" name="Text 36"/>
          <p:cNvSpPr txBox="1"/>
          <p:nvPr/>
        </p:nvSpPr>
        <p:spPr>
          <a:xfrm>
            <a:off x="3621938" y="5385816"/>
            <a:ext cx="2103120" cy="731520"/>
          </a:xfrm>
          <a:prstGeom prst="rect">
            <a:avLst/>
          </a:prstGeom>
          <a:noFill/>
          <a:ln/>
        </p:spPr>
        <p:txBody>
          <a:bodyPr wrap="square" lIns="0" tIns="0" rIns="0" bIns="0" rtlCol="0" anchor="t"/>
          <a:lstStyle/>
          <a:p>
            <a:pPr indent="0" marL="0">
              <a:buNone/>
            </a:pPr>
            <a:r>
              <a:rPr lang="en-US" sz="1400" dirty="0">
                <a:solidFill>
                  <a:schemeClr val="tx1"/>
                </a:solidFill>
              </a:rPr>
              <a:t>Who checks the AI’s work, and what happens when it’s wrong?</a:t>
            </a:r>
            <a:endParaRPr lang="en-US" sz="1400" dirty="0"/>
          </a:p>
        </p:txBody>
      </p:sp>
      <p:sp>
        <p:nvSpPr>
          <p:cNvPr id="45" name="area-7"/>
          <p:cNvSpPr/>
          <p:nvPr/>
        </p:nvSpPr>
        <p:spPr>
          <a:xfrm>
            <a:off x="6238037" y="3886200"/>
            <a:ext cx="2560320" cy="2286000"/>
          </a:xfrm>
          <a:prstGeom prst="roundRect">
            <a:avLst>
              <a:gd name="adj" fmla="val 3200"/>
            </a:avLst>
          </a:prstGeom>
          <a:solidFill>
            <a:schemeClr val="bg2"/>
          </a:solidFill>
          <a:ln w="12700">
            <a:solidFill>
              <a:schemeClr val="bg2"/>
            </a:solidFill>
            <a:prstDash val="solid"/>
          </a:ln>
        </p:spPr>
      </p:sp>
      <p:sp>
        <p:nvSpPr>
          <p:cNvPr id="46" name="Shape 38"/>
          <p:cNvSpPr/>
          <p:nvPr/>
        </p:nvSpPr>
        <p:spPr>
          <a:xfrm>
            <a:off x="6466637" y="4114800"/>
            <a:ext cx="548640" cy="548640"/>
          </a:xfrm>
          <a:prstGeom prst="ellipse">
            <a:avLst/>
          </a:prstGeom>
          <a:solidFill>
            <a:schemeClr val="tx2"/>
          </a:solidFill>
          <a:ln w="12700">
            <a:solidFill>
              <a:schemeClr val="tx2"/>
            </a:solidFill>
            <a:prstDash val="solid"/>
          </a:ln>
        </p:spPr>
      </p:sp>
      <p:pic>
        <p:nvPicPr>
          <p:cNvPr id="47" name="Image 6" descr="Gauge icon">    </p:cNvPr>
          <p:cNvPicPr>
            <a:picLocks noChangeAspect="1"/>
          </p:cNvPicPr>
          <p:nvPr/>
        </p:nvPicPr>
        <p:blipFill>
          <a:blip r:embed="rId7"/>
          <a:stretch>
            <a:fillRect/>
          </a:stretch>
        </p:blipFill>
        <p:spPr>
          <a:xfrm>
            <a:off x="6598310" y="4246474"/>
            <a:ext cx="285293" cy="285293"/>
          </a:xfrm>
          <a:prstGeom prst="rect">
            <a:avLst/>
          </a:prstGeom>
        </p:spPr>
      </p:pic>
      <p:sp>
        <p:nvSpPr>
          <p:cNvPr id="48" name="Shape 39"/>
          <p:cNvSpPr/>
          <p:nvPr/>
        </p:nvSpPr>
        <p:spPr>
          <a:xfrm>
            <a:off x="7929677" y="4187952"/>
            <a:ext cx="640080" cy="365760"/>
          </a:xfrm>
          <a:prstGeom prst="roundRect">
            <a:avLst>
              <a:gd name="adj" fmla="val 15000"/>
            </a:avLst>
          </a:prstGeom>
          <a:solidFill>
            <a:schemeClr val="bg1"/>
          </a:solidFill>
          <a:ln w="12700">
            <a:solidFill>
              <a:schemeClr val="tx2"/>
            </a:solidFill>
            <a:prstDash val="solid"/>
          </a:ln>
        </p:spPr>
      </p:sp>
      <p:sp>
        <p:nvSpPr>
          <p:cNvPr id="49" name="Text 40"/>
          <p:cNvSpPr txBox="1"/>
          <p:nvPr/>
        </p:nvSpPr>
        <p:spPr>
          <a:xfrm>
            <a:off x="7929677" y="4187952"/>
            <a:ext cx="640080" cy="365760"/>
          </a:xfrm>
          <a:prstGeom prst="rect">
            <a:avLst/>
          </a:prstGeom>
          <a:noFill/>
          <a:ln/>
        </p:spPr>
        <p:txBody>
          <a:bodyPr wrap="square" lIns="0" tIns="0" rIns="0" bIns="0" rtlCol="0" anchor="ctr"/>
          <a:lstStyle/>
          <a:p>
            <a:pPr algn="ctr" indent="0" marL="0">
              <a:buNone/>
            </a:pPr>
            <a:r>
              <a:rPr lang="en-US" sz="1400" b="1" dirty="0">
                <a:solidFill>
                  <a:schemeClr val="tx2"/>
                </a:solidFill>
              </a:rPr>
              <a:t>10%</a:t>
            </a:r>
            <a:endParaRPr lang="en-US" sz="1400" dirty="0"/>
          </a:p>
        </p:txBody>
      </p:sp>
      <p:sp>
        <p:nvSpPr>
          <p:cNvPr id="50" name="Text 41"/>
          <p:cNvSpPr txBox="1"/>
          <p:nvPr/>
        </p:nvSpPr>
        <p:spPr>
          <a:xfrm>
            <a:off x="6466637" y="4754880"/>
            <a:ext cx="2103120" cy="566928"/>
          </a:xfrm>
          <a:prstGeom prst="rect">
            <a:avLst/>
          </a:prstGeom>
          <a:noFill/>
          <a:ln/>
        </p:spPr>
        <p:txBody>
          <a:bodyPr wrap="square" lIns="0" tIns="0" rIns="0" bIns="0" rtlCol="0" anchor="b"/>
          <a:lstStyle/>
          <a:p>
            <a:pPr indent="0" marL="0">
              <a:buNone/>
            </a:pPr>
            <a:r>
              <a:rPr lang="en-US" sz="1700" b="1" dirty="0">
                <a:solidFill>
                  <a:schemeClr val="tx1"/>
                </a:solidFill>
              </a:rPr>
              <a:t>Measurement</a:t>
            </a:r>
            <a:endParaRPr lang="en-US" sz="1700" dirty="0"/>
          </a:p>
        </p:txBody>
      </p:sp>
      <p:sp>
        <p:nvSpPr>
          <p:cNvPr id="51" name="Text 42"/>
          <p:cNvSpPr txBox="1"/>
          <p:nvPr/>
        </p:nvSpPr>
        <p:spPr>
          <a:xfrm>
            <a:off x="6466637" y="5385816"/>
            <a:ext cx="2103120" cy="731520"/>
          </a:xfrm>
          <a:prstGeom prst="rect">
            <a:avLst/>
          </a:prstGeom>
          <a:noFill/>
          <a:ln/>
        </p:spPr>
        <p:txBody>
          <a:bodyPr wrap="square" lIns="0" tIns="0" rIns="0" bIns="0" rtlCol="0" anchor="t"/>
          <a:lstStyle/>
          <a:p>
            <a:pPr indent="0" marL="0">
              <a:buNone/>
            </a:pPr>
            <a:r>
              <a:rPr lang="en-US" sz="1400" dirty="0">
                <a:solidFill>
                  <a:schemeClr val="tx1"/>
                </a:solidFill>
              </a:rPr>
              <a:t>Can they prove it’s working and worth the money?</a:t>
            </a:r>
            <a:endParaRPr lang="en-US" sz="1400" dirty="0"/>
          </a:p>
        </p:txBody>
      </p:sp>
      <p:sp>
        <p:nvSpPr>
          <p:cNvPr id="52" name="area-8"/>
          <p:cNvSpPr/>
          <p:nvPr/>
        </p:nvSpPr>
        <p:spPr>
          <a:xfrm>
            <a:off x="9082735" y="3886200"/>
            <a:ext cx="2560320" cy="2286000"/>
          </a:xfrm>
          <a:prstGeom prst="roundRect">
            <a:avLst>
              <a:gd name="adj" fmla="val 3200"/>
            </a:avLst>
          </a:prstGeom>
          <a:solidFill>
            <a:schemeClr val="bg2"/>
          </a:solidFill>
          <a:ln w="12700">
            <a:solidFill>
              <a:schemeClr val="bg2"/>
            </a:solidFill>
            <a:prstDash val="solid"/>
          </a:ln>
        </p:spPr>
      </p:sp>
      <p:sp>
        <p:nvSpPr>
          <p:cNvPr id="53" name="Shape 44"/>
          <p:cNvSpPr/>
          <p:nvPr/>
        </p:nvSpPr>
        <p:spPr>
          <a:xfrm>
            <a:off x="9311335" y="4114800"/>
            <a:ext cx="548640" cy="548640"/>
          </a:xfrm>
          <a:prstGeom prst="ellipse">
            <a:avLst/>
          </a:prstGeom>
          <a:solidFill>
            <a:schemeClr val="tx2"/>
          </a:solidFill>
          <a:ln w="12700">
            <a:solidFill>
              <a:schemeClr val="tx2"/>
            </a:solidFill>
            <a:prstDash val="solid"/>
          </a:ln>
        </p:spPr>
      </p:sp>
      <p:pic>
        <p:nvPicPr>
          <p:cNvPr id="54" name="Image 7" descr="Zap icon">    </p:cNvPr>
          <p:cNvPicPr>
            <a:picLocks noChangeAspect="1"/>
          </p:cNvPicPr>
          <p:nvPr/>
        </p:nvPicPr>
        <p:blipFill>
          <a:blip r:embed="rId8"/>
          <a:stretch>
            <a:fillRect/>
          </a:stretch>
        </p:blipFill>
        <p:spPr>
          <a:xfrm>
            <a:off x="9443009" y="4246474"/>
            <a:ext cx="285293" cy="285293"/>
          </a:xfrm>
          <a:prstGeom prst="rect">
            <a:avLst/>
          </a:prstGeom>
        </p:spPr>
      </p:pic>
      <p:sp>
        <p:nvSpPr>
          <p:cNvPr id="55" name="Shape 45"/>
          <p:cNvSpPr/>
          <p:nvPr/>
        </p:nvSpPr>
        <p:spPr>
          <a:xfrm>
            <a:off x="10774375" y="4187952"/>
            <a:ext cx="640080" cy="365760"/>
          </a:xfrm>
          <a:prstGeom prst="roundRect">
            <a:avLst>
              <a:gd name="adj" fmla="val 15000"/>
            </a:avLst>
          </a:prstGeom>
          <a:solidFill>
            <a:schemeClr val="bg1"/>
          </a:solidFill>
          <a:ln w="12700">
            <a:solidFill>
              <a:schemeClr val="tx2"/>
            </a:solidFill>
            <a:prstDash val="solid"/>
          </a:ln>
        </p:spPr>
      </p:sp>
      <p:sp>
        <p:nvSpPr>
          <p:cNvPr id="56" name="Text 46"/>
          <p:cNvSpPr txBox="1"/>
          <p:nvPr/>
        </p:nvSpPr>
        <p:spPr>
          <a:xfrm>
            <a:off x="10774375" y="4187952"/>
            <a:ext cx="640080" cy="365760"/>
          </a:xfrm>
          <a:prstGeom prst="rect">
            <a:avLst/>
          </a:prstGeom>
          <a:noFill/>
          <a:ln/>
        </p:spPr>
        <p:txBody>
          <a:bodyPr wrap="square" lIns="0" tIns="0" rIns="0" bIns="0" rtlCol="0" anchor="ctr"/>
          <a:lstStyle/>
          <a:p>
            <a:pPr algn="ctr" indent="0" marL="0">
              <a:buNone/>
            </a:pPr>
            <a:r>
              <a:rPr lang="en-US" sz="1400" b="1" dirty="0">
                <a:solidFill>
                  <a:schemeClr val="tx2"/>
                </a:solidFill>
              </a:rPr>
              <a:t>10%</a:t>
            </a:r>
            <a:endParaRPr lang="en-US" sz="1400" dirty="0"/>
          </a:p>
        </p:txBody>
      </p:sp>
      <p:sp>
        <p:nvSpPr>
          <p:cNvPr id="57" name="Text 47"/>
          <p:cNvSpPr txBox="1"/>
          <p:nvPr/>
        </p:nvSpPr>
        <p:spPr>
          <a:xfrm>
            <a:off x="9311335" y="4754880"/>
            <a:ext cx="2103120" cy="566928"/>
          </a:xfrm>
          <a:prstGeom prst="rect">
            <a:avLst/>
          </a:prstGeom>
          <a:noFill/>
          <a:ln/>
        </p:spPr>
        <p:txBody>
          <a:bodyPr wrap="square" lIns="0" tIns="0" rIns="0" bIns="0" rtlCol="0" anchor="b"/>
          <a:lstStyle/>
          <a:p>
            <a:pPr indent="0" marL="0">
              <a:buNone/>
            </a:pPr>
            <a:r>
              <a:rPr lang="en-US" sz="1700" b="1" dirty="0">
                <a:solidFill>
                  <a:schemeClr val="tx1"/>
                </a:solidFill>
              </a:rPr>
              <a:t>From Storing to Doing</a:t>
            </a:r>
            <a:endParaRPr lang="en-US" sz="1700" dirty="0"/>
          </a:p>
        </p:txBody>
      </p:sp>
      <p:sp>
        <p:nvSpPr>
          <p:cNvPr id="58" name="Text 48"/>
          <p:cNvSpPr txBox="1"/>
          <p:nvPr/>
        </p:nvSpPr>
        <p:spPr>
          <a:xfrm>
            <a:off x="9311335" y="5385816"/>
            <a:ext cx="2103120" cy="731520"/>
          </a:xfrm>
          <a:prstGeom prst="rect">
            <a:avLst/>
          </a:prstGeom>
          <a:noFill/>
          <a:ln/>
        </p:spPr>
        <p:txBody>
          <a:bodyPr wrap="square" lIns="0" tIns="0" rIns="0" bIns="0" rtlCol="0" anchor="t"/>
          <a:lstStyle/>
          <a:p>
            <a:pPr indent="0" marL="0">
              <a:buNone/>
            </a:pPr>
            <a:r>
              <a:rPr lang="en-US" sz="1400" dirty="0">
                <a:solidFill>
                  <a:schemeClr val="tx1"/>
                </a:solidFill>
              </a:rPr>
              <a:t>Does their software just store information, or can it take action?</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31520"/>
          </a:xfrm>
          <a:prstGeom prst="rect">
            <a:avLst/>
          </a:prstGeom>
          <a:noFill/>
          <a:ln/>
        </p:spPr>
        <p:txBody>
          <a:bodyPr wrap="square" lIns="0" tIns="0" rIns="0" bIns="0" rtlCol="0" anchor="ctr"/>
          <a:lstStyle/>
          <a:p>
            <a:pPr algn="l" indent="0" marL="0">
              <a:buNone/>
            </a:pPr>
            <a:r>
              <a:rPr lang="en-US" sz="3600" b="1" dirty="0">
                <a:solidFill>
                  <a:schemeClr val="tx1"/>
                </a:solidFill>
              </a:rPr>
              <a:t>What the scores mean</a:t>
            </a:r>
            <a:endParaRPr lang="en-US" sz="3600" dirty="0"/>
          </a:p>
        </p:txBody>
      </p:sp>
      <p:sp>
        <p:nvSpPr>
          <p:cNvPr id="3" name="Text 1"/>
          <p:cNvSpPr txBox="1"/>
          <p:nvPr/>
        </p:nvSpPr>
        <p:spPr>
          <a:xfrm>
            <a:off x="548640" y="1371600"/>
            <a:ext cx="5120640" cy="411480"/>
          </a:xfrm>
          <a:prstGeom prst="rect">
            <a:avLst/>
          </a:prstGeom>
          <a:noFill/>
          <a:ln/>
        </p:spPr>
        <p:txBody>
          <a:bodyPr wrap="square" lIns="0" tIns="0" rIns="0" bIns="0" rtlCol="0" anchor="t"/>
          <a:lstStyle/>
          <a:p>
            <a:pPr indent="0" marL="0">
              <a:buNone/>
            </a:pPr>
            <a:r>
              <a:rPr lang="en-US" sz="2000" b="1" dirty="0">
                <a:solidFill>
                  <a:schemeClr val="tx2"/>
                </a:solidFill>
              </a:rPr>
              <a:t>Each area: 1 to 4</a:t>
            </a:r>
            <a:endParaRPr lang="en-US" sz="2000" dirty="0"/>
          </a:p>
        </p:txBody>
      </p:sp>
      <p:sp>
        <p:nvSpPr>
          <p:cNvPr id="4" name="Shape 2"/>
          <p:cNvSpPr/>
          <p:nvPr/>
        </p:nvSpPr>
        <p:spPr>
          <a:xfrm>
            <a:off x="548640" y="1965960"/>
            <a:ext cx="685800" cy="685800"/>
          </a:xfrm>
          <a:prstGeom prst="roundRect">
            <a:avLst>
              <a:gd name="adj" fmla="val 6667"/>
            </a:avLst>
          </a:prstGeom>
          <a:solidFill>
            <a:schemeClr val="accent2"/>
          </a:solidFill>
          <a:ln w="12700">
            <a:solidFill>
              <a:schemeClr val="accent2"/>
            </a:solidFill>
            <a:prstDash val="solid"/>
          </a:ln>
        </p:spPr>
      </p:sp>
      <p:sp>
        <p:nvSpPr>
          <p:cNvPr id="5" name="Text 3"/>
          <p:cNvSpPr txBox="1"/>
          <p:nvPr/>
        </p:nvSpPr>
        <p:spPr>
          <a:xfrm>
            <a:off x="548640" y="1965960"/>
            <a:ext cx="685800" cy="685800"/>
          </a:xfrm>
          <a:prstGeom prst="rect">
            <a:avLst/>
          </a:prstGeom>
          <a:noFill/>
          <a:ln/>
        </p:spPr>
        <p:txBody>
          <a:bodyPr wrap="square" lIns="0" tIns="0" rIns="0" bIns="0" rtlCol="0" anchor="ctr"/>
          <a:lstStyle/>
          <a:p>
            <a:pPr algn="ctr" indent="0" marL="0">
              <a:buNone/>
            </a:pPr>
            <a:r>
              <a:rPr lang="en-US" sz="2400" b="1" dirty="0">
                <a:solidFill>
                  <a:schemeClr val="bg1"/>
                </a:solidFill>
                <a:latin typeface="+mj-lt" pitchFamily="34" charset="0"/>
                <a:ea typeface="+mj-lt" pitchFamily="34" charset="-122"/>
                <a:cs typeface="+mj-lt" pitchFamily="34" charset="-120"/>
              </a:rPr>
              <a:t>1</a:t>
            </a:r>
            <a:endParaRPr lang="en-US" sz="2400" dirty="0"/>
          </a:p>
        </p:txBody>
      </p:sp>
      <p:sp>
        <p:nvSpPr>
          <p:cNvPr id="6" name="Text 4"/>
          <p:cNvSpPr txBox="1"/>
          <p:nvPr/>
        </p:nvSpPr>
        <p:spPr>
          <a:xfrm>
            <a:off x="1463040" y="1984248"/>
            <a:ext cx="4114800" cy="347472"/>
          </a:xfrm>
          <a:prstGeom prst="rect">
            <a:avLst/>
          </a:prstGeom>
          <a:noFill/>
          <a:ln/>
        </p:spPr>
        <p:txBody>
          <a:bodyPr wrap="square" lIns="0" tIns="0" rIns="0" bIns="0" rtlCol="0" anchor="t"/>
          <a:lstStyle/>
          <a:p>
            <a:pPr indent="0" marL="0">
              <a:buNone/>
            </a:pPr>
            <a:r>
              <a:rPr lang="en-US" sz="1800" b="1" dirty="0">
                <a:solidFill>
                  <a:schemeClr val="tx1"/>
                </a:solidFill>
              </a:rPr>
              <a:t>Weak</a:t>
            </a:r>
            <a:endParaRPr lang="en-US" sz="1800" dirty="0"/>
          </a:p>
        </p:txBody>
      </p:sp>
      <p:sp>
        <p:nvSpPr>
          <p:cNvPr id="7" name="Text 5"/>
          <p:cNvSpPr txBox="1"/>
          <p:nvPr/>
        </p:nvSpPr>
        <p:spPr>
          <a:xfrm>
            <a:off x="1463040" y="2331720"/>
            <a:ext cx="4206240" cy="320040"/>
          </a:xfrm>
          <a:prstGeom prst="rect">
            <a:avLst/>
          </a:prstGeom>
          <a:noFill/>
          <a:ln/>
        </p:spPr>
        <p:txBody>
          <a:bodyPr wrap="square" lIns="0" tIns="0" rIns="0" bIns="0" rtlCol="0" anchor="t"/>
          <a:lstStyle/>
          <a:p>
            <a:pPr indent="0" marL="0">
              <a:buNone/>
            </a:pPr>
            <a:r>
              <a:rPr lang="en-US" sz="1400" dirty="0">
                <a:solidFill>
                  <a:schemeClr val="accent6"/>
                </a:solidFill>
              </a:rPr>
              <a:t>Mostly absent</a:t>
            </a:r>
            <a:endParaRPr lang="en-US" sz="1400" dirty="0"/>
          </a:p>
        </p:txBody>
      </p:sp>
      <p:sp>
        <p:nvSpPr>
          <p:cNvPr id="8" name="Shape 6"/>
          <p:cNvSpPr/>
          <p:nvPr/>
        </p:nvSpPr>
        <p:spPr>
          <a:xfrm>
            <a:off x="548640" y="2880360"/>
            <a:ext cx="685800" cy="685800"/>
          </a:xfrm>
          <a:prstGeom prst="roundRect">
            <a:avLst>
              <a:gd name="adj" fmla="val 6667"/>
            </a:avLst>
          </a:prstGeom>
          <a:solidFill>
            <a:schemeClr val="accent3"/>
          </a:solidFill>
          <a:ln w="12700">
            <a:solidFill>
              <a:schemeClr val="accent3"/>
            </a:solidFill>
            <a:prstDash val="solid"/>
          </a:ln>
        </p:spPr>
      </p:sp>
      <p:sp>
        <p:nvSpPr>
          <p:cNvPr id="9" name="Text 7"/>
          <p:cNvSpPr txBox="1"/>
          <p:nvPr/>
        </p:nvSpPr>
        <p:spPr>
          <a:xfrm>
            <a:off x="548640" y="2880360"/>
            <a:ext cx="685800" cy="685800"/>
          </a:xfrm>
          <a:prstGeom prst="rect">
            <a:avLst/>
          </a:prstGeom>
          <a:noFill/>
          <a:ln/>
        </p:spPr>
        <p:txBody>
          <a:bodyPr wrap="square" lIns="0" tIns="0" rIns="0" bIns="0" rtlCol="0" anchor="ctr"/>
          <a:lstStyle/>
          <a:p>
            <a:pPr algn="ctr" indent="0" marL="0">
              <a:buNone/>
            </a:pPr>
            <a:r>
              <a:rPr lang="en-US" sz="2400" b="1" dirty="0">
                <a:solidFill>
                  <a:schemeClr val="bg1"/>
                </a:solidFill>
                <a:latin typeface="+mj-lt" pitchFamily="34" charset="0"/>
                <a:ea typeface="+mj-lt" pitchFamily="34" charset="-122"/>
                <a:cs typeface="+mj-lt" pitchFamily="34" charset="-120"/>
              </a:rPr>
              <a:t>2</a:t>
            </a:r>
            <a:endParaRPr lang="en-US" sz="2400" dirty="0"/>
          </a:p>
        </p:txBody>
      </p:sp>
      <p:sp>
        <p:nvSpPr>
          <p:cNvPr id="10" name="Text 8"/>
          <p:cNvSpPr txBox="1"/>
          <p:nvPr/>
        </p:nvSpPr>
        <p:spPr>
          <a:xfrm>
            <a:off x="1463040" y="2898648"/>
            <a:ext cx="4114800" cy="347472"/>
          </a:xfrm>
          <a:prstGeom prst="rect">
            <a:avLst/>
          </a:prstGeom>
          <a:noFill/>
          <a:ln/>
        </p:spPr>
        <p:txBody>
          <a:bodyPr wrap="square" lIns="0" tIns="0" rIns="0" bIns="0" rtlCol="0" anchor="t"/>
          <a:lstStyle/>
          <a:p>
            <a:pPr indent="0" marL="0">
              <a:buNone/>
            </a:pPr>
            <a:r>
              <a:rPr lang="en-US" sz="1800" b="1" dirty="0">
                <a:solidFill>
                  <a:schemeClr val="tx1"/>
                </a:solidFill>
              </a:rPr>
              <a:t>Partial</a:t>
            </a:r>
            <a:endParaRPr lang="en-US" sz="1800" dirty="0"/>
          </a:p>
        </p:txBody>
      </p:sp>
      <p:sp>
        <p:nvSpPr>
          <p:cNvPr id="11" name="Text 9"/>
          <p:cNvSpPr txBox="1"/>
          <p:nvPr/>
        </p:nvSpPr>
        <p:spPr>
          <a:xfrm>
            <a:off x="1463040" y="3246120"/>
            <a:ext cx="4206240" cy="320040"/>
          </a:xfrm>
          <a:prstGeom prst="rect">
            <a:avLst/>
          </a:prstGeom>
          <a:noFill/>
          <a:ln/>
        </p:spPr>
        <p:txBody>
          <a:bodyPr wrap="square" lIns="0" tIns="0" rIns="0" bIns="0" rtlCol="0" anchor="t"/>
          <a:lstStyle/>
          <a:p>
            <a:pPr indent="0" marL="0">
              <a:buNone/>
            </a:pPr>
            <a:r>
              <a:rPr lang="en-US" sz="1400" dirty="0">
                <a:solidFill>
                  <a:schemeClr val="accent6"/>
                </a:solidFill>
              </a:rPr>
              <a:t>Some pieces exist, but they’re inconsistent</a:t>
            </a:r>
            <a:endParaRPr lang="en-US" sz="1400" dirty="0"/>
          </a:p>
        </p:txBody>
      </p:sp>
      <p:sp>
        <p:nvSpPr>
          <p:cNvPr id="12" name="Shape 10"/>
          <p:cNvSpPr/>
          <p:nvPr/>
        </p:nvSpPr>
        <p:spPr>
          <a:xfrm>
            <a:off x="548640" y="3794760"/>
            <a:ext cx="685800" cy="685800"/>
          </a:xfrm>
          <a:prstGeom prst="roundRect">
            <a:avLst>
              <a:gd name="adj" fmla="val 6667"/>
            </a:avLst>
          </a:prstGeom>
          <a:solidFill>
            <a:schemeClr val="accent4"/>
          </a:solidFill>
          <a:ln w="12700">
            <a:solidFill>
              <a:schemeClr val="accent4"/>
            </a:solidFill>
            <a:prstDash val="solid"/>
          </a:ln>
        </p:spPr>
      </p:sp>
      <p:sp>
        <p:nvSpPr>
          <p:cNvPr id="13" name="Text 11"/>
          <p:cNvSpPr txBox="1"/>
          <p:nvPr/>
        </p:nvSpPr>
        <p:spPr>
          <a:xfrm>
            <a:off x="548640" y="3794760"/>
            <a:ext cx="685800" cy="685800"/>
          </a:xfrm>
          <a:prstGeom prst="rect">
            <a:avLst/>
          </a:prstGeom>
          <a:noFill/>
          <a:ln/>
        </p:spPr>
        <p:txBody>
          <a:bodyPr wrap="square" lIns="0" tIns="0" rIns="0" bIns="0" rtlCol="0" anchor="ctr"/>
          <a:lstStyle/>
          <a:p>
            <a:pPr algn="ctr" indent="0" marL="0">
              <a:buNone/>
            </a:pPr>
            <a:r>
              <a:rPr lang="en-US" sz="2400" b="1" dirty="0">
                <a:solidFill>
                  <a:schemeClr val="bg1"/>
                </a:solidFill>
                <a:latin typeface="+mj-lt" pitchFamily="34" charset="0"/>
                <a:ea typeface="+mj-lt" pitchFamily="34" charset="-122"/>
                <a:cs typeface="+mj-lt" pitchFamily="34" charset="-120"/>
              </a:rPr>
              <a:t>3</a:t>
            </a:r>
            <a:endParaRPr lang="en-US" sz="2400" dirty="0"/>
          </a:p>
        </p:txBody>
      </p:sp>
      <p:sp>
        <p:nvSpPr>
          <p:cNvPr id="14" name="Text 12"/>
          <p:cNvSpPr txBox="1"/>
          <p:nvPr/>
        </p:nvSpPr>
        <p:spPr>
          <a:xfrm>
            <a:off x="1463040" y="3813048"/>
            <a:ext cx="4114800" cy="347472"/>
          </a:xfrm>
          <a:prstGeom prst="rect">
            <a:avLst/>
          </a:prstGeom>
          <a:noFill/>
          <a:ln/>
        </p:spPr>
        <p:txBody>
          <a:bodyPr wrap="square" lIns="0" tIns="0" rIns="0" bIns="0" rtlCol="0" anchor="t"/>
          <a:lstStyle/>
          <a:p>
            <a:pPr indent="0" marL="0">
              <a:buNone/>
            </a:pPr>
            <a:r>
              <a:rPr lang="en-US" sz="1800" b="1" dirty="0">
                <a:solidFill>
                  <a:schemeClr val="tx1"/>
                </a:solidFill>
              </a:rPr>
              <a:t>Strong</a:t>
            </a:r>
            <a:endParaRPr lang="en-US" sz="1800" dirty="0"/>
          </a:p>
        </p:txBody>
      </p:sp>
      <p:sp>
        <p:nvSpPr>
          <p:cNvPr id="15" name="Text 13"/>
          <p:cNvSpPr txBox="1"/>
          <p:nvPr/>
        </p:nvSpPr>
        <p:spPr>
          <a:xfrm>
            <a:off x="1463040" y="4160520"/>
            <a:ext cx="4206240" cy="320040"/>
          </a:xfrm>
          <a:prstGeom prst="rect">
            <a:avLst/>
          </a:prstGeom>
          <a:noFill/>
          <a:ln/>
        </p:spPr>
        <p:txBody>
          <a:bodyPr wrap="square" lIns="0" tIns="0" rIns="0" bIns="0" rtlCol="0" anchor="t"/>
          <a:lstStyle/>
          <a:p>
            <a:pPr indent="0" marL="0">
              <a:buNone/>
            </a:pPr>
            <a:r>
              <a:rPr lang="en-US" sz="1400" dirty="0">
                <a:solidFill>
                  <a:schemeClr val="accent6"/>
                </a:solidFill>
              </a:rPr>
              <a:t>Mostly in place</a:t>
            </a:r>
            <a:endParaRPr lang="en-US" sz="1400" dirty="0"/>
          </a:p>
        </p:txBody>
      </p:sp>
      <p:sp>
        <p:nvSpPr>
          <p:cNvPr id="16" name="Shape 14"/>
          <p:cNvSpPr/>
          <p:nvPr/>
        </p:nvSpPr>
        <p:spPr>
          <a:xfrm>
            <a:off x="548640" y="4709160"/>
            <a:ext cx="685800" cy="685800"/>
          </a:xfrm>
          <a:prstGeom prst="roundRect">
            <a:avLst>
              <a:gd name="adj" fmla="val 6667"/>
            </a:avLst>
          </a:prstGeom>
          <a:solidFill>
            <a:schemeClr val="accent5"/>
          </a:solidFill>
          <a:ln w="12700">
            <a:solidFill>
              <a:schemeClr val="accent5"/>
            </a:solidFill>
            <a:prstDash val="solid"/>
          </a:ln>
        </p:spPr>
      </p:sp>
      <p:sp>
        <p:nvSpPr>
          <p:cNvPr id="17" name="Text 15"/>
          <p:cNvSpPr txBox="1"/>
          <p:nvPr/>
        </p:nvSpPr>
        <p:spPr>
          <a:xfrm>
            <a:off x="548640" y="4709160"/>
            <a:ext cx="685800" cy="685800"/>
          </a:xfrm>
          <a:prstGeom prst="rect">
            <a:avLst/>
          </a:prstGeom>
          <a:noFill/>
          <a:ln/>
        </p:spPr>
        <p:txBody>
          <a:bodyPr wrap="square" lIns="0" tIns="0" rIns="0" bIns="0" rtlCol="0" anchor="ctr"/>
          <a:lstStyle/>
          <a:p>
            <a:pPr algn="ctr" indent="0" marL="0">
              <a:buNone/>
            </a:pPr>
            <a:r>
              <a:rPr lang="en-US" sz="2400" b="1" dirty="0">
                <a:solidFill>
                  <a:schemeClr val="bg1"/>
                </a:solidFill>
                <a:latin typeface="+mj-lt" pitchFamily="34" charset="0"/>
                <a:ea typeface="+mj-lt" pitchFamily="34" charset="-122"/>
                <a:cs typeface="+mj-lt" pitchFamily="34" charset="-120"/>
              </a:rPr>
              <a:t>4</a:t>
            </a:r>
            <a:endParaRPr lang="en-US" sz="2400" dirty="0"/>
          </a:p>
        </p:txBody>
      </p:sp>
      <p:sp>
        <p:nvSpPr>
          <p:cNvPr id="18" name="Text 16"/>
          <p:cNvSpPr txBox="1"/>
          <p:nvPr/>
        </p:nvSpPr>
        <p:spPr>
          <a:xfrm>
            <a:off x="1463040" y="4727448"/>
            <a:ext cx="4114800" cy="347472"/>
          </a:xfrm>
          <a:prstGeom prst="rect">
            <a:avLst/>
          </a:prstGeom>
          <a:noFill/>
          <a:ln/>
        </p:spPr>
        <p:txBody>
          <a:bodyPr wrap="square" lIns="0" tIns="0" rIns="0" bIns="0" rtlCol="0" anchor="t"/>
          <a:lstStyle/>
          <a:p>
            <a:pPr indent="0" marL="0">
              <a:buNone/>
            </a:pPr>
            <a:r>
              <a:rPr lang="en-US" sz="1800" b="1" dirty="0">
                <a:solidFill>
                  <a:schemeClr val="tx1"/>
                </a:solidFill>
              </a:rPr>
              <a:t>Advanced</a:t>
            </a:r>
            <a:endParaRPr lang="en-US" sz="1800" dirty="0"/>
          </a:p>
        </p:txBody>
      </p:sp>
      <p:sp>
        <p:nvSpPr>
          <p:cNvPr id="19" name="Text 17"/>
          <p:cNvSpPr txBox="1"/>
          <p:nvPr/>
        </p:nvSpPr>
        <p:spPr>
          <a:xfrm>
            <a:off x="1463040" y="5074920"/>
            <a:ext cx="4206240" cy="320040"/>
          </a:xfrm>
          <a:prstGeom prst="rect">
            <a:avLst/>
          </a:prstGeom>
          <a:noFill/>
          <a:ln/>
        </p:spPr>
        <p:txBody>
          <a:bodyPr wrap="square" lIns="0" tIns="0" rIns="0" bIns="0" rtlCol="0" anchor="t"/>
          <a:lstStyle/>
          <a:p>
            <a:pPr indent="0" marL="0">
              <a:buNone/>
            </a:pPr>
            <a:r>
              <a:rPr lang="en-US" sz="1400" dirty="0">
                <a:solidFill>
                  <a:schemeClr val="accent6"/>
                </a:solidFill>
              </a:rPr>
              <a:t>In place and highly reliable</a:t>
            </a:r>
            <a:endParaRPr lang="en-US" sz="1400" dirty="0"/>
          </a:p>
        </p:txBody>
      </p:sp>
      <p:sp>
        <p:nvSpPr>
          <p:cNvPr id="20" name="Text 18"/>
          <p:cNvSpPr txBox="1"/>
          <p:nvPr/>
        </p:nvSpPr>
        <p:spPr>
          <a:xfrm>
            <a:off x="6446520" y="1371600"/>
            <a:ext cx="5196535" cy="411480"/>
          </a:xfrm>
          <a:prstGeom prst="rect">
            <a:avLst/>
          </a:prstGeom>
          <a:noFill/>
          <a:ln/>
        </p:spPr>
        <p:txBody>
          <a:bodyPr wrap="square" lIns="0" tIns="0" rIns="0" bIns="0" rtlCol="0" anchor="t"/>
          <a:lstStyle/>
          <a:p>
            <a:pPr indent="0" marL="0">
              <a:buNone/>
            </a:pPr>
            <a:r>
              <a:rPr lang="en-US" sz="2000" b="1" dirty="0">
                <a:solidFill>
                  <a:schemeClr val="tx2"/>
                </a:solidFill>
              </a:rPr>
              <a:t>Overall: 0 to 100</a:t>
            </a:r>
            <a:endParaRPr lang="en-US" sz="2000" dirty="0"/>
          </a:p>
        </p:txBody>
      </p:sp>
      <p:sp>
        <p:nvSpPr>
          <p:cNvPr id="21" name="band-Low"/>
          <p:cNvSpPr/>
          <p:nvPr/>
        </p:nvSpPr>
        <p:spPr>
          <a:xfrm>
            <a:off x="6446520" y="1965960"/>
            <a:ext cx="2278712" cy="548640"/>
          </a:xfrm>
          <a:prstGeom prst="rect">
            <a:avLst/>
          </a:prstGeom>
          <a:solidFill>
            <a:schemeClr val="accent2"/>
          </a:solidFill>
          <a:ln w="12700">
            <a:solidFill>
              <a:schemeClr val="accent2"/>
            </a:solidFill>
            <a:prstDash val="solid"/>
          </a:ln>
        </p:spPr>
      </p:sp>
      <p:sp>
        <p:nvSpPr>
          <p:cNvPr id="22" name="Text 20"/>
          <p:cNvSpPr txBox="1"/>
          <p:nvPr/>
        </p:nvSpPr>
        <p:spPr>
          <a:xfrm>
            <a:off x="6446520" y="2606040"/>
            <a:ext cx="2406728" cy="292608"/>
          </a:xfrm>
          <a:prstGeom prst="rect">
            <a:avLst/>
          </a:prstGeom>
          <a:noFill/>
          <a:ln/>
        </p:spPr>
        <p:txBody>
          <a:bodyPr wrap="square" lIns="0" tIns="0" rIns="0" bIns="0" rtlCol="0" anchor="t"/>
          <a:lstStyle/>
          <a:p>
            <a:pPr indent="0" marL="0">
              <a:buNone/>
            </a:pPr>
            <a:r>
              <a:rPr lang="en-US" sz="1400" b="1" dirty="0">
                <a:solidFill>
                  <a:schemeClr val="accent2"/>
                </a:solidFill>
              </a:rPr>
              <a:t>Low</a:t>
            </a:r>
            <a:endParaRPr lang="en-US" sz="1400" dirty="0"/>
          </a:p>
        </p:txBody>
      </p:sp>
      <p:sp>
        <p:nvSpPr>
          <p:cNvPr id="23" name="Text 21"/>
          <p:cNvSpPr txBox="1"/>
          <p:nvPr/>
        </p:nvSpPr>
        <p:spPr>
          <a:xfrm>
            <a:off x="6446520" y="2880360"/>
            <a:ext cx="2406728" cy="274320"/>
          </a:xfrm>
          <a:prstGeom prst="rect">
            <a:avLst/>
          </a:prstGeom>
          <a:noFill/>
          <a:ln/>
        </p:spPr>
        <p:txBody>
          <a:bodyPr wrap="square" lIns="0" tIns="0" rIns="0" bIns="0" rtlCol="0" anchor="t"/>
          <a:lstStyle/>
          <a:p>
            <a:pPr indent="0" marL="0">
              <a:buNone/>
            </a:pPr>
            <a:r>
              <a:rPr lang="en-US" sz="1200" dirty="0">
                <a:solidFill>
                  <a:schemeClr val="accent6"/>
                </a:solidFill>
              </a:rPr>
              <a:t>0–44</a:t>
            </a:r>
            <a:endParaRPr lang="en-US" sz="1200" dirty="0"/>
          </a:p>
        </p:txBody>
      </p:sp>
      <p:sp>
        <p:nvSpPr>
          <p:cNvPr id="24" name="band-Developing"/>
          <p:cNvSpPr/>
          <p:nvPr/>
        </p:nvSpPr>
        <p:spPr>
          <a:xfrm>
            <a:off x="8761808" y="1965960"/>
            <a:ext cx="1249695" cy="548640"/>
          </a:xfrm>
          <a:prstGeom prst="rect">
            <a:avLst/>
          </a:prstGeom>
          <a:solidFill>
            <a:schemeClr val="accent3"/>
          </a:solidFill>
          <a:ln w="12700">
            <a:solidFill>
              <a:schemeClr val="accent3"/>
            </a:solidFill>
            <a:prstDash val="solid"/>
          </a:ln>
        </p:spPr>
      </p:sp>
      <p:sp>
        <p:nvSpPr>
          <p:cNvPr id="25" name="Text 23"/>
          <p:cNvSpPr txBox="1"/>
          <p:nvPr/>
        </p:nvSpPr>
        <p:spPr>
          <a:xfrm>
            <a:off x="8761808" y="2606040"/>
            <a:ext cx="1377711" cy="292608"/>
          </a:xfrm>
          <a:prstGeom prst="rect">
            <a:avLst/>
          </a:prstGeom>
          <a:noFill/>
          <a:ln/>
        </p:spPr>
        <p:txBody>
          <a:bodyPr wrap="square" lIns="0" tIns="0" rIns="0" bIns="0" rtlCol="0" anchor="t"/>
          <a:lstStyle/>
          <a:p>
            <a:pPr indent="0" marL="0">
              <a:buNone/>
            </a:pPr>
            <a:r>
              <a:rPr lang="en-US" sz="1400" b="1" dirty="0">
                <a:solidFill>
                  <a:schemeClr val="accent3"/>
                </a:solidFill>
              </a:rPr>
              <a:t>Developing</a:t>
            </a:r>
            <a:endParaRPr lang="en-US" sz="1400" dirty="0"/>
          </a:p>
        </p:txBody>
      </p:sp>
      <p:sp>
        <p:nvSpPr>
          <p:cNvPr id="26" name="Text 24"/>
          <p:cNvSpPr txBox="1"/>
          <p:nvPr/>
        </p:nvSpPr>
        <p:spPr>
          <a:xfrm>
            <a:off x="8761808" y="2880360"/>
            <a:ext cx="1377711" cy="274320"/>
          </a:xfrm>
          <a:prstGeom prst="rect">
            <a:avLst/>
          </a:prstGeom>
          <a:noFill/>
          <a:ln/>
        </p:spPr>
        <p:txBody>
          <a:bodyPr wrap="square" lIns="0" tIns="0" rIns="0" bIns="0" rtlCol="0" anchor="t"/>
          <a:lstStyle/>
          <a:p>
            <a:pPr indent="0" marL="0">
              <a:buNone/>
            </a:pPr>
            <a:r>
              <a:rPr lang="en-US" sz="1200" dirty="0">
                <a:solidFill>
                  <a:schemeClr val="accent6"/>
                </a:solidFill>
              </a:rPr>
              <a:t>45–69</a:t>
            </a:r>
            <a:endParaRPr lang="en-US" sz="1200" dirty="0"/>
          </a:p>
        </p:txBody>
      </p:sp>
      <p:sp>
        <p:nvSpPr>
          <p:cNvPr id="27" name="band-Strong"/>
          <p:cNvSpPr/>
          <p:nvPr/>
        </p:nvSpPr>
        <p:spPr>
          <a:xfrm>
            <a:off x="10048079" y="1965960"/>
            <a:ext cx="580834" cy="548640"/>
          </a:xfrm>
          <a:prstGeom prst="rect">
            <a:avLst/>
          </a:prstGeom>
          <a:solidFill>
            <a:schemeClr val="accent4"/>
          </a:solidFill>
          <a:ln w="12700">
            <a:solidFill>
              <a:schemeClr val="accent4"/>
            </a:solidFill>
            <a:prstDash val="solid"/>
          </a:ln>
        </p:spPr>
      </p:sp>
      <p:sp>
        <p:nvSpPr>
          <p:cNvPr id="28" name="Text 26"/>
          <p:cNvSpPr txBox="1"/>
          <p:nvPr/>
        </p:nvSpPr>
        <p:spPr>
          <a:xfrm>
            <a:off x="10048079" y="2606040"/>
            <a:ext cx="708850" cy="292608"/>
          </a:xfrm>
          <a:prstGeom prst="rect">
            <a:avLst/>
          </a:prstGeom>
          <a:noFill/>
          <a:ln/>
        </p:spPr>
        <p:txBody>
          <a:bodyPr wrap="square" lIns="0" tIns="0" rIns="0" bIns="0" rtlCol="0" anchor="t"/>
          <a:lstStyle/>
          <a:p>
            <a:pPr indent="0" marL="0">
              <a:buNone/>
            </a:pPr>
            <a:r>
              <a:rPr lang="en-US" sz="1400" b="1" dirty="0">
                <a:solidFill>
                  <a:schemeClr val="accent4"/>
                </a:solidFill>
              </a:rPr>
              <a:t>Strong</a:t>
            </a:r>
            <a:endParaRPr lang="en-US" sz="1400" dirty="0"/>
          </a:p>
        </p:txBody>
      </p:sp>
      <p:sp>
        <p:nvSpPr>
          <p:cNvPr id="29" name="Text 27"/>
          <p:cNvSpPr txBox="1"/>
          <p:nvPr/>
        </p:nvSpPr>
        <p:spPr>
          <a:xfrm>
            <a:off x="10048079" y="2880360"/>
            <a:ext cx="708850" cy="274320"/>
          </a:xfrm>
          <a:prstGeom prst="rect">
            <a:avLst/>
          </a:prstGeom>
          <a:noFill/>
          <a:ln/>
        </p:spPr>
        <p:txBody>
          <a:bodyPr wrap="square" lIns="0" tIns="0" rIns="0" bIns="0" rtlCol="0" anchor="t"/>
          <a:lstStyle/>
          <a:p>
            <a:pPr indent="0" marL="0">
              <a:buNone/>
            </a:pPr>
            <a:r>
              <a:rPr lang="en-US" sz="1200" dirty="0">
                <a:solidFill>
                  <a:schemeClr val="accent6"/>
                </a:solidFill>
              </a:rPr>
              <a:t>70–81</a:t>
            </a:r>
            <a:endParaRPr lang="en-US" sz="1200" dirty="0"/>
          </a:p>
        </p:txBody>
      </p:sp>
      <p:sp>
        <p:nvSpPr>
          <p:cNvPr id="30" name="band-Advanced"/>
          <p:cNvSpPr/>
          <p:nvPr/>
        </p:nvSpPr>
        <p:spPr>
          <a:xfrm>
            <a:off x="10665489" y="1965960"/>
            <a:ext cx="940990" cy="548640"/>
          </a:xfrm>
          <a:prstGeom prst="rect">
            <a:avLst/>
          </a:prstGeom>
          <a:solidFill>
            <a:schemeClr val="accent5"/>
          </a:solidFill>
          <a:ln w="12700">
            <a:solidFill>
              <a:schemeClr val="accent5"/>
            </a:solidFill>
            <a:prstDash val="solid"/>
          </a:ln>
        </p:spPr>
      </p:sp>
      <p:sp>
        <p:nvSpPr>
          <p:cNvPr id="31" name="Text 29"/>
          <p:cNvSpPr txBox="1"/>
          <p:nvPr/>
        </p:nvSpPr>
        <p:spPr>
          <a:xfrm>
            <a:off x="10665489" y="2606040"/>
            <a:ext cx="1069006" cy="292608"/>
          </a:xfrm>
          <a:prstGeom prst="rect">
            <a:avLst/>
          </a:prstGeom>
          <a:noFill/>
          <a:ln/>
        </p:spPr>
        <p:txBody>
          <a:bodyPr wrap="square" lIns="0" tIns="0" rIns="0" bIns="0" rtlCol="0" anchor="t"/>
          <a:lstStyle/>
          <a:p>
            <a:pPr indent="0" marL="0">
              <a:buNone/>
            </a:pPr>
            <a:r>
              <a:rPr lang="en-US" sz="1400" b="1" dirty="0">
                <a:solidFill>
                  <a:schemeClr val="accent5"/>
                </a:solidFill>
              </a:rPr>
              <a:t>Advanced</a:t>
            </a:r>
            <a:endParaRPr lang="en-US" sz="1400" dirty="0"/>
          </a:p>
        </p:txBody>
      </p:sp>
      <p:sp>
        <p:nvSpPr>
          <p:cNvPr id="32" name="Text 30"/>
          <p:cNvSpPr txBox="1"/>
          <p:nvPr/>
        </p:nvSpPr>
        <p:spPr>
          <a:xfrm>
            <a:off x="10665489" y="2880360"/>
            <a:ext cx="1069006" cy="274320"/>
          </a:xfrm>
          <a:prstGeom prst="rect">
            <a:avLst/>
          </a:prstGeom>
          <a:noFill/>
          <a:ln/>
        </p:spPr>
        <p:txBody>
          <a:bodyPr wrap="square" lIns="0" tIns="0" rIns="0" bIns="0" rtlCol="0" anchor="t"/>
          <a:lstStyle/>
          <a:p>
            <a:pPr indent="0" marL="0">
              <a:buNone/>
            </a:pPr>
            <a:r>
              <a:rPr lang="en-US" sz="1200" dirty="0">
                <a:solidFill>
                  <a:schemeClr val="accent6"/>
                </a:solidFill>
              </a:rPr>
              <a:t>82–100</a:t>
            </a:r>
            <a:endParaRPr lang="en-US" sz="1200" dirty="0"/>
          </a:p>
        </p:txBody>
      </p:sp>
      <p:sp>
        <p:nvSpPr>
          <p:cNvPr id="33" name="bar-high-callout"/>
          <p:cNvSpPr/>
          <p:nvPr/>
        </p:nvSpPr>
        <p:spPr>
          <a:xfrm>
            <a:off x="6446520" y="3520440"/>
            <a:ext cx="5196535" cy="2148840"/>
          </a:xfrm>
          <a:prstGeom prst="roundRect">
            <a:avLst>
              <a:gd name="adj" fmla="val 3404"/>
            </a:avLst>
          </a:prstGeom>
          <a:solidFill>
            <a:schemeClr val="bg2"/>
          </a:solidFill>
          <a:ln w="12700">
            <a:solidFill>
              <a:schemeClr val="bg2"/>
            </a:solidFill>
            <a:prstDash val="solid"/>
          </a:ln>
        </p:spPr>
      </p:sp>
      <p:sp>
        <p:nvSpPr>
          <p:cNvPr id="34" name="Text 32"/>
          <p:cNvSpPr txBox="1"/>
          <p:nvPr/>
        </p:nvSpPr>
        <p:spPr>
          <a:xfrm>
            <a:off x="6720840" y="3703320"/>
            <a:ext cx="1463040" cy="914400"/>
          </a:xfrm>
          <a:prstGeom prst="rect">
            <a:avLst/>
          </a:prstGeom>
          <a:noFill/>
          <a:ln/>
        </p:spPr>
        <p:txBody>
          <a:bodyPr wrap="square" lIns="0" tIns="0" rIns="0" bIns="0" rtlCol="0" anchor="ctr"/>
          <a:lstStyle/>
          <a:p>
            <a:pPr indent="0" marL="0">
              <a:buNone/>
            </a:pPr>
            <a:r>
              <a:rPr lang="en-US" sz="6000" b="1" dirty="0">
                <a:solidFill>
                  <a:schemeClr val="tx2"/>
                </a:solidFill>
                <a:latin typeface="+mj-lt" pitchFamily="34" charset="0"/>
                <a:ea typeface="+mj-lt" pitchFamily="34" charset="-122"/>
                <a:cs typeface="+mj-lt" pitchFamily="34" charset="-120"/>
              </a:rPr>
              <a:t>67</a:t>
            </a:r>
            <a:endParaRPr lang="en-US" sz="6000" dirty="0"/>
          </a:p>
        </p:txBody>
      </p:sp>
      <p:sp>
        <p:nvSpPr>
          <p:cNvPr id="35" name="Text 33"/>
          <p:cNvSpPr txBox="1"/>
          <p:nvPr/>
        </p:nvSpPr>
        <p:spPr>
          <a:xfrm>
            <a:off x="8229600" y="3840480"/>
            <a:ext cx="3184855" cy="640080"/>
          </a:xfrm>
          <a:prstGeom prst="rect">
            <a:avLst/>
          </a:prstGeom>
          <a:noFill/>
          <a:ln/>
        </p:spPr>
        <p:txBody>
          <a:bodyPr wrap="square" lIns="0" tIns="0" rIns="0" bIns="0" rtlCol="0" anchor="ctr"/>
          <a:lstStyle/>
          <a:p>
            <a:pPr indent="0" marL="0">
              <a:buNone/>
            </a:pPr>
            <a:r>
              <a:rPr lang="en-US" sz="2200" b="1" dirty="0">
                <a:solidFill>
                  <a:schemeClr val="accent3"/>
                </a:solidFill>
              </a:rPr>
              <a:t>= “Developing”</a:t>
            </a:r>
            <a:endParaRPr lang="en-US" sz="2200" dirty="0"/>
          </a:p>
        </p:txBody>
      </p:sp>
      <p:sp>
        <p:nvSpPr>
          <p:cNvPr id="36" name="Text 34"/>
          <p:cNvSpPr txBox="1"/>
          <p:nvPr/>
        </p:nvSpPr>
        <p:spPr>
          <a:xfrm>
            <a:off x="6720840" y="4663440"/>
            <a:ext cx="4647895" cy="914400"/>
          </a:xfrm>
          <a:prstGeom prst="rect">
            <a:avLst/>
          </a:prstGeom>
          <a:noFill/>
          <a:ln/>
        </p:spPr>
        <p:txBody>
          <a:bodyPr wrap="square" lIns="0" tIns="0" rIns="0" bIns="0" rtlCol="0" anchor="t"/>
          <a:lstStyle/>
          <a:p>
            <a:pPr indent="0" marL="0">
              <a:buNone/>
            </a:pPr>
            <a:r>
              <a:rPr lang="en-US" sz="1400" dirty="0">
                <a:solidFill>
                  <a:schemeClr val="tx1"/>
                </a:solidFill>
              </a:rPr>
              <a:t>A company that scores a solid 3 (“Strong”) in every single area lands at 67. The bar is high on purpose: to be called Strong overall, some areas must be genuinely advanced.</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31520"/>
          </a:xfrm>
          <a:prstGeom prst="rect">
            <a:avLst/>
          </a:prstGeom>
          <a:noFill/>
          <a:ln/>
        </p:spPr>
        <p:txBody>
          <a:bodyPr wrap="square" lIns="0" tIns="0" rIns="0" bIns="0" rtlCol="0" anchor="ctr"/>
          <a:lstStyle/>
          <a:p>
            <a:pPr algn="l" indent="0" marL="0">
              <a:buNone/>
            </a:pPr>
            <a:r>
              <a:rPr lang="en-US" sz="3600" b="1" dirty="0">
                <a:solidFill>
                  <a:schemeClr val="tx1"/>
                </a:solidFill>
              </a:rPr>
              <a:t>Five next steps, climbed in order</a:t>
            </a:r>
            <a:endParaRPr lang="en-US" sz="3600" dirty="0"/>
          </a:p>
        </p:txBody>
      </p:sp>
      <p:sp>
        <p:nvSpPr>
          <p:cNvPr id="3" name="stair-step-1"/>
          <p:cNvSpPr/>
          <p:nvPr/>
        </p:nvSpPr>
        <p:spPr>
          <a:xfrm>
            <a:off x="548640" y="4846320"/>
            <a:ext cx="2103120" cy="1325880"/>
          </a:xfrm>
          <a:prstGeom prst="rect">
            <a:avLst/>
          </a:prstGeom>
          <a:solidFill>
            <a:schemeClr val="tx2">
              <a:alpha val="20000"/>
            </a:schemeClr>
          </a:solidFill>
          <a:ln w="12700">
            <a:solidFill>
              <a:schemeClr val="tx2">
                <a:alpha val="0"/>
              </a:schemeClr>
            </a:solidFill>
            <a:prstDash val="solid"/>
          </a:ln>
        </p:spPr>
      </p:sp>
      <p:sp>
        <p:nvSpPr>
          <p:cNvPr id="4" name="Text 2"/>
          <p:cNvSpPr txBox="1"/>
          <p:nvPr/>
        </p:nvSpPr>
        <p:spPr>
          <a:xfrm>
            <a:off x="713232" y="4956048"/>
            <a:ext cx="548640" cy="457200"/>
          </a:xfrm>
          <a:prstGeom prst="rect">
            <a:avLst/>
          </a:prstGeom>
          <a:noFill/>
          <a:ln/>
        </p:spPr>
        <p:txBody>
          <a:bodyPr wrap="square" lIns="0" tIns="0" rIns="0" bIns="0" rtlCol="0" anchor="t"/>
          <a:lstStyle/>
          <a:p>
            <a:pPr indent="0" marL="0">
              <a:buNone/>
            </a:pPr>
            <a:r>
              <a:rPr lang="en-US" sz="2800" b="1" dirty="0">
                <a:solidFill>
                  <a:schemeClr val="tx2"/>
                </a:solidFill>
                <a:latin typeface="+mj-lt" pitchFamily="34" charset="0"/>
                <a:ea typeface="+mj-lt" pitchFamily="34" charset="-122"/>
                <a:cs typeface="+mj-lt" pitchFamily="34" charset="-120"/>
              </a:rPr>
              <a:t>1</a:t>
            </a:r>
            <a:endParaRPr lang="en-US" sz="2800" dirty="0"/>
          </a:p>
        </p:txBody>
      </p:sp>
      <p:sp>
        <p:nvSpPr>
          <p:cNvPr id="5" name="Text 3"/>
          <p:cNvSpPr txBox="1"/>
          <p:nvPr/>
        </p:nvSpPr>
        <p:spPr>
          <a:xfrm>
            <a:off x="713232" y="5413248"/>
            <a:ext cx="1773936" cy="685800"/>
          </a:xfrm>
          <a:prstGeom prst="rect">
            <a:avLst/>
          </a:prstGeom>
          <a:noFill/>
          <a:ln/>
        </p:spPr>
        <p:txBody>
          <a:bodyPr wrap="square" lIns="0" tIns="0" rIns="0" bIns="0" rtlCol="0" anchor="t"/>
          <a:lstStyle/>
          <a:p>
            <a:pPr indent="0" marL="0">
              <a:buNone/>
            </a:pPr>
            <a:r>
              <a:rPr lang="en-US" sz="1500" b="1" dirty="0">
                <a:solidFill>
                  <a:schemeClr val="tx1"/>
                </a:solidFill>
              </a:rPr>
              <a:t>Get leadership on the same page</a:t>
            </a:r>
            <a:endParaRPr lang="en-US" sz="1500" dirty="0"/>
          </a:p>
        </p:txBody>
      </p:sp>
      <p:sp>
        <p:nvSpPr>
          <p:cNvPr id="6" name="Text 4"/>
          <p:cNvSpPr txBox="1"/>
          <p:nvPr/>
        </p:nvSpPr>
        <p:spPr>
          <a:xfrm>
            <a:off x="548640" y="3429000"/>
            <a:ext cx="2103120" cy="1325880"/>
          </a:xfrm>
          <a:prstGeom prst="rect">
            <a:avLst/>
          </a:prstGeom>
          <a:noFill/>
          <a:ln/>
        </p:spPr>
        <p:txBody>
          <a:bodyPr wrap="square" lIns="0" tIns="0" rIns="0" bIns="0" rtlCol="0" anchor="b"/>
          <a:lstStyle/>
          <a:p>
            <a:pPr indent="0" marL="0">
              <a:buNone/>
            </a:pPr>
            <a:r>
              <a:rPr lang="en-US" sz="1300" b="1" dirty="0">
                <a:solidFill>
                  <a:schemeClr val="tx2"/>
                </a:solidFill>
              </a:rPr>
              <a:t>Educate and Align</a:t>
            </a:r>
            <a:endParaRPr lang="en-US" sz="1300" dirty="0"/>
          </a:p>
          <a:p>
            <a:pPr indent="0" marL="0">
              <a:buNone/>
            </a:pPr>
            <a:r>
              <a:rPr lang="en-US" sz="1300" dirty="0">
                <a:solidFill>
                  <a:schemeClr val="tx1"/>
                </a:solidFill>
              </a:rPr>
              <a:t>Leadership workshop, one named AI owner, top three focus areas, a written business case.</a:t>
            </a:r>
            <a:endParaRPr lang="en-US" sz="1300" dirty="0"/>
          </a:p>
        </p:txBody>
      </p:sp>
      <p:sp>
        <p:nvSpPr>
          <p:cNvPr id="7" name="stair-step-2"/>
          <p:cNvSpPr/>
          <p:nvPr/>
        </p:nvSpPr>
        <p:spPr>
          <a:xfrm>
            <a:off x="2796464" y="4343400"/>
            <a:ext cx="2103120" cy="1828800"/>
          </a:xfrm>
          <a:prstGeom prst="rect">
            <a:avLst/>
          </a:prstGeom>
          <a:solidFill>
            <a:schemeClr val="tx2">
              <a:alpha val="35000"/>
            </a:schemeClr>
          </a:solidFill>
          <a:ln w="12700">
            <a:solidFill>
              <a:schemeClr val="tx2">
                <a:alpha val="0"/>
              </a:schemeClr>
            </a:solidFill>
            <a:prstDash val="solid"/>
          </a:ln>
        </p:spPr>
      </p:sp>
      <p:sp>
        <p:nvSpPr>
          <p:cNvPr id="8" name="Text 6"/>
          <p:cNvSpPr txBox="1"/>
          <p:nvPr/>
        </p:nvSpPr>
        <p:spPr>
          <a:xfrm>
            <a:off x="2961056" y="4453128"/>
            <a:ext cx="548640" cy="457200"/>
          </a:xfrm>
          <a:prstGeom prst="rect">
            <a:avLst/>
          </a:prstGeom>
          <a:noFill/>
          <a:ln/>
        </p:spPr>
        <p:txBody>
          <a:bodyPr wrap="square" lIns="0" tIns="0" rIns="0" bIns="0" rtlCol="0" anchor="t"/>
          <a:lstStyle/>
          <a:p>
            <a:pPr indent="0" marL="0">
              <a:buNone/>
            </a:pPr>
            <a:r>
              <a:rPr lang="en-US" sz="2800" b="1" dirty="0">
                <a:solidFill>
                  <a:schemeClr val="tx2"/>
                </a:solidFill>
                <a:latin typeface="+mj-lt" pitchFamily="34" charset="0"/>
                <a:ea typeface="+mj-lt" pitchFamily="34" charset="-122"/>
                <a:cs typeface="+mj-lt" pitchFamily="34" charset="-120"/>
              </a:rPr>
              <a:t>2</a:t>
            </a:r>
            <a:endParaRPr lang="en-US" sz="2800" dirty="0"/>
          </a:p>
        </p:txBody>
      </p:sp>
      <p:sp>
        <p:nvSpPr>
          <p:cNvPr id="9" name="Text 7"/>
          <p:cNvSpPr txBox="1"/>
          <p:nvPr/>
        </p:nvSpPr>
        <p:spPr>
          <a:xfrm>
            <a:off x="2961056" y="4910328"/>
            <a:ext cx="1773936" cy="685800"/>
          </a:xfrm>
          <a:prstGeom prst="rect">
            <a:avLst/>
          </a:prstGeom>
          <a:noFill/>
          <a:ln/>
        </p:spPr>
        <p:txBody>
          <a:bodyPr wrap="square" lIns="0" tIns="0" rIns="0" bIns="0" rtlCol="0" anchor="t"/>
          <a:lstStyle/>
          <a:p>
            <a:pPr indent="0" marL="0">
              <a:buNone/>
            </a:pPr>
            <a:r>
              <a:rPr lang="en-US" sz="1500" b="1" dirty="0">
                <a:solidFill>
                  <a:schemeClr val="tx1"/>
                </a:solidFill>
              </a:rPr>
              <a:t>Map the work and measure the start</a:t>
            </a:r>
            <a:endParaRPr lang="en-US" sz="1500" dirty="0"/>
          </a:p>
        </p:txBody>
      </p:sp>
      <p:sp>
        <p:nvSpPr>
          <p:cNvPr id="10" name="Text 8"/>
          <p:cNvSpPr txBox="1"/>
          <p:nvPr/>
        </p:nvSpPr>
        <p:spPr>
          <a:xfrm>
            <a:off x="2796464" y="2926080"/>
            <a:ext cx="2103120" cy="1325880"/>
          </a:xfrm>
          <a:prstGeom prst="rect">
            <a:avLst/>
          </a:prstGeom>
          <a:noFill/>
          <a:ln/>
        </p:spPr>
        <p:txBody>
          <a:bodyPr wrap="square" lIns="0" tIns="0" rIns="0" bIns="0" rtlCol="0" anchor="b"/>
          <a:lstStyle/>
          <a:p>
            <a:pPr indent="0" marL="0">
              <a:buNone/>
            </a:pPr>
            <a:r>
              <a:rPr lang="en-US" sz="1300" b="1" dirty="0">
                <a:solidFill>
                  <a:schemeClr val="tx2"/>
                </a:solidFill>
              </a:rPr>
              <a:t>Diagnose and Instrument</a:t>
            </a:r>
            <a:endParaRPr lang="en-US" sz="1300" dirty="0"/>
          </a:p>
          <a:p>
            <a:pPr indent="0" marL="0">
              <a:buNone/>
            </a:pPr>
            <a:r>
              <a:rPr lang="en-US" sz="1300" dirty="0">
                <a:solidFill>
                  <a:schemeClr val="tx1"/>
                </a:solidFill>
              </a:rPr>
              <a:t>Map how key work flows, audit where data lives, measure today’s performance.</a:t>
            </a:r>
            <a:endParaRPr lang="en-US" sz="1300" dirty="0"/>
          </a:p>
        </p:txBody>
      </p:sp>
      <p:sp>
        <p:nvSpPr>
          <p:cNvPr id="11" name="stair-step-3"/>
          <p:cNvSpPr/>
          <p:nvPr/>
        </p:nvSpPr>
        <p:spPr>
          <a:xfrm>
            <a:off x="5044288" y="3840480"/>
            <a:ext cx="2103120" cy="2331720"/>
          </a:xfrm>
          <a:prstGeom prst="rect">
            <a:avLst/>
          </a:prstGeom>
          <a:solidFill>
            <a:schemeClr val="tx2">
              <a:alpha val="70000"/>
            </a:schemeClr>
          </a:solidFill>
          <a:ln w="12700">
            <a:solidFill>
              <a:schemeClr val="tx2">
                <a:alpha val="0"/>
              </a:schemeClr>
            </a:solidFill>
            <a:prstDash val="solid"/>
          </a:ln>
        </p:spPr>
      </p:sp>
      <p:sp>
        <p:nvSpPr>
          <p:cNvPr id="12" name="Text 10"/>
          <p:cNvSpPr txBox="1"/>
          <p:nvPr/>
        </p:nvSpPr>
        <p:spPr>
          <a:xfrm>
            <a:off x="5208880" y="3950208"/>
            <a:ext cx="548640" cy="457200"/>
          </a:xfrm>
          <a:prstGeom prst="rect">
            <a:avLst/>
          </a:prstGeom>
          <a:noFill/>
          <a:ln/>
        </p:spPr>
        <p:txBody>
          <a:bodyPr wrap="square" lIns="0" tIns="0" rIns="0" bIns="0" rtlCol="0" anchor="t"/>
          <a:lstStyle/>
          <a:p>
            <a:pPr indent="0" marL="0">
              <a:buNone/>
            </a:pPr>
            <a:r>
              <a:rPr lang="en-US" sz="2800" b="1" dirty="0">
                <a:solidFill>
                  <a:schemeClr val="bg1"/>
                </a:solidFill>
                <a:latin typeface="+mj-lt" pitchFamily="34" charset="0"/>
                <a:ea typeface="+mj-lt" pitchFamily="34" charset="-122"/>
                <a:cs typeface="+mj-lt" pitchFamily="34" charset="-120"/>
              </a:rPr>
              <a:t>3</a:t>
            </a:r>
            <a:endParaRPr lang="en-US" sz="2800" dirty="0"/>
          </a:p>
        </p:txBody>
      </p:sp>
      <p:sp>
        <p:nvSpPr>
          <p:cNvPr id="13" name="Text 11"/>
          <p:cNvSpPr txBox="1"/>
          <p:nvPr/>
        </p:nvSpPr>
        <p:spPr>
          <a:xfrm>
            <a:off x="5208880" y="4407408"/>
            <a:ext cx="1773936" cy="685800"/>
          </a:xfrm>
          <a:prstGeom prst="rect">
            <a:avLst/>
          </a:prstGeom>
          <a:noFill/>
          <a:ln/>
        </p:spPr>
        <p:txBody>
          <a:bodyPr wrap="square" lIns="0" tIns="0" rIns="0" bIns="0" rtlCol="0" anchor="t"/>
          <a:lstStyle/>
          <a:p>
            <a:pPr indent="0" marL="0">
              <a:buNone/>
            </a:pPr>
            <a:r>
              <a:rPr lang="en-US" sz="1500" b="1" dirty="0">
                <a:solidFill>
                  <a:schemeClr val="bg1"/>
                </a:solidFill>
              </a:rPr>
              <a:t>Run small, supervised trials</a:t>
            </a:r>
            <a:endParaRPr lang="en-US" sz="1500" dirty="0"/>
          </a:p>
        </p:txBody>
      </p:sp>
      <p:sp>
        <p:nvSpPr>
          <p:cNvPr id="14" name="Text 12"/>
          <p:cNvSpPr txBox="1"/>
          <p:nvPr/>
        </p:nvSpPr>
        <p:spPr>
          <a:xfrm>
            <a:off x="5044288" y="2423160"/>
            <a:ext cx="2103120" cy="1325880"/>
          </a:xfrm>
          <a:prstGeom prst="rect">
            <a:avLst/>
          </a:prstGeom>
          <a:noFill/>
          <a:ln/>
        </p:spPr>
        <p:txBody>
          <a:bodyPr wrap="square" lIns="0" tIns="0" rIns="0" bIns="0" rtlCol="0" anchor="b"/>
          <a:lstStyle/>
          <a:p>
            <a:pPr indent="0" marL="0">
              <a:buNone/>
            </a:pPr>
            <a:r>
              <a:rPr lang="en-US" sz="1300" b="1" dirty="0">
                <a:solidFill>
                  <a:schemeClr val="tx2"/>
                </a:solidFill>
              </a:rPr>
              <a:t>Assistive Pilots</a:t>
            </a:r>
            <a:endParaRPr lang="en-US" sz="1300" dirty="0"/>
          </a:p>
          <a:p>
            <a:pPr indent="0" marL="0">
              <a:buNone/>
            </a:pPr>
            <a:r>
              <a:rPr lang="en-US" sz="1300" dirty="0">
                <a:solidFill>
                  <a:schemeClr val="tx1"/>
                </a:solidFill>
              </a:rPr>
              <a:t>One narrow trial where AI assists people and a human checks every result.</a:t>
            </a:r>
            <a:endParaRPr lang="en-US" sz="1300" dirty="0"/>
          </a:p>
        </p:txBody>
      </p:sp>
      <p:sp>
        <p:nvSpPr>
          <p:cNvPr id="15" name="stair-step-4"/>
          <p:cNvSpPr/>
          <p:nvPr/>
        </p:nvSpPr>
        <p:spPr>
          <a:xfrm>
            <a:off x="7292111" y="3337560"/>
            <a:ext cx="2103120" cy="2834640"/>
          </a:xfrm>
          <a:prstGeom prst="rect">
            <a:avLst/>
          </a:prstGeom>
          <a:solidFill>
            <a:schemeClr val="tx2">
              <a:alpha val="88000"/>
            </a:schemeClr>
          </a:solidFill>
          <a:ln w="12700">
            <a:solidFill>
              <a:schemeClr val="tx2">
                <a:alpha val="0"/>
              </a:schemeClr>
            </a:solidFill>
            <a:prstDash val="solid"/>
          </a:ln>
        </p:spPr>
      </p:sp>
      <p:sp>
        <p:nvSpPr>
          <p:cNvPr id="16" name="Text 14"/>
          <p:cNvSpPr txBox="1"/>
          <p:nvPr/>
        </p:nvSpPr>
        <p:spPr>
          <a:xfrm>
            <a:off x="7456703" y="3447288"/>
            <a:ext cx="548640" cy="457200"/>
          </a:xfrm>
          <a:prstGeom prst="rect">
            <a:avLst/>
          </a:prstGeom>
          <a:noFill/>
          <a:ln/>
        </p:spPr>
        <p:txBody>
          <a:bodyPr wrap="square" lIns="0" tIns="0" rIns="0" bIns="0" rtlCol="0" anchor="t"/>
          <a:lstStyle/>
          <a:p>
            <a:pPr indent="0" marL="0">
              <a:buNone/>
            </a:pPr>
            <a:r>
              <a:rPr lang="en-US" sz="2800" b="1" dirty="0">
                <a:solidFill>
                  <a:schemeClr val="bg1"/>
                </a:solidFill>
                <a:latin typeface="+mj-lt" pitchFamily="34" charset="0"/>
                <a:ea typeface="+mj-lt" pitchFamily="34" charset="-122"/>
                <a:cs typeface="+mj-lt" pitchFamily="34" charset="-120"/>
              </a:rPr>
              <a:t>4</a:t>
            </a:r>
            <a:endParaRPr lang="en-US" sz="2800" dirty="0"/>
          </a:p>
        </p:txBody>
      </p:sp>
      <p:sp>
        <p:nvSpPr>
          <p:cNvPr id="17" name="Text 15"/>
          <p:cNvSpPr txBox="1"/>
          <p:nvPr/>
        </p:nvSpPr>
        <p:spPr>
          <a:xfrm>
            <a:off x="7456703" y="3904488"/>
            <a:ext cx="1773936" cy="685800"/>
          </a:xfrm>
          <a:prstGeom prst="rect">
            <a:avLst/>
          </a:prstGeom>
          <a:noFill/>
          <a:ln/>
        </p:spPr>
        <p:txBody>
          <a:bodyPr wrap="square" lIns="0" tIns="0" rIns="0" bIns="0" rtlCol="0" anchor="t"/>
          <a:lstStyle/>
          <a:p>
            <a:pPr indent="0" marL="0">
              <a:buNone/>
            </a:pPr>
            <a:r>
              <a:rPr lang="en-US" sz="1500" b="1" dirty="0">
                <a:solidFill>
                  <a:schemeClr val="bg1"/>
                </a:solidFill>
              </a:rPr>
              <a:t>Rebuild how the work gets done</a:t>
            </a:r>
            <a:endParaRPr lang="en-US" sz="1500" dirty="0"/>
          </a:p>
        </p:txBody>
      </p:sp>
      <p:sp>
        <p:nvSpPr>
          <p:cNvPr id="18" name="Text 16"/>
          <p:cNvSpPr txBox="1"/>
          <p:nvPr/>
        </p:nvSpPr>
        <p:spPr>
          <a:xfrm>
            <a:off x="7292111" y="1920240"/>
            <a:ext cx="2103120" cy="1325880"/>
          </a:xfrm>
          <a:prstGeom prst="rect">
            <a:avLst/>
          </a:prstGeom>
          <a:noFill/>
          <a:ln/>
        </p:spPr>
        <p:txBody>
          <a:bodyPr wrap="square" lIns="0" tIns="0" rIns="0" bIns="0" rtlCol="0" anchor="b"/>
          <a:lstStyle/>
          <a:p>
            <a:pPr indent="0" marL="0">
              <a:buNone/>
            </a:pPr>
            <a:r>
              <a:rPr lang="en-US" sz="1300" b="1" dirty="0">
                <a:solidFill>
                  <a:schemeClr val="tx2"/>
                </a:solidFill>
              </a:rPr>
              <a:t>Workflow Redesign</a:t>
            </a:r>
            <a:endParaRPr lang="en-US" sz="1300" dirty="0"/>
          </a:p>
          <a:p>
            <a:pPr indent="0" marL="0">
              <a:buNone/>
            </a:pPr>
            <a:r>
              <a:rPr lang="en-US" sz="1300" dirty="0">
                <a:solidFill>
                  <a:schemeClr val="tx1"/>
                </a:solidFill>
              </a:rPr>
              <a:t>Redesign approvals and handoffs around AI, retrain teams, roll out in stages.</a:t>
            </a:r>
            <a:endParaRPr lang="en-US" sz="1300" dirty="0"/>
          </a:p>
        </p:txBody>
      </p:sp>
      <p:sp>
        <p:nvSpPr>
          <p:cNvPr id="19" name="stair-step-5"/>
          <p:cNvSpPr/>
          <p:nvPr/>
        </p:nvSpPr>
        <p:spPr>
          <a:xfrm>
            <a:off x="9539935" y="2834640"/>
            <a:ext cx="2103120" cy="3337560"/>
          </a:xfrm>
          <a:prstGeom prst="rect">
            <a:avLst/>
          </a:prstGeom>
          <a:solidFill>
            <a:schemeClr val="tx2"/>
          </a:solidFill>
          <a:ln w="12700">
            <a:solidFill>
              <a:schemeClr val="tx2">
                <a:alpha val="0"/>
              </a:schemeClr>
            </a:solidFill>
            <a:prstDash val="solid"/>
          </a:ln>
        </p:spPr>
      </p:sp>
      <p:sp>
        <p:nvSpPr>
          <p:cNvPr id="20" name="Text 18"/>
          <p:cNvSpPr txBox="1"/>
          <p:nvPr/>
        </p:nvSpPr>
        <p:spPr>
          <a:xfrm>
            <a:off x="9704527" y="2944368"/>
            <a:ext cx="548640" cy="457200"/>
          </a:xfrm>
          <a:prstGeom prst="rect">
            <a:avLst/>
          </a:prstGeom>
          <a:noFill/>
          <a:ln/>
        </p:spPr>
        <p:txBody>
          <a:bodyPr wrap="square" lIns="0" tIns="0" rIns="0" bIns="0" rtlCol="0" anchor="t"/>
          <a:lstStyle/>
          <a:p>
            <a:pPr indent="0" marL="0">
              <a:buNone/>
            </a:pPr>
            <a:r>
              <a:rPr lang="en-US" sz="2800" b="1" dirty="0">
                <a:solidFill>
                  <a:schemeClr val="bg1"/>
                </a:solidFill>
                <a:latin typeface="+mj-lt" pitchFamily="34" charset="0"/>
                <a:ea typeface="+mj-lt" pitchFamily="34" charset="-122"/>
                <a:cs typeface="+mj-lt" pitchFamily="34" charset="-120"/>
              </a:rPr>
              <a:t>5</a:t>
            </a:r>
            <a:endParaRPr lang="en-US" sz="2800" dirty="0"/>
          </a:p>
        </p:txBody>
      </p:sp>
      <p:sp>
        <p:nvSpPr>
          <p:cNvPr id="21" name="Text 19"/>
          <p:cNvSpPr txBox="1"/>
          <p:nvPr/>
        </p:nvSpPr>
        <p:spPr>
          <a:xfrm>
            <a:off x="9704527" y="3401568"/>
            <a:ext cx="1773936" cy="685800"/>
          </a:xfrm>
          <a:prstGeom prst="rect">
            <a:avLst/>
          </a:prstGeom>
          <a:noFill/>
          <a:ln/>
        </p:spPr>
        <p:txBody>
          <a:bodyPr wrap="square" lIns="0" tIns="0" rIns="0" bIns="0" rtlCol="0" anchor="t"/>
          <a:lstStyle/>
          <a:p>
            <a:pPr indent="0" marL="0">
              <a:buNone/>
            </a:pPr>
            <a:r>
              <a:rPr lang="en-US" sz="1500" b="1" dirty="0">
                <a:solidFill>
                  <a:schemeClr val="bg1"/>
                </a:solidFill>
              </a:rPr>
              <a:t>Let AI act on its own, within limits</a:t>
            </a:r>
            <a:endParaRPr lang="en-US" sz="1500" dirty="0"/>
          </a:p>
        </p:txBody>
      </p:sp>
      <p:sp>
        <p:nvSpPr>
          <p:cNvPr id="22" name="Text 20"/>
          <p:cNvSpPr txBox="1"/>
          <p:nvPr/>
        </p:nvSpPr>
        <p:spPr>
          <a:xfrm>
            <a:off x="9539935" y="1417320"/>
            <a:ext cx="2103120" cy="1325880"/>
          </a:xfrm>
          <a:prstGeom prst="rect">
            <a:avLst/>
          </a:prstGeom>
          <a:noFill/>
          <a:ln/>
        </p:spPr>
        <p:txBody>
          <a:bodyPr wrap="square" lIns="0" tIns="0" rIns="0" bIns="0" rtlCol="0" anchor="b"/>
          <a:lstStyle/>
          <a:p>
            <a:pPr indent="0" marL="0">
              <a:buNone/>
            </a:pPr>
            <a:r>
              <a:rPr lang="en-US" sz="1300" b="1" dirty="0">
                <a:solidFill>
                  <a:schemeClr val="tx2"/>
                </a:solidFill>
              </a:rPr>
              <a:t>Bounded Action Systems</a:t>
            </a:r>
            <a:endParaRPr lang="en-US" sz="1300" dirty="0"/>
          </a:p>
          <a:p>
            <a:pPr indent="0" marL="0">
              <a:buNone/>
            </a:pPr>
            <a:r>
              <a:rPr lang="en-US" sz="1300" dirty="0">
                <a:solidFill>
                  <a:schemeClr val="tx1"/>
                </a:solidFill>
              </a:rPr>
              <a:t>Define exactly what AI may do, escalation to humans, full audit trails.</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31520"/>
          </a:xfrm>
          <a:prstGeom prst="rect">
            <a:avLst/>
          </a:prstGeom>
          <a:noFill/>
          <a:ln/>
        </p:spPr>
        <p:txBody>
          <a:bodyPr wrap="square" lIns="0" tIns="0" rIns="0" bIns="0" rtlCol="0" anchor="ctr"/>
          <a:lstStyle/>
          <a:p>
            <a:pPr algn="l" indent="0" marL="0">
              <a:buNone/>
            </a:pPr>
            <a:r>
              <a:rPr lang="en-US" sz="3600" b="1" dirty="0">
                <a:solidFill>
                  <a:schemeClr val="tx1"/>
                </a:solidFill>
              </a:rPr>
              <a:t>Deal-breakers: you can’t skip steps</a:t>
            </a:r>
            <a:endParaRPr lang="en-US" sz="3600" dirty="0"/>
          </a:p>
        </p:txBody>
      </p:sp>
      <p:sp>
        <p:nvSpPr>
          <p:cNvPr id="3" name="Text 1"/>
          <p:cNvSpPr txBox="1"/>
          <p:nvPr/>
        </p:nvSpPr>
        <p:spPr>
          <a:xfrm>
            <a:off x="548640" y="1417320"/>
            <a:ext cx="2743200" cy="320040"/>
          </a:xfrm>
          <a:prstGeom prst="rect">
            <a:avLst/>
          </a:prstGeom>
          <a:noFill/>
          <a:ln/>
        </p:spPr>
        <p:txBody>
          <a:bodyPr wrap="square" lIns="0" tIns="0" rIns="0" bIns="0" rtlCol="0" anchor="t"/>
          <a:lstStyle/>
          <a:p>
            <a:pPr indent="0" marL="0">
              <a:buNone/>
            </a:pPr>
            <a:r>
              <a:rPr lang="en-US" sz="1400" b="1" dirty="0">
                <a:solidFill>
                  <a:schemeClr val="accent6"/>
                </a:solidFill>
              </a:rPr>
              <a:t>If this is weak…</a:t>
            </a:r>
            <a:endParaRPr lang="en-US" sz="1400" dirty="0"/>
          </a:p>
        </p:txBody>
      </p:sp>
      <p:sp>
        <p:nvSpPr>
          <p:cNvPr id="4" name="Text 2"/>
          <p:cNvSpPr txBox="1"/>
          <p:nvPr/>
        </p:nvSpPr>
        <p:spPr>
          <a:xfrm>
            <a:off x="3383280" y="1417320"/>
            <a:ext cx="4114800" cy="320040"/>
          </a:xfrm>
          <a:prstGeom prst="rect">
            <a:avLst/>
          </a:prstGeom>
          <a:noFill/>
          <a:ln/>
        </p:spPr>
        <p:txBody>
          <a:bodyPr wrap="square" lIns="0" tIns="0" rIns="0" bIns="0" rtlCol="0" anchor="t"/>
          <a:lstStyle/>
          <a:p>
            <a:pPr indent="0" marL="0">
              <a:buNone/>
            </a:pPr>
            <a:r>
              <a:rPr lang="en-US" sz="1400" b="1" dirty="0">
                <a:solidFill>
                  <a:schemeClr val="accent6"/>
                </a:solidFill>
              </a:rPr>
              <a:t>…the recommendation can’t go past</a:t>
            </a:r>
            <a:endParaRPr lang="en-US" sz="1400" dirty="0"/>
          </a:p>
        </p:txBody>
      </p:sp>
      <p:sp>
        <p:nvSpPr>
          <p:cNvPr id="5" name="Text 3"/>
          <p:cNvSpPr txBox="1"/>
          <p:nvPr/>
        </p:nvSpPr>
        <p:spPr>
          <a:xfrm>
            <a:off x="3383280" y="1783080"/>
            <a:ext cx="749808" cy="274320"/>
          </a:xfrm>
          <a:prstGeom prst="rect">
            <a:avLst/>
          </a:prstGeom>
          <a:noFill/>
          <a:ln/>
        </p:spPr>
        <p:txBody>
          <a:bodyPr wrap="square" lIns="0" tIns="0" rIns="0" bIns="0" rtlCol="0" anchor="t"/>
          <a:lstStyle/>
          <a:p>
            <a:pPr algn="ctr" indent="0" marL="0">
              <a:buNone/>
            </a:pPr>
            <a:r>
              <a:rPr lang="en-US" sz="1200" b="1" dirty="0">
                <a:solidFill>
                  <a:schemeClr val="accent6"/>
                </a:solidFill>
              </a:rPr>
              <a:t>Step 1</a:t>
            </a:r>
            <a:endParaRPr lang="en-US" sz="1200" dirty="0"/>
          </a:p>
        </p:txBody>
      </p:sp>
      <p:sp>
        <p:nvSpPr>
          <p:cNvPr id="6" name="Text 4"/>
          <p:cNvSpPr txBox="1"/>
          <p:nvPr/>
        </p:nvSpPr>
        <p:spPr>
          <a:xfrm>
            <a:off x="4206240" y="1783080"/>
            <a:ext cx="749808" cy="274320"/>
          </a:xfrm>
          <a:prstGeom prst="rect">
            <a:avLst/>
          </a:prstGeom>
          <a:noFill/>
          <a:ln/>
        </p:spPr>
        <p:txBody>
          <a:bodyPr wrap="square" lIns="0" tIns="0" rIns="0" bIns="0" rtlCol="0" anchor="t"/>
          <a:lstStyle/>
          <a:p>
            <a:pPr algn="ctr" indent="0" marL="0">
              <a:buNone/>
            </a:pPr>
            <a:r>
              <a:rPr lang="en-US" sz="1200" b="1" dirty="0">
                <a:solidFill>
                  <a:schemeClr val="accent6"/>
                </a:solidFill>
              </a:rPr>
              <a:t>Step 2</a:t>
            </a:r>
            <a:endParaRPr lang="en-US" sz="1200" dirty="0"/>
          </a:p>
        </p:txBody>
      </p:sp>
      <p:sp>
        <p:nvSpPr>
          <p:cNvPr id="7" name="Text 5"/>
          <p:cNvSpPr txBox="1"/>
          <p:nvPr/>
        </p:nvSpPr>
        <p:spPr>
          <a:xfrm>
            <a:off x="5029200" y="1783080"/>
            <a:ext cx="749808" cy="274320"/>
          </a:xfrm>
          <a:prstGeom prst="rect">
            <a:avLst/>
          </a:prstGeom>
          <a:noFill/>
          <a:ln/>
        </p:spPr>
        <p:txBody>
          <a:bodyPr wrap="square" lIns="0" tIns="0" rIns="0" bIns="0" rtlCol="0" anchor="t"/>
          <a:lstStyle/>
          <a:p>
            <a:pPr algn="ctr" indent="0" marL="0">
              <a:buNone/>
            </a:pPr>
            <a:r>
              <a:rPr lang="en-US" sz="1200" b="1" dirty="0">
                <a:solidFill>
                  <a:schemeClr val="accent6"/>
                </a:solidFill>
              </a:rPr>
              <a:t>Step 3</a:t>
            </a:r>
            <a:endParaRPr lang="en-US" sz="1200" dirty="0"/>
          </a:p>
        </p:txBody>
      </p:sp>
      <p:sp>
        <p:nvSpPr>
          <p:cNvPr id="8" name="Text 6"/>
          <p:cNvSpPr txBox="1"/>
          <p:nvPr/>
        </p:nvSpPr>
        <p:spPr>
          <a:xfrm>
            <a:off x="5852160" y="1783080"/>
            <a:ext cx="749808" cy="274320"/>
          </a:xfrm>
          <a:prstGeom prst="rect">
            <a:avLst/>
          </a:prstGeom>
          <a:noFill/>
          <a:ln/>
        </p:spPr>
        <p:txBody>
          <a:bodyPr wrap="square" lIns="0" tIns="0" rIns="0" bIns="0" rtlCol="0" anchor="t"/>
          <a:lstStyle/>
          <a:p>
            <a:pPr algn="ctr" indent="0" marL="0">
              <a:buNone/>
            </a:pPr>
            <a:r>
              <a:rPr lang="en-US" sz="1200" b="1" dirty="0">
                <a:solidFill>
                  <a:schemeClr val="accent6"/>
                </a:solidFill>
              </a:rPr>
              <a:t>Step 4</a:t>
            </a:r>
            <a:endParaRPr lang="en-US" sz="1200" dirty="0"/>
          </a:p>
        </p:txBody>
      </p:sp>
      <p:sp>
        <p:nvSpPr>
          <p:cNvPr id="9" name="Text 7"/>
          <p:cNvSpPr txBox="1"/>
          <p:nvPr/>
        </p:nvSpPr>
        <p:spPr>
          <a:xfrm>
            <a:off x="6675120" y="1783080"/>
            <a:ext cx="749808" cy="274320"/>
          </a:xfrm>
          <a:prstGeom prst="rect">
            <a:avLst/>
          </a:prstGeom>
          <a:noFill/>
          <a:ln/>
        </p:spPr>
        <p:txBody>
          <a:bodyPr wrap="square" lIns="0" tIns="0" rIns="0" bIns="0" rtlCol="0" anchor="t"/>
          <a:lstStyle/>
          <a:p>
            <a:pPr algn="ctr" indent="0" marL="0">
              <a:buNone/>
            </a:pPr>
            <a:r>
              <a:rPr lang="en-US" sz="1200" b="1" dirty="0">
                <a:solidFill>
                  <a:schemeClr val="accent6"/>
                </a:solidFill>
              </a:rPr>
              <a:t>Step 5</a:t>
            </a:r>
            <a:endParaRPr lang="en-US" sz="1200" dirty="0"/>
          </a:p>
        </p:txBody>
      </p:sp>
      <p:sp>
        <p:nvSpPr>
          <p:cNvPr id="10" name="Text 8"/>
          <p:cNvSpPr txBox="1"/>
          <p:nvPr/>
        </p:nvSpPr>
        <p:spPr>
          <a:xfrm>
            <a:off x="548640" y="2148840"/>
            <a:ext cx="2743200" cy="685800"/>
          </a:xfrm>
          <a:prstGeom prst="rect">
            <a:avLst/>
          </a:prstGeom>
          <a:noFill/>
          <a:ln/>
        </p:spPr>
        <p:txBody>
          <a:bodyPr wrap="square" lIns="0" tIns="0" rIns="0" bIns="0" rtlCol="0" anchor="ctr"/>
          <a:lstStyle/>
          <a:p>
            <a:pPr indent="0" marL="0">
              <a:buNone/>
            </a:pPr>
            <a:r>
              <a:rPr lang="en-US" sz="1600" b="1" dirty="0">
                <a:solidFill>
                  <a:schemeClr val="tx1"/>
                </a:solidFill>
              </a:rPr>
              <a:t>Leadership &amp; AI Strategy</a:t>
            </a:r>
            <a:endParaRPr lang="en-US" sz="1600" dirty="0"/>
          </a:p>
        </p:txBody>
      </p:sp>
      <p:sp>
        <p:nvSpPr>
          <p:cNvPr id="11" name="Shape 9"/>
          <p:cNvSpPr/>
          <p:nvPr/>
        </p:nvSpPr>
        <p:spPr>
          <a:xfrm>
            <a:off x="3383280" y="2148840"/>
            <a:ext cx="749808" cy="685800"/>
          </a:xfrm>
          <a:prstGeom prst="rect">
            <a:avLst/>
          </a:prstGeom>
          <a:solidFill>
            <a:schemeClr val="accent4">
              <a:alpha val="18000"/>
            </a:schemeClr>
          </a:solidFill>
          <a:ln w="19050">
            <a:solidFill>
              <a:schemeClr val="accent4"/>
            </a:solidFill>
            <a:prstDash val="solid"/>
          </a:ln>
        </p:spPr>
      </p:sp>
      <p:sp>
        <p:nvSpPr>
          <p:cNvPr id="12" name="Text 10"/>
          <p:cNvSpPr txBox="1"/>
          <p:nvPr/>
        </p:nvSpPr>
        <p:spPr>
          <a:xfrm>
            <a:off x="3383280" y="2148840"/>
            <a:ext cx="749808" cy="685800"/>
          </a:xfrm>
          <a:prstGeom prst="rect">
            <a:avLst/>
          </a:prstGeom>
          <a:noFill/>
          <a:ln/>
        </p:spPr>
        <p:txBody>
          <a:bodyPr wrap="square" lIns="0" tIns="0" rIns="0" bIns="0" rtlCol="0" anchor="ctr"/>
          <a:lstStyle/>
          <a:p>
            <a:pPr algn="ctr" indent="0" marL="0">
              <a:buNone/>
            </a:pPr>
            <a:r>
              <a:rPr lang="en-US" sz="1100" b="1" dirty="0">
                <a:solidFill>
                  <a:schemeClr val="accent4"/>
                </a:solidFill>
              </a:rPr>
              <a:t>LIMIT</a:t>
            </a:r>
            <a:endParaRPr lang="en-US" sz="1100" dirty="0"/>
          </a:p>
        </p:txBody>
      </p:sp>
      <p:sp>
        <p:nvSpPr>
          <p:cNvPr id="13" name="Shape 11"/>
          <p:cNvSpPr/>
          <p:nvPr/>
        </p:nvSpPr>
        <p:spPr>
          <a:xfrm>
            <a:off x="4206240" y="2148840"/>
            <a:ext cx="749808" cy="685800"/>
          </a:xfrm>
          <a:prstGeom prst="rect">
            <a:avLst/>
          </a:prstGeom>
          <a:solidFill>
            <a:schemeClr val="accent2">
              <a:alpha val="12000"/>
            </a:schemeClr>
          </a:solidFill>
          <a:ln w="12700">
            <a:solidFill>
              <a:schemeClr val="accent2"/>
            </a:solidFill>
            <a:prstDash val="dash"/>
          </a:ln>
        </p:spPr>
      </p:sp>
      <p:sp>
        <p:nvSpPr>
          <p:cNvPr id="14" name="Text 12"/>
          <p:cNvSpPr txBox="1"/>
          <p:nvPr/>
        </p:nvSpPr>
        <p:spPr>
          <a:xfrm>
            <a:off x="4206240" y="2148840"/>
            <a:ext cx="749808" cy="685800"/>
          </a:xfrm>
          <a:prstGeom prst="rect">
            <a:avLst/>
          </a:prstGeom>
          <a:noFill/>
          <a:ln/>
        </p:spPr>
        <p:txBody>
          <a:bodyPr wrap="square" lIns="0" tIns="0" rIns="0" bIns="0" rtlCol="0" anchor="ctr"/>
          <a:lstStyle/>
          <a:p>
            <a:pPr algn="ctr" indent="0" marL="0">
              <a:buNone/>
            </a:pPr>
            <a:r>
              <a:rPr lang="en-US" sz="1800" b="1" dirty="0">
                <a:solidFill>
                  <a:schemeClr val="accent2"/>
                </a:solidFill>
              </a:rPr>
              <a:t>×</a:t>
            </a:r>
            <a:endParaRPr lang="en-US" sz="1800" dirty="0"/>
          </a:p>
        </p:txBody>
      </p:sp>
      <p:sp>
        <p:nvSpPr>
          <p:cNvPr id="15" name="Shape 13"/>
          <p:cNvSpPr/>
          <p:nvPr/>
        </p:nvSpPr>
        <p:spPr>
          <a:xfrm>
            <a:off x="5029200" y="2148840"/>
            <a:ext cx="749808" cy="685800"/>
          </a:xfrm>
          <a:prstGeom prst="rect">
            <a:avLst/>
          </a:prstGeom>
          <a:solidFill>
            <a:schemeClr val="accent2">
              <a:alpha val="12000"/>
            </a:schemeClr>
          </a:solidFill>
          <a:ln w="12700">
            <a:solidFill>
              <a:schemeClr val="accent2"/>
            </a:solidFill>
            <a:prstDash val="dash"/>
          </a:ln>
        </p:spPr>
      </p:sp>
      <p:sp>
        <p:nvSpPr>
          <p:cNvPr id="16" name="Text 14"/>
          <p:cNvSpPr txBox="1"/>
          <p:nvPr/>
        </p:nvSpPr>
        <p:spPr>
          <a:xfrm>
            <a:off x="5029200" y="2148840"/>
            <a:ext cx="749808" cy="685800"/>
          </a:xfrm>
          <a:prstGeom prst="rect">
            <a:avLst/>
          </a:prstGeom>
          <a:noFill/>
          <a:ln/>
        </p:spPr>
        <p:txBody>
          <a:bodyPr wrap="square" lIns="0" tIns="0" rIns="0" bIns="0" rtlCol="0" anchor="ctr"/>
          <a:lstStyle/>
          <a:p>
            <a:pPr algn="ctr" indent="0" marL="0">
              <a:buNone/>
            </a:pPr>
            <a:r>
              <a:rPr lang="en-US" sz="1800" b="1" dirty="0">
                <a:solidFill>
                  <a:schemeClr val="accent2"/>
                </a:solidFill>
              </a:rPr>
              <a:t>×</a:t>
            </a:r>
            <a:endParaRPr lang="en-US" sz="1800" dirty="0"/>
          </a:p>
        </p:txBody>
      </p:sp>
      <p:sp>
        <p:nvSpPr>
          <p:cNvPr id="17" name="Shape 15"/>
          <p:cNvSpPr/>
          <p:nvPr/>
        </p:nvSpPr>
        <p:spPr>
          <a:xfrm>
            <a:off x="5852160" y="2148840"/>
            <a:ext cx="749808" cy="685800"/>
          </a:xfrm>
          <a:prstGeom prst="rect">
            <a:avLst/>
          </a:prstGeom>
          <a:solidFill>
            <a:schemeClr val="accent2">
              <a:alpha val="12000"/>
            </a:schemeClr>
          </a:solidFill>
          <a:ln w="12700">
            <a:solidFill>
              <a:schemeClr val="accent2"/>
            </a:solidFill>
            <a:prstDash val="dash"/>
          </a:ln>
        </p:spPr>
      </p:sp>
      <p:sp>
        <p:nvSpPr>
          <p:cNvPr id="18" name="Text 16"/>
          <p:cNvSpPr txBox="1"/>
          <p:nvPr/>
        </p:nvSpPr>
        <p:spPr>
          <a:xfrm>
            <a:off x="5852160" y="2148840"/>
            <a:ext cx="749808" cy="685800"/>
          </a:xfrm>
          <a:prstGeom prst="rect">
            <a:avLst/>
          </a:prstGeom>
          <a:noFill/>
          <a:ln/>
        </p:spPr>
        <p:txBody>
          <a:bodyPr wrap="square" lIns="0" tIns="0" rIns="0" bIns="0" rtlCol="0" anchor="ctr"/>
          <a:lstStyle/>
          <a:p>
            <a:pPr algn="ctr" indent="0" marL="0">
              <a:buNone/>
            </a:pPr>
            <a:r>
              <a:rPr lang="en-US" sz="1800" b="1" dirty="0">
                <a:solidFill>
                  <a:schemeClr val="accent2"/>
                </a:solidFill>
              </a:rPr>
              <a:t>×</a:t>
            </a:r>
            <a:endParaRPr lang="en-US" sz="1800" dirty="0"/>
          </a:p>
        </p:txBody>
      </p:sp>
      <p:sp>
        <p:nvSpPr>
          <p:cNvPr id="19" name="Shape 17"/>
          <p:cNvSpPr/>
          <p:nvPr/>
        </p:nvSpPr>
        <p:spPr>
          <a:xfrm>
            <a:off x="6675120" y="2148840"/>
            <a:ext cx="749808" cy="685800"/>
          </a:xfrm>
          <a:prstGeom prst="rect">
            <a:avLst/>
          </a:prstGeom>
          <a:solidFill>
            <a:schemeClr val="accent2">
              <a:alpha val="12000"/>
            </a:schemeClr>
          </a:solidFill>
          <a:ln w="12700">
            <a:solidFill>
              <a:schemeClr val="accent2"/>
            </a:solidFill>
            <a:prstDash val="dash"/>
          </a:ln>
        </p:spPr>
      </p:sp>
      <p:sp>
        <p:nvSpPr>
          <p:cNvPr id="20" name="Text 18"/>
          <p:cNvSpPr txBox="1"/>
          <p:nvPr/>
        </p:nvSpPr>
        <p:spPr>
          <a:xfrm>
            <a:off x="6675120" y="2148840"/>
            <a:ext cx="749808" cy="685800"/>
          </a:xfrm>
          <a:prstGeom prst="rect">
            <a:avLst/>
          </a:prstGeom>
          <a:noFill/>
          <a:ln/>
        </p:spPr>
        <p:txBody>
          <a:bodyPr wrap="square" lIns="0" tIns="0" rIns="0" bIns="0" rtlCol="0" anchor="ctr"/>
          <a:lstStyle/>
          <a:p>
            <a:pPr algn="ctr" indent="0" marL="0">
              <a:buNone/>
            </a:pPr>
            <a:r>
              <a:rPr lang="en-US" sz="1800" b="1" dirty="0">
                <a:solidFill>
                  <a:schemeClr val="accent2"/>
                </a:solidFill>
              </a:rPr>
              <a:t>×</a:t>
            </a:r>
            <a:endParaRPr lang="en-US" sz="1800" dirty="0"/>
          </a:p>
        </p:txBody>
      </p:sp>
      <p:sp>
        <p:nvSpPr>
          <p:cNvPr id="21" name="Text 19"/>
          <p:cNvSpPr txBox="1"/>
          <p:nvPr/>
        </p:nvSpPr>
        <p:spPr>
          <a:xfrm>
            <a:off x="548640" y="2990088"/>
            <a:ext cx="2743200" cy="685800"/>
          </a:xfrm>
          <a:prstGeom prst="rect">
            <a:avLst/>
          </a:prstGeom>
          <a:noFill/>
          <a:ln/>
        </p:spPr>
        <p:txBody>
          <a:bodyPr wrap="square" lIns="0" tIns="0" rIns="0" bIns="0" rtlCol="0" anchor="ctr"/>
          <a:lstStyle/>
          <a:p>
            <a:pPr indent="0" marL="0">
              <a:buNone/>
            </a:pPr>
            <a:r>
              <a:rPr lang="en-US" sz="1600" b="1" dirty="0">
                <a:solidFill>
                  <a:schemeClr val="tx1"/>
                </a:solidFill>
              </a:rPr>
              <a:t>Workflows and Data (both)</a:t>
            </a:r>
            <a:endParaRPr lang="en-US" sz="1600" dirty="0"/>
          </a:p>
        </p:txBody>
      </p:sp>
      <p:sp>
        <p:nvSpPr>
          <p:cNvPr id="22" name="Shape 20"/>
          <p:cNvSpPr/>
          <p:nvPr/>
        </p:nvSpPr>
        <p:spPr>
          <a:xfrm>
            <a:off x="3383280" y="2990088"/>
            <a:ext cx="749808" cy="685800"/>
          </a:xfrm>
          <a:prstGeom prst="rect">
            <a:avLst/>
          </a:prstGeom>
          <a:solidFill>
            <a:schemeClr val="bg2"/>
          </a:solidFill>
          <a:ln w="12700">
            <a:solidFill>
              <a:schemeClr val="bg2"/>
            </a:solidFill>
            <a:prstDash val="solid"/>
          </a:ln>
        </p:spPr>
      </p:sp>
      <p:sp>
        <p:nvSpPr>
          <p:cNvPr id="23" name="Shape 21"/>
          <p:cNvSpPr/>
          <p:nvPr/>
        </p:nvSpPr>
        <p:spPr>
          <a:xfrm>
            <a:off x="4206240" y="2990088"/>
            <a:ext cx="749808" cy="685800"/>
          </a:xfrm>
          <a:prstGeom prst="rect">
            <a:avLst/>
          </a:prstGeom>
          <a:solidFill>
            <a:schemeClr val="accent4">
              <a:alpha val="18000"/>
            </a:schemeClr>
          </a:solidFill>
          <a:ln w="19050">
            <a:solidFill>
              <a:schemeClr val="accent4"/>
            </a:solidFill>
            <a:prstDash val="solid"/>
          </a:ln>
        </p:spPr>
      </p:sp>
      <p:sp>
        <p:nvSpPr>
          <p:cNvPr id="24" name="Text 22"/>
          <p:cNvSpPr txBox="1"/>
          <p:nvPr/>
        </p:nvSpPr>
        <p:spPr>
          <a:xfrm>
            <a:off x="4206240" y="2990088"/>
            <a:ext cx="749808" cy="685800"/>
          </a:xfrm>
          <a:prstGeom prst="rect">
            <a:avLst/>
          </a:prstGeom>
          <a:noFill/>
          <a:ln/>
        </p:spPr>
        <p:txBody>
          <a:bodyPr wrap="square" lIns="0" tIns="0" rIns="0" bIns="0" rtlCol="0" anchor="ctr"/>
          <a:lstStyle/>
          <a:p>
            <a:pPr algn="ctr" indent="0" marL="0">
              <a:buNone/>
            </a:pPr>
            <a:r>
              <a:rPr lang="en-US" sz="1100" b="1" dirty="0">
                <a:solidFill>
                  <a:schemeClr val="accent4"/>
                </a:solidFill>
              </a:rPr>
              <a:t>LIMIT</a:t>
            </a:r>
            <a:endParaRPr lang="en-US" sz="1100" dirty="0"/>
          </a:p>
        </p:txBody>
      </p:sp>
      <p:sp>
        <p:nvSpPr>
          <p:cNvPr id="25" name="Shape 23"/>
          <p:cNvSpPr/>
          <p:nvPr/>
        </p:nvSpPr>
        <p:spPr>
          <a:xfrm>
            <a:off x="5029200" y="2990088"/>
            <a:ext cx="749808" cy="685800"/>
          </a:xfrm>
          <a:prstGeom prst="rect">
            <a:avLst/>
          </a:prstGeom>
          <a:solidFill>
            <a:schemeClr val="accent2">
              <a:alpha val="12000"/>
            </a:schemeClr>
          </a:solidFill>
          <a:ln w="12700">
            <a:solidFill>
              <a:schemeClr val="accent2"/>
            </a:solidFill>
            <a:prstDash val="dash"/>
          </a:ln>
        </p:spPr>
      </p:sp>
      <p:sp>
        <p:nvSpPr>
          <p:cNvPr id="26" name="Text 24"/>
          <p:cNvSpPr txBox="1"/>
          <p:nvPr/>
        </p:nvSpPr>
        <p:spPr>
          <a:xfrm>
            <a:off x="5029200" y="2990088"/>
            <a:ext cx="749808" cy="685800"/>
          </a:xfrm>
          <a:prstGeom prst="rect">
            <a:avLst/>
          </a:prstGeom>
          <a:noFill/>
          <a:ln/>
        </p:spPr>
        <p:txBody>
          <a:bodyPr wrap="square" lIns="0" tIns="0" rIns="0" bIns="0" rtlCol="0" anchor="ctr"/>
          <a:lstStyle/>
          <a:p>
            <a:pPr algn="ctr" indent="0" marL="0">
              <a:buNone/>
            </a:pPr>
            <a:r>
              <a:rPr lang="en-US" sz="1800" b="1" dirty="0">
                <a:solidFill>
                  <a:schemeClr val="accent2"/>
                </a:solidFill>
              </a:rPr>
              <a:t>×</a:t>
            </a:r>
            <a:endParaRPr lang="en-US" sz="1800" dirty="0"/>
          </a:p>
        </p:txBody>
      </p:sp>
      <p:sp>
        <p:nvSpPr>
          <p:cNvPr id="27" name="Shape 25"/>
          <p:cNvSpPr/>
          <p:nvPr/>
        </p:nvSpPr>
        <p:spPr>
          <a:xfrm>
            <a:off x="5852160" y="2990088"/>
            <a:ext cx="749808" cy="685800"/>
          </a:xfrm>
          <a:prstGeom prst="rect">
            <a:avLst/>
          </a:prstGeom>
          <a:solidFill>
            <a:schemeClr val="accent2">
              <a:alpha val="12000"/>
            </a:schemeClr>
          </a:solidFill>
          <a:ln w="12700">
            <a:solidFill>
              <a:schemeClr val="accent2"/>
            </a:solidFill>
            <a:prstDash val="dash"/>
          </a:ln>
        </p:spPr>
      </p:sp>
      <p:sp>
        <p:nvSpPr>
          <p:cNvPr id="28" name="Text 26"/>
          <p:cNvSpPr txBox="1"/>
          <p:nvPr/>
        </p:nvSpPr>
        <p:spPr>
          <a:xfrm>
            <a:off x="5852160" y="2990088"/>
            <a:ext cx="749808" cy="685800"/>
          </a:xfrm>
          <a:prstGeom prst="rect">
            <a:avLst/>
          </a:prstGeom>
          <a:noFill/>
          <a:ln/>
        </p:spPr>
        <p:txBody>
          <a:bodyPr wrap="square" lIns="0" tIns="0" rIns="0" bIns="0" rtlCol="0" anchor="ctr"/>
          <a:lstStyle/>
          <a:p>
            <a:pPr algn="ctr" indent="0" marL="0">
              <a:buNone/>
            </a:pPr>
            <a:r>
              <a:rPr lang="en-US" sz="1800" b="1" dirty="0">
                <a:solidFill>
                  <a:schemeClr val="accent2"/>
                </a:solidFill>
              </a:rPr>
              <a:t>×</a:t>
            </a:r>
            <a:endParaRPr lang="en-US" sz="1800" dirty="0"/>
          </a:p>
        </p:txBody>
      </p:sp>
      <p:sp>
        <p:nvSpPr>
          <p:cNvPr id="29" name="Shape 27"/>
          <p:cNvSpPr/>
          <p:nvPr/>
        </p:nvSpPr>
        <p:spPr>
          <a:xfrm>
            <a:off x="6675120" y="2990088"/>
            <a:ext cx="749808" cy="685800"/>
          </a:xfrm>
          <a:prstGeom prst="rect">
            <a:avLst/>
          </a:prstGeom>
          <a:solidFill>
            <a:schemeClr val="accent2">
              <a:alpha val="12000"/>
            </a:schemeClr>
          </a:solidFill>
          <a:ln w="12700">
            <a:solidFill>
              <a:schemeClr val="accent2"/>
            </a:solidFill>
            <a:prstDash val="dash"/>
          </a:ln>
        </p:spPr>
      </p:sp>
      <p:sp>
        <p:nvSpPr>
          <p:cNvPr id="30" name="Text 28"/>
          <p:cNvSpPr txBox="1"/>
          <p:nvPr/>
        </p:nvSpPr>
        <p:spPr>
          <a:xfrm>
            <a:off x="6675120" y="2990088"/>
            <a:ext cx="749808" cy="685800"/>
          </a:xfrm>
          <a:prstGeom prst="rect">
            <a:avLst/>
          </a:prstGeom>
          <a:noFill/>
          <a:ln/>
        </p:spPr>
        <p:txBody>
          <a:bodyPr wrap="square" lIns="0" tIns="0" rIns="0" bIns="0" rtlCol="0" anchor="ctr"/>
          <a:lstStyle/>
          <a:p>
            <a:pPr algn="ctr" indent="0" marL="0">
              <a:buNone/>
            </a:pPr>
            <a:r>
              <a:rPr lang="en-US" sz="1800" b="1" dirty="0">
                <a:solidFill>
                  <a:schemeClr val="accent2"/>
                </a:solidFill>
              </a:rPr>
              <a:t>×</a:t>
            </a:r>
            <a:endParaRPr lang="en-US" sz="1800" dirty="0"/>
          </a:p>
        </p:txBody>
      </p:sp>
      <p:sp>
        <p:nvSpPr>
          <p:cNvPr id="31" name="Text 29"/>
          <p:cNvSpPr txBox="1"/>
          <p:nvPr/>
        </p:nvSpPr>
        <p:spPr>
          <a:xfrm>
            <a:off x="548640" y="3831336"/>
            <a:ext cx="2743200" cy="685800"/>
          </a:xfrm>
          <a:prstGeom prst="rect">
            <a:avLst/>
          </a:prstGeom>
          <a:noFill/>
          <a:ln/>
        </p:spPr>
        <p:txBody>
          <a:bodyPr wrap="square" lIns="0" tIns="0" rIns="0" bIns="0" rtlCol="0" anchor="ctr"/>
          <a:lstStyle/>
          <a:p>
            <a:pPr indent="0" marL="0">
              <a:buNone/>
            </a:pPr>
            <a:r>
              <a:rPr lang="en-US" sz="1600" b="1" dirty="0">
                <a:solidFill>
                  <a:schemeClr val="tx1"/>
                </a:solidFill>
              </a:rPr>
              <a:t>Oversight</a:t>
            </a:r>
            <a:endParaRPr lang="en-US" sz="1600" dirty="0"/>
          </a:p>
        </p:txBody>
      </p:sp>
      <p:sp>
        <p:nvSpPr>
          <p:cNvPr id="32" name="Shape 30"/>
          <p:cNvSpPr/>
          <p:nvPr/>
        </p:nvSpPr>
        <p:spPr>
          <a:xfrm>
            <a:off x="3383280" y="3831336"/>
            <a:ext cx="749808" cy="685800"/>
          </a:xfrm>
          <a:prstGeom prst="rect">
            <a:avLst/>
          </a:prstGeom>
          <a:solidFill>
            <a:schemeClr val="bg2"/>
          </a:solidFill>
          <a:ln w="12700">
            <a:solidFill>
              <a:schemeClr val="bg2"/>
            </a:solidFill>
            <a:prstDash val="solid"/>
          </a:ln>
        </p:spPr>
      </p:sp>
      <p:sp>
        <p:nvSpPr>
          <p:cNvPr id="33" name="Shape 31"/>
          <p:cNvSpPr/>
          <p:nvPr/>
        </p:nvSpPr>
        <p:spPr>
          <a:xfrm>
            <a:off x="4206240" y="3831336"/>
            <a:ext cx="749808" cy="685800"/>
          </a:xfrm>
          <a:prstGeom prst="rect">
            <a:avLst/>
          </a:prstGeom>
          <a:solidFill>
            <a:schemeClr val="bg2"/>
          </a:solidFill>
          <a:ln w="12700">
            <a:solidFill>
              <a:schemeClr val="bg2"/>
            </a:solidFill>
            <a:prstDash val="solid"/>
          </a:ln>
        </p:spPr>
      </p:sp>
      <p:sp>
        <p:nvSpPr>
          <p:cNvPr id="34" name="Shape 32"/>
          <p:cNvSpPr/>
          <p:nvPr/>
        </p:nvSpPr>
        <p:spPr>
          <a:xfrm>
            <a:off x="5029200" y="3831336"/>
            <a:ext cx="749808" cy="685800"/>
          </a:xfrm>
          <a:prstGeom prst="rect">
            <a:avLst/>
          </a:prstGeom>
          <a:solidFill>
            <a:schemeClr val="accent4">
              <a:alpha val="18000"/>
            </a:schemeClr>
          </a:solidFill>
          <a:ln w="19050">
            <a:solidFill>
              <a:schemeClr val="accent4"/>
            </a:solidFill>
            <a:prstDash val="solid"/>
          </a:ln>
        </p:spPr>
      </p:sp>
      <p:sp>
        <p:nvSpPr>
          <p:cNvPr id="35" name="Text 33"/>
          <p:cNvSpPr txBox="1"/>
          <p:nvPr/>
        </p:nvSpPr>
        <p:spPr>
          <a:xfrm>
            <a:off x="5029200" y="3831336"/>
            <a:ext cx="749808" cy="685800"/>
          </a:xfrm>
          <a:prstGeom prst="rect">
            <a:avLst/>
          </a:prstGeom>
          <a:noFill/>
          <a:ln/>
        </p:spPr>
        <p:txBody>
          <a:bodyPr wrap="square" lIns="0" tIns="0" rIns="0" bIns="0" rtlCol="0" anchor="ctr"/>
          <a:lstStyle/>
          <a:p>
            <a:pPr algn="ctr" indent="0" marL="0">
              <a:buNone/>
            </a:pPr>
            <a:r>
              <a:rPr lang="en-US" sz="1100" b="1" dirty="0">
                <a:solidFill>
                  <a:schemeClr val="accent4"/>
                </a:solidFill>
              </a:rPr>
              <a:t>LIMIT</a:t>
            </a:r>
            <a:endParaRPr lang="en-US" sz="1100" dirty="0"/>
          </a:p>
        </p:txBody>
      </p:sp>
      <p:sp>
        <p:nvSpPr>
          <p:cNvPr id="36" name="Shape 34"/>
          <p:cNvSpPr/>
          <p:nvPr/>
        </p:nvSpPr>
        <p:spPr>
          <a:xfrm>
            <a:off x="5852160" y="3831336"/>
            <a:ext cx="749808" cy="685800"/>
          </a:xfrm>
          <a:prstGeom prst="rect">
            <a:avLst/>
          </a:prstGeom>
          <a:solidFill>
            <a:schemeClr val="accent2">
              <a:alpha val="12000"/>
            </a:schemeClr>
          </a:solidFill>
          <a:ln w="12700">
            <a:solidFill>
              <a:schemeClr val="accent2"/>
            </a:solidFill>
            <a:prstDash val="dash"/>
          </a:ln>
        </p:spPr>
      </p:sp>
      <p:sp>
        <p:nvSpPr>
          <p:cNvPr id="37" name="Text 35"/>
          <p:cNvSpPr txBox="1"/>
          <p:nvPr/>
        </p:nvSpPr>
        <p:spPr>
          <a:xfrm>
            <a:off x="5852160" y="3831336"/>
            <a:ext cx="749808" cy="685800"/>
          </a:xfrm>
          <a:prstGeom prst="rect">
            <a:avLst/>
          </a:prstGeom>
          <a:noFill/>
          <a:ln/>
        </p:spPr>
        <p:txBody>
          <a:bodyPr wrap="square" lIns="0" tIns="0" rIns="0" bIns="0" rtlCol="0" anchor="ctr"/>
          <a:lstStyle/>
          <a:p>
            <a:pPr algn="ctr" indent="0" marL="0">
              <a:buNone/>
            </a:pPr>
            <a:r>
              <a:rPr lang="en-US" sz="1800" b="1" dirty="0">
                <a:solidFill>
                  <a:schemeClr val="accent2"/>
                </a:solidFill>
              </a:rPr>
              <a:t>×</a:t>
            </a:r>
            <a:endParaRPr lang="en-US" sz="1800" dirty="0"/>
          </a:p>
        </p:txBody>
      </p:sp>
      <p:sp>
        <p:nvSpPr>
          <p:cNvPr id="38" name="Shape 36"/>
          <p:cNvSpPr/>
          <p:nvPr/>
        </p:nvSpPr>
        <p:spPr>
          <a:xfrm>
            <a:off x="6675120" y="3831336"/>
            <a:ext cx="749808" cy="685800"/>
          </a:xfrm>
          <a:prstGeom prst="rect">
            <a:avLst/>
          </a:prstGeom>
          <a:solidFill>
            <a:schemeClr val="accent2">
              <a:alpha val="12000"/>
            </a:schemeClr>
          </a:solidFill>
          <a:ln w="12700">
            <a:solidFill>
              <a:schemeClr val="accent2"/>
            </a:solidFill>
            <a:prstDash val="dash"/>
          </a:ln>
        </p:spPr>
      </p:sp>
      <p:sp>
        <p:nvSpPr>
          <p:cNvPr id="39" name="Text 37"/>
          <p:cNvSpPr txBox="1"/>
          <p:nvPr/>
        </p:nvSpPr>
        <p:spPr>
          <a:xfrm>
            <a:off x="6675120" y="3831336"/>
            <a:ext cx="749808" cy="685800"/>
          </a:xfrm>
          <a:prstGeom prst="rect">
            <a:avLst/>
          </a:prstGeom>
          <a:noFill/>
          <a:ln/>
        </p:spPr>
        <p:txBody>
          <a:bodyPr wrap="square" lIns="0" tIns="0" rIns="0" bIns="0" rtlCol="0" anchor="ctr"/>
          <a:lstStyle/>
          <a:p>
            <a:pPr algn="ctr" indent="0" marL="0">
              <a:buNone/>
            </a:pPr>
            <a:r>
              <a:rPr lang="en-US" sz="1800" b="1" dirty="0">
                <a:solidFill>
                  <a:schemeClr val="accent2"/>
                </a:solidFill>
              </a:rPr>
              <a:t>×</a:t>
            </a:r>
            <a:endParaRPr lang="en-US" sz="1800" dirty="0"/>
          </a:p>
        </p:txBody>
      </p:sp>
      <p:sp>
        <p:nvSpPr>
          <p:cNvPr id="40" name="Text 38"/>
          <p:cNvSpPr txBox="1"/>
          <p:nvPr/>
        </p:nvSpPr>
        <p:spPr>
          <a:xfrm>
            <a:off x="548640" y="4672584"/>
            <a:ext cx="2743200" cy="685800"/>
          </a:xfrm>
          <a:prstGeom prst="rect">
            <a:avLst/>
          </a:prstGeom>
          <a:noFill/>
          <a:ln/>
        </p:spPr>
        <p:txBody>
          <a:bodyPr wrap="square" lIns="0" tIns="0" rIns="0" bIns="0" rtlCol="0" anchor="ctr"/>
          <a:lstStyle/>
          <a:p>
            <a:pPr indent="0" marL="0">
              <a:buNone/>
            </a:pPr>
            <a:r>
              <a:rPr lang="en-US" sz="1600" b="1" dirty="0">
                <a:solidFill>
                  <a:schemeClr val="tx1"/>
                </a:solidFill>
              </a:rPr>
              <a:t>Technical Ability</a:t>
            </a:r>
            <a:endParaRPr lang="en-US" sz="1600" dirty="0"/>
          </a:p>
        </p:txBody>
      </p:sp>
      <p:sp>
        <p:nvSpPr>
          <p:cNvPr id="41" name="Shape 39"/>
          <p:cNvSpPr/>
          <p:nvPr/>
        </p:nvSpPr>
        <p:spPr>
          <a:xfrm>
            <a:off x="3383280" y="4672584"/>
            <a:ext cx="749808" cy="685800"/>
          </a:xfrm>
          <a:prstGeom prst="rect">
            <a:avLst/>
          </a:prstGeom>
          <a:solidFill>
            <a:schemeClr val="bg2"/>
          </a:solidFill>
          <a:ln w="12700">
            <a:solidFill>
              <a:schemeClr val="bg2"/>
            </a:solidFill>
            <a:prstDash val="solid"/>
          </a:ln>
        </p:spPr>
      </p:sp>
      <p:sp>
        <p:nvSpPr>
          <p:cNvPr id="42" name="Shape 40"/>
          <p:cNvSpPr/>
          <p:nvPr/>
        </p:nvSpPr>
        <p:spPr>
          <a:xfrm>
            <a:off x="4206240" y="4672584"/>
            <a:ext cx="749808" cy="685800"/>
          </a:xfrm>
          <a:prstGeom prst="rect">
            <a:avLst/>
          </a:prstGeom>
          <a:solidFill>
            <a:schemeClr val="bg2"/>
          </a:solidFill>
          <a:ln w="12700">
            <a:solidFill>
              <a:schemeClr val="bg2"/>
            </a:solidFill>
            <a:prstDash val="solid"/>
          </a:ln>
        </p:spPr>
      </p:sp>
      <p:sp>
        <p:nvSpPr>
          <p:cNvPr id="43" name="Shape 41"/>
          <p:cNvSpPr/>
          <p:nvPr/>
        </p:nvSpPr>
        <p:spPr>
          <a:xfrm>
            <a:off x="5029200" y="4672584"/>
            <a:ext cx="749808" cy="685800"/>
          </a:xfrm>
          <a:prstGeom prst="rect">
            <a:avLst/>
          </a:prstGeom>
          <a:solidFill>
            <a:schemeClr val="bg2"/>
          </a:solidFill>
          <a:ln w="12700">
            <a:solidFill>
              <a:schemeClr val="bg2"/>
            </a:solidFill>
            <a:prstDash val="solid"/>
          </a:ln>
        </p:spPr>
      </p:sp>
      <p:sp>
        <p:nvSpPr>
          <p:cNvPr id="44" name="Shape 42"/>
          <p:cNvSpPr/>
          <p:nvPr/>
        </p:nvSpPr>
        <p:spPr>
          <a:xfrm>
            <a:off x="5852160" y="4672584"/>
            <a:ext cx="749808" cy="685800"/>
          </a:xfrm>
          <a:prstGeom prst="rect">
            <a:avLst/>
          </a:prstGeom>
          <a:solidFill>
            <a:schemeClr val="accent4">
              <a:alpha val="18000"/>
            </a:schemeClr>
          </a:solidFill>
          <a:ln w="19050">
            <a:solidFill>
              <a:schemeClr val="accent4"/>
            </a:solidFill>
            <a:prstDash val="solid"/>
          </a:ln>
        </p:spPr>
      </p:sp>
      <p:sp>
        <p:nvSpPr>
          <p:cNvPr id="45" name="Text 43"/>
          <p:cNvSpPr txBox="1"/>
          <p:nvPr/>
        </p:nvSpPr>
        <p:spPr>
          <a:xfrm>
            <a:off x="5852160" y="4672584"/>
            <a:ext cx="749808" cy="685800"/>
          </a:xfrm>
          <a:prstGeom prst="rect">
            <a:avLst/>
          </a:prstGeom>
          <a:noFill/>
          <a:ln/>
        </p:spPr>
        <p:txBody>
          <a:bodyPr wrap="square" lIns="0" tIns="0" rIns="0" bIns="0" rtlCol="0" anchor="ctr"/>
          <a:lstStyle/>
          <a:p>
            <a:pPr algn="ctr" indent="0" marL="0">
              <a:buNone/>
            </a:pPr>
            <a:r>
              <a:rPr lang="en-US" sz="1100" b="1" dirty="0">
                <a:solidFill>
                  <a:schemeClr val="accent4"/>
                </a:solidFill>
              </a:rPr>
              <a:t>LIMIT</a:t>
            </a:r>
            <a:endParaRPr lang="en-US" sz="1100" dirty="0"/>
          </a:p>
        </p:txBody>
      </p:sp>
      <p:sp>
        <p:nvSpPr>
          <p:cNvPr id="46" name="Shape 44"/>
          <p:cNvSpPr/>
          <p:nvPr/>
        </p:nvSpPr>
        <p:spPr>
          <a:xfrm>
            <a:off x="6675120" y="4672584"/>
            <a:ext cx="749808" cy="685800"/>
          </a:xfrm>
          <a:prstGeom prst="rect">
            <a:avLst/>
          </a:prstGeom>
          <a:solidFill>
            <a:schemeClr val="accent2">
              <a:alpha val="12000"/>
            </a:schemeClr>
          </a:solidFill>
          <a:ln w="12700">
            <a:solidFill>
              <a:schemeClr val="accent2"/>
            </a:solidFill>
            <a:prstDash val="dash"/>
          </a:ln>
        </p:spPr>
      </p:sp>
      <p:sp>
        <p:nvSpPr>
          <p:cNvPr id="47" name="Text 45"/>
          <p:cNvSpPr txBox="1"/>
          <p:nvPr/>
        </p:nvSpPr>
        <p:spPr>
          <a:xfrm>
            <a:off x="6675120" y="4672584"/>
            <a:ext cx="749808" cy="685800"/>
          </a:xfrm>
          <a:prstGeom prst="rect">
            <a:avLst/>
          </a:prstGeom>
          <a:noFill/>
          <a:ln/>
        </p:spPr>
        <p:txBody>
          <a:bodyPr wrap="square" lIns="0" tIns="0" rIns="0" bIns="0" rtlCol="0" anchor="ctr"/>
          <a:lstStyle/>
          <a:p>
            <a:pPr algn="ctr" indent="0" marL="0">
              <a:buNone/>
            </a:pPr>
            <a:r>
              <a:rPr lang="en-US" sz="1800" b="1" dirty="0">
                <a:solidFill>
                  <a:schemeClr val="accent2"/>
                </a:solidFill>
              </a:rPr>
              <a:t>×</a:t>
            </a:r>
            <a:endParaRPr lang="en-US" sz="1800" dirty="0"/>
          </a:p>
        </p:txBody>
      </p:sp>
      <p:sp>
        <p:nvSpPr>
          <p:cNvPr id="48" name="Text 46"/>
          <p:cNvSpPr txBox="1"/>
          <p:nvPr/>
        </p:nvSpPr>
        <p:spPr>
          <a:xfrm>
            <a:off x="548640" y="5577840"/>
            <a:ext cx="6949440" cy="320040"/>
          </a:xfrm>
          <a:prstGeom prst="rect">
            <a:avLst/>
          </a:prstGeom>
          <a:noFill/>
          <a:ln/>
        </p:spPr>
        <p:txBody>
          <a:bodyPr wrap="square" lIns="0" tIns="0" rIns="0" bIns="0" rtlCol="0" anchor="t"/>
          <a:lstStyle/>
          <a:p>
            <a:pPr indent="0" marL="0">
              <a:buNone/>
            </a:pPr>
            <a:r>
              <a:rPr lang="en-US" sz="1300" i="1" dirty="0">
                <a:solidFill>
                  <a:schemeClr val="accent6"/>
                </a:solidFill>
              </a:rPr>
              <a:t>“Weak” means a score of 2 or lower.</a:t>
            </a:r>
            <a:endParaRPr lang="en-US" sz="1300" dirty="0"/>
          </a:p>
        </p:txBody>
      </p:sp>
      <p:sp>
        <p:nvSpPr>
          <p:cNvPr id="49" name="rules-behaviour"/>
          <p:cNvSpPr/>
          <p:nvPr/>
        </p:nvSpPr>
        <p:spPr>
          <a:xfrm>
            <a:off x="7726680" y="1417320"/>
            <a:ext cx="3916375" cy="4480560"/>
          </a:xfrm>
          <a:prstGeom prst="roundRect">
            <a:avLst>
              <a:gd name="adj" fmla="val 1868"/>
            </a:avLst>
          </a:prstGeom>
          <a:solidFill>
            <a:schemeClr val="bg2"/>
          </a:solidFill>
          <a:ln w="12700">
            <a:solidFill>
              <a:schemeClr val="bg2"/>
            </a:solidFill>
            <a:prstDash val="solid"/>
          </a:ln>
        </p:spPr>
      </p:sp>
      <p:sp>
        <p:nvSpPr>
          <p:cNvPr id="50" name="Text 48"/>
          <p:cNvSpPr txBox="1"/>
          <p:nvPr/>
        </p:nvSpPr>
        <p:spPr>
          <a:xfrm>
            <a:off x="8001000" y="1645920"/>
            <a:ext cx="3367735" cy="365760"/>
          </a:xfrm>
          <a:prstGeom prst="rect">
            <a:avLst/>
          </a:prstGeom>
          <a:noFill/>
          <a:ln/>
        </p:spPr>
        <p:txBody>
          <a:bodyPr wrap="square" lIns="0" tIns="0" rIns="0" bIns="0" rtlCol="0" anchor="t"/>
          <a:lstStyle/>
          <a:p>
            <a:pPr indent="0" marL="0">
              <a:buNone/>
            </a:pPr>
            <a:r>
              <a:rPr lang="en-US" sz="1800" b="1" dirty="0">
                <a:solidFill>
                  <a:schemeClr val="tx2"/>
                </a:solidFill>
              </a:rPr>
              <a:t>How the rules behave</a:t>
            </a:r>
            <a:endParaRPr lang="en-US" sz="1800" dirty="0"/>
          </a:p>
        </p:txBody>
      </p:sp>
      <p:sp>
        <p:nvSpPr>
          <p:cNvPr id="51" name="Text 49"/>
          <p:cNvSpPr txBox="1"/>
          <p:nvPr/>
        </p:nvSpPr>
        <p:spPr>
          <a:xfrm>
            <a:off x="8001000" y="2148840"/>
            <a:ext cx="3367735" cy="347472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tx1"/>
                </a:solidFill>
              </a:rPr>
              <a:t>They only ever lower a recommendation. They never raise one.</a:t>
            </a:r>
            <a:endParaRPr lang="en-US" sz="1600" dirty="0"/>
          </a:p>
          <a:p>
            <a:pPr marL="342900" indent="-342900">
              <a:spcAft>
                <a:spcPts val="1200"/>
              </a:spcAft>
              <a:buSzPct val="100000"/>
              <a:buChar char="•"/>
            </a:pPr>
            <a:r>
              <a:rPr lang="en-US" sz="1600" dirty="0">
                <a:solidFill>
                  <a:schemeClr val="tx1"/>
                </a:solidFill>
              </a:rPr>
              <a:t>They’re on by default. Switch them off to see what the company would be ready for once its foundation is fixed.</a:t>
            </a:r>
            <a:endParaRPr lang="en-US" sz="1600" dirty="0"/>
          </a:p>
          <a:p>
            <a:pPr marL="342900" indent="-342900">
              <a:spcAft>
                <a:spcPts val="1200"/>
              </a:spcAft>
              <a:buSzPct val="100000"/>
              <a:buChar char="•"/>
            </a:pPr>
            <a:r>
              <a:rPr lang="en-US" sz="1600" dirty="0">
                <a:solidFill>
                  <a:schemeClr val="tx1"/>
                </a:solidFill>
              </a:rPr>
              <a:t>Missing information is treated as weak, not as fine.</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31520"/>
          </a:xfrm>
          <a:prstGeom prst="rect">
            <a:avLst/>
          </a:prstGeom>
          <a:noFill/>
          <a:ln/>
        </p:spPr>
        <p:txBody>
          <a:bodyPr wrap="square" lIns="0" tIns="0" rIns="0" bIns="0" rtlCol="0" anchor="ctr"/>
          <a:lstStyle/>
          <a:p>
            <a:pPr algn="l" indent="0" marL="0">
              <a:buNone/>
            </a:pPr>
            <a:r>
              <a:rPr lang="en-US" sz="3600" b="1" dirty="0">
                <a:solidFill>
                  <a:schemeClr val="tx1"/>
                </a:solidFill>
              </a:rPr>
              <a:t>A high score can still mean Step 1</a:t>
            </a:r>
            <a:endParaRPr lang="en-US" sz="3600" dirty="0"/>
          </a:p>
        </p:txBody>
      </p:sp>
      <p:sp>
        <p:nvSpPr>
          <p:cNvPr id="3" name="panel-The overall score"/>
          <p:cNvSpPr/>
          <p:nvPr/>
        </p:nvSpPr>
        <p:spPr>
          <a:xfrm>
            <a:off x="548640" y="1417320"/>
            <a:ext cx="5364328" cy="2194560"/>
          </a:xfrm>
          <a:prstGeom prst="roundRect">
            <a:avLst>
              <a:gd name="adj" fmla="val 3333"/>
            </a:avLst>
          </a:prstGeom>
          <a:solidFill>
            <a:schemeClr val="bg2"/>
          </a:solidFill>
          <a:ln w="12700">
            <a:solidFill>
              <a:schemeClr val="bg2"/>
            </a:solidFill>
            <a:prstDash val="solid"/>
          </a:ln>
        </p:spPr>
      </p:sp>
      <p:sp>
        <p:nvSpPr>
          <p:cNvPr id="4" name="Text 2"/>
          <p:cNvSpPr txBox="1"/>
          <p:nvPr/>
        </p:nvSpPr>
        <p:spPr>
          <a:xfrm>
            <a:off x="868680" y="1645920"/>
            <a:ext cx="4724248" cy="365760"/>
          </a:xfrm>
          <a:prstGeom prst="rect">
            <a:avLst/>
          </a:prstGeom>
          <a:noFill/>
          <a:ln/>
        </p:spPr>
        <p:txBody>
          <a:bodyPr wrap="square" lIns="0" tIns="0" rIns="0" bIns="0" rtlCol="0" anchor="t"/>
          <a:lstStyle/>
          <a:p>
            <a:pPr indent="0" marL="0">
              <a:buNone/>
            </a:pPr>
            <a:r>
              <a:rPr lang="en-US" sz="1600" b="1" dirty="0">
                <a:solidFill>
                  <a:schemeClr val="accent6"/>
                </a:solidFill>
              </a:rPr>
              <a:t>The overall score</a:t>
            </a:r>
            <a:endParaRPr lang="en-US" sz="1600" dirty="0"/>
          </a:p>
        </p:txBody>
      </p:sp>
      <p:sp>
        <p:nvSpPr>
          <p:cNvPr id="5" name="Text 3"/>
          <p:cNvSpPr txBox="1"/>
          <p:nvPr/>
        </p:nvSpPr>
        <p:spPr>
          <a:xfrm>
            <a:off x="868680" y="2057400"/>
            <a:ext cx="4724248" cy="548640"/>
          </a:xfrm>
          <a:prstGeom prst="rect">
            <a:avLst/>
          </a:prstGeom>
          <a:noFill/>
          <a:ln/>
        </p:spPr>
        <p:txBody>
          <a:bodyPr wrap="square" lIns="0" tIns="0" rIns="0" bIns="0" rtlCol="0" anchor="t"/>
          <a:lstStyle/>
          <a:p>
            <a:pPr indent="0" marL="0">
              <a:buNone/>
            </a:pPr>
            <a:r>
              <a:rPr lang="en-US" sz="2400" b="1" dirty="0">
                <a:solidFill>
                  <a:schemeClr val="tx1"/>
                </a:solidFill>
                <a:latin typeface="+mj-lt" pitchFamily="34" charset="0"/>
                <a:ea typeface="+mj-lt" pitchFamily="34" charset="-122"/>
                <a:cs typeface="+mj-lt" pitchFamily="34" charset="-120"/>
              </a:rPr>
              <a:t>“How much is in place?”</a:t>
            </a:r>
            <a:endParaRPr lang="en-US" sz="2400" dirty="0"/>
          </a:p>
        </p:txBody>
      </p:sp>
      <p:sp>
        <p:nvSpPr>
          <p:cNvPr id="6" name="Text 4"/>
          <p:cNvSpPr txBox="1"/>
          <p:nvPr/>
        </p:nvSpPr>
        <p:spPr>
          <a:xfrm>
            <a:off x="868680" y="2697480"/>
            <a:ext cx="4724248" cy="731520"/>
          </a:xfrm>
          <a:prstGeom prst="rect">
            <a:avLst/>
          </a:prstGeom>
          <a:noFill/>
          <a:ln/>
        </p:spPr>
        <p:txBody>
          <a:bodyPr wrap="square" lIns="0" tIns="0" rIns="0" bIns="0" rtlCol="0" anchor="t"/>
          <a:lstStyle/>
          <a:p>
            <a:pPr indent="0" marL="0">
              <a:buNone/>
            </a:pPr>
            <a:r>
              <a:rPr lang="en-US" sz="1600" dirty="0">
                <a:solidFill>
                  <a:schemeClr val="tx1"/>
                </a:solidFill>
              </a:rPr>
              <a:t>An average. Strengths can make up for weaknesses.</a:t>
            </a:r>
            <a:endParaRPr lang="en-US" sz="1600" dirty="0"/>
          </a:p>
        </p:txBody>
      </p:sp>
      <p:sp>
        <p:nvSpPr>
          <p:cNvPr id="7" name="panel-The recommendation"/>
          <p:cNvSpPr/>
          <p:nvPr/>
        </p:nvSpPr>
        <p:spPr>
          <a:xfrm>
            <a:off x="6278728" y="1417320"/>
            <a:ext cx="5364328" cy="2194560"/>
          </a:xfrm>
          <a:prstGeom prst="roundRect">
            <a:avLst>
              <a:gd name="adj" fmla="val 3333"/>
            </a:avLst>
          </a:prstGeom>
          <a:solidFill>
            <a:schemeClr val="tx2"/>
          </a:solidFill>
          <a:ln w="12700">
            <a:solidFill>
              <a:schemeClr val="tx2"/>
            </a:solidFill>
            <a:prstDash val="solid"/>
          </a:ln>
        </p:spPr>
      </p:sp>
      <p:sp>
        <p:nvSpPr>
          <p:cNvPr id="8" name="Text 6"/>
          <p:cNvSpPr txBox="1"/>
          <p:nvPr/>
        </p:nvSpPr>
        <p:spPr>
          <a:xfrm>
            <a:off x="6598768" y="1645920"/>
            <a:ext cx="4724248" cy="365760"/>
          </a:xfrm>
          <a:prstGeom prst="rect">
            <a:avLst/>
          </a:prstGeom>
          <a:noFill/>
          <a:ln/>
        </p:spPr>
        <p:txBody>
          <a:bodyPr wrap="square" lIns="0" tIns="0" rIns="0" bIns="0" rtlCol="0" anchor="t"/>
          <a:lstStyle/>
          <a:p>
            <a:pPr indent="0" marL="0">
              <a:buNone/>
            </a:pPr>
            <a:r>
              <a:rPr lang="en-US" sz="1600" b="1" dirty="0">
                <a:solidFill>
                  <a:schemeClr val="bg2"/>
                </a:solidFill>
              </a:rPr>
              <a:t>The recommendation</a:t>
            </a:r>
            <a:endParaRPr lang="en-US" sz="1600" dirty="0"/>
          </a:p>
        </p:txBody>
      </p:sp>
      <p:sp>
        <p:nvSpPr>
          <p:cNvPr id="9" name="Text 7"/>
          <p:cNvSpPr txBox="1"/>
          <p:nvPr/>
        </p:nvSpPr>
        <p:spPr>
          <a:xfrm>
            <a:off x="6598768" y="2057400"/>
            <a:ext cx="4724248" cy="548640"/>
          </a:xfrm>
          <a:prstGeom prst="rect">
            <a:avLst/>
          </a:prstGeom>
          <a:noFill/>
          <a:ln/>
        </p:spPr>
        <p:txBody>
          <a:bodyPr wrap="square" lIns="0" tIns="0" rIns="0" bIns="0" rtlCol="0" anchor="t"/>
          <a:lstStyle/>
          <a:p>
            <a:pPr indent="0" marL="0">
              <a:buNone/>
            </a:pPr>
            <a:r>
              <a:rPr lang="en-US" sz="2400" b="1" dirty="0">
                <a:solidFill>
                  <a:schemeClr val="bg1"/>
                </a:solidFill>
                <a:latin typeface="+mj-lt" pitchFamily="34" charset="0"/>
                <a:ea typeface="+mj-lt" pitchFamily="34" charset="-122"/>
                <a:cs typeface="+mj-lt" pitchFamily="34" charset="-120"/>
              </a:rPr>
              <a:t>“What should we do next?”</a:t>
            </a:r>
            <a:endParaRPr lang="en-US" sz="2400" dirty="0"/>
          </a:p>
        </p:txBody>
      </p:sp>
      <p:sp>
        <p:nvSpPr>
          <p:cNvPr id="10" name="Text 8"/>
          <p:cNvSpPr txBox="1"/>
          <p:nvPr/>
        </p:nvSpPr>
        <p:spPr>
          <a:xfrm>
            <a:off x="6598768" y="2697480"/>
            <a:ext cx="4724248" cy="731520"/>
          </a:xfrm>
          <a:prstGeom prst="rect">
            <a:avLst/>
          </a:prstGeom>
          <a:noFill/>
          <a:ln/>
        </p:spPr>
        <p:txBody>
          <a:bodyPr wrap="square" lIns="0" tIns="0" rIns="0" bIns="0" rtlCol="0" anchor="t"/>
          <a:lstStyle/>
          <a:p>
            <a:pPr indent="0" marL="0">
              <a:buNone/>
            </a:pPr>
            <a:r>
              <a:rPr lang="en-US" sz="1600" dirty="0">
                <a:solidFill>
                  <a:schemeClr val="bg1"/>
                </a:solidFill>
              </a:rPr>
              <a:t>Not an average. It’s decided by the foundation.</a:t>
            </a:r>
            <a:endParaRPr lang="en-US" sz="1600" dirty="0"/>
          </a:p>
        </p:txBody>
      </p:sp>
      <p:sp>
        <p:nvSpPr>
          <p:cNvPr id="11" name="Text 9"/>
          <p:cNvSpPr txBox="1"/>
          <p:nvPr/>
        </p:nvSpPr>
        <p:spPr>
          <a:xfrm>
            <a:off x="548640" y="3977640"/>
            <a:ext cx="1737360" cy="1188720"/>
          </a:xfrm>
          <a:prstGeom prst="rect">
            <a:avLst/>
          </a:prstGeom>
          <a:noFill/>
          <a:ln/>
        </p:spPr>
        <p:txBody>
          <a:bodyPr wrap="square" lIns="0" tIns="0" rIns="0" bIns="0" rtlCol="0" anchor="ctr"/>
          <a:lstStyle/>
          <a:p>
            <a:pPr indent="0" marL="0">
              <a:buNone/>
            </a:pPr>
            <a:r>
              <a:rPr lang="en-US" sz="8000" b="1" dirty="0">
                <a:solidFill>
                  <a:schemeClr val="accent5"/>
                </a:solidFill>
                <a:latin typeface="+mj-lt" pitchFamily="34" charset="0"/>
                <a:ea typeface="+mj-lt" pitchFamily="34" charset="-122"/>
                <a:cs typeface="+mj-lt" pitchFamily="34" charset="-120"/>
              </a:rPr>
              <a:t>90</a:t>
            </a:r>
            <a:endParaRPr lang="en-US" sz="8000" dirty="0"/>
          </a:p>
        </p:txBody>
      </p:sp>
      <p:sp>
        <p:nvSpPr>
          <p:cNvPr id="12" name="Text 10"/>
          <p:cNvSpPr txBox="1"/>
          <p:nvPr/>
        </p:nvSpPr>
        <p:spPr>
          <a:xfrm>
            <a:off x="2331720" y="4526280"/>
            <a:ext cx="1371600" cy="457200"/>
          </a:xfrm>
          <a:prstGeom prst="rect">
            <a:avLst/>
          </a:prstGeom>
          <a:noFill/>
          <a:ln/>
        </p:spPr>
        <p:txBody>
          <a:bodyPr wrap="square" lIns="0" tIns="0" rIns="0" bIns="0" rtlCol="0" anchor="t"/>
          <a:lstStyle/>
          <a:p>
            <a:pPr indent="0" marL="0">
              <a:buNone/>
            </a:pPr>
            <a:r>
              <a:rPr lang="en-US" sz="1600" dirty="0">
                <a:solidFill>
                  <a:schemeClr val="accent6"/>
                </a:solidFill>
              </a:rPr>
              <a:t>out of 100</a:t>
            </a:r>
            <a:endParaRPr lang="en-US" sz="1600" dirty="0"/>
          </a:p>
        </p:txBody>
      </p:sp>
      <p:sp>
        <p:nvSpPr>
          <p:cNvPr id="13" name="Shape 11"/>
          <p:cNvSpPr/>
          <p:nvPr/>
        </p:nvSpPr>
        <p:spPr>
          <a:xfrm>
            <a:off x="3703320" y="4572000"/>
            <a:ext cx="914400" cy="0"/>
          </a:xfrm>
          <a:prstGeom prst="line">
            <a:avLst/>
          </a:prstGeom>
          <a:noFill/>
          <a:ln w="25400">
            <a:solidFill>
              <a:schemeClr val="accent6"/>
            </a:solidFill>
            <a:prstDash val="solid"/>
            <a:tailEnd type="triangle"/>
          </a:ln>
        </p:spPr>
      </p:sp>
      <p:sp>
        <p:nvSpPr>
          <p:cNvPr id="14" name="Shape 12"/>
          <p:cNvSpPr/>
          <p:nvPr/>
        </p:nvSpPr>
        <p:spPr>
          <a:xfrm>
            <a:off x="4846320" y="4160520"/>
            <a:ext cx="822960" cy="822960"/>
          </a:xfrm>
          <a:prstGeom prst="roundRect">
            <a:avLst>
              <a:gd name="adj" fmla="val 5556"/>
            </a:avLst>
          </a:prstGeom>
          <a:solidFill>
            <a:schemeClr val="tx2"/>
          </a:solidFill>
          <a:ln w="12700">
            <a:solidFill>
              <a:schemeClr val="tx2"/>
            </a:solidFill>
            <a:prstDash val="solid"/>
          </a:ln>
        </p:spPr>
      </p:sp>
      <p:sp>
        <p:nvSpPr>
          <p:cNvPr id="15" name="Text 13"/>
          <p:cNvSpPr txBox="1"/>
          <p:nvPr/>
        </p:nvSpPr>
        <p:spPr>
          <a:xfrm>
            <a:off x="4846320" y="4160520"/>
            <a:ext cx="822960" cy="822960"/>
          </a:xfrm>
          <a:prstGeom prst="rect">
            <a:avLst/>
          </a:prstGeom>
          <a:noFill/>
          <a:ln/>
        </p:spPr>
        <p:txBody>
          <a:bodyPr wrap="square" lIns="0" tIns="0" rIns="0" bIns="0" rtlCol="0" anchor="ctr"/>
          <a:lstStyle/>
          <a:p>
            <a:pPr algn="ctr" indent="0" marL="0">
              <a:buNone/>
            </a:pPr>
            <a:r>
              <a:rPr lang="en-US" sz="3600" b="1" dirty="0">
                <a:solidFill>
                  <a:schemeClr val="bg1"/>
                </a:solidFill>
                <a:latin typeface="+mj-lt" pitchFamily="34" charset="0"/>
                <a:ea typeface="+mj-lt" pitchFamily="34" charset="-122"/>
                <a:cs typeface="+mj-lt" pitchFamily="34" charset="-120"/>
              </a:rPr>
              <a:t>1</a:t>
            </a:r>
            <a:endParaRPr lang="en-US" sz="3600" dirty="0"/>
          </a:p>
        </p:txBody>
      </p:sp>
      <p:sp>
        <p:nvSpPr>
          <p:cNvPr id="16" name="Text 14"/>
          <p:cNvSpPr txBox="1"/>
          <p:nvPr/>
        </p:nvSpPr>
        <p:spPr>
          <a:xfrm>
            <a:off x="5806440" y="4206240"/>
            <a:ext cx="1280160" cy="731520"/>
          </a:xfrm>
          <a:prstGeom prst="rect">
            <a:avLst/>
          </a:prstGeom>
          <a:noFill/>
          <a:ln/>
        </p:spPr>
        <p:txBody>
          <a:bodyPr wrap="square" lIns="0" tIns="0" rIns="0" bIns="0" rtlCol="0" anchor="ctr"/>
          <a:lstStyle/>
          <a:p>
            <a:pPr indent="0" marL="0">
              <a:buNone/>
            </a:pPr>
            <a:r>
              <a:rPr lang="en-US" sz="2400" b="1" dirty="0">
                <a:solidFill>
                  <a:schemeClr val="tx2"/>
                </a:solidFill>
              </a:rPr>
              <a:t>Step 1</a:t>
            </a:r>
            <a:endParaRPr lang="en-US" sz="2400" dirty="0"/>
          </a:p>
        </p:txBody>
      </p:sp>
      <p:sp>
        <p:nvSpPr>
          <p:cNvPr id="17" name="Text 15"/>
          <p:cNvSpPr txBox="1"/>
          <p:nvPr/>
        </p:nvSpPr>
        <p:spPr>
          <a:xfrm>
            <a:off x="7315200" y="3977640"/>
            <a:ext cx="4327855" cy="1188720"/>
          </a:xfrm>
          <a:prstGeom prst="rect">
            <a:avLst/>
          </a:prstGeom>
          <a:noFill/>
          <a:ln/>
        </p:spPr>
        <p:txBody>
          <a:bodyPr wrap="square" lIns="0" tIns="0" rIns="0" bIns="0" rtlCol="0" anchor="ctr"/>
          <a:lstStyle/>
          <a:p>
            <a:pPr indent="0" marL="0">
              <a:buNone/>
            </a:pPr>
            <a:r>
              <a:rPr lang="en-US" sz="1600" dirty="0">
                <a:solidFill>
                  <a:schemeClr val="tx1"/>
                </a:solidFill>
              </a:rPr>
              <a:t>The most extreme case: every area is Advanced except Leadership. The house is beautiful, but the foundation is cracked.</a:t>
            </a:r>
            <a:endParaRPr lang="en-US" sz="1600" dirty="0"/>
          </a:p>
        </p:txBody>
      </p:sp>
      <p:sp>
        <p:nvSpPr>
          <p:cNvPr id="18" name="Text 16"/>
          <p:cNvSpPr txBox="1"/>
          <p:nvPr/>
        </p:nvSpPr>
        <p:spPr>
          <a:xfrm>
            <a:off x="548640" y="5486400"/>
            <a:ext cx="11094415" cy="411480"/>
          </a:xfrm>
          <a:prstGeom prst="rect">
            <a:avLst/>
          </a:prstGeom>
          <a:noFill/>
          <a:ln/>
        </p:spPr>
        <p:txBody>
          <a:bodyPr wrap="square" lIns="0" tIns="0" rIns="0" bIns="0" rtlCol="0" anchor="t"/>
          <a:lstStyle/>
          <a:p>
            <a:pPr indent="0" marL="0">
              <a:buNone/>
            </a:pPr>
            <a:r>
              <a:rPr lang="en-US" sz="1800" i="1" dirty="0">
                <a:solidFill>
                  <a:schemeClr val="accent6"/>
                </a:solidFill>
              </a:rPr>
              <a:t>Not a contradiction. The two numbers answer different questions.</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31520"/>
          </a:xfrm>
          <a:prstGeom prst="rect">
            <a:avLst/>
          </a:prstGeom>
          <a:noFill/>
          <a:ln/>
        </p:spPr>
        <p:txBody>
          <a:bodyPr wrap="square" lIns="0" tIns="0" rIns="0" bIns="0" rtlCol="0" anchor="ctr"/>
          <a:lstStyle/>
          <a:p>
            <a:pPr algn="l" indent="0" marL="0">
              <a:buNone/>
            </a:pPr>
            <a:r>
              <a:rPr lang="en-US" sz="3600" b="1" dirty="0">
                <a:solidFill>
                  <a:schemeClr val="tx1"/>
                </a:solidFill>
              </a:rPr>
              <a:t>Example: Meridian Freight Systems</a:t>
            </a:r>
            <a:endParaRPr lang="en-US" sz="3600" dirty="0"/>
          </a:p>
        </p:txBody>
      </p:sp>
      <p:sp>
        <p:nvSpPr>
          <p:cNvPr id="3" name="Text 1"/>
          <p:cNvSpPr txBox="1"/>
          <p:nvPr/>
        </p:nvSpPr>
        <p:spPr>
          <a:xfrm>
            <a:off x="548640" y="1234440"/>
            <a:ext cx="11094415" cy="365760"/>
          </a:xfrm>
          <a:prstGeom prst="rect">
            <a:avLst/>
          </a:prstGeom>
          <a:noFill/>
          <a:ln/>
        </p:spPr>
        <p:txBody>
          <a:bodyPr wrap="square" lIns="0" tIns="0" rIns="0" bIns="0" rtlCol="0" anchor="t"/>
          <a:lstStyle/>
          <a:p>
            <a:pPr indent="0" marL="0">
              <a:buNone/>
            </a:pPr>
            <a:r>
              <a:rPr lang="en-US" sz="1600" i="1" dirty="0">
                <a:solidFill>
                  <a:schemeClr val="accent6"/>
                </a:solidFill>
              </a:rPr>
              <a:t>A made-up company: software for freight brokers. Strong engineers and data, but no executive owns AI.</a:t>
            </a:r>
            <a:endParaRPr lang="en-US" sz="1600" dirty="0"/>
          </a:p>
        </p:txBody>
      </p:sp>
      <p:sp>
        <p:nvSpPr>
          <p:cNvPr id="4" name="Shape 2"/>
          <p:cNvSpPr/>
          <p:nvPr/>
        </p:nvSpPr>
        <p:spPr>
          <a:xfrm>
            <a:off x="548640" y="1783080"/>
            <a:ext cx="365760" cy="365760"/>
          </a:xfrm>
          <a:prstGeom prst="roundRect">
            <a:avLst>
              <a:gd name="adj" fmla="val 12500"/>
            </a:avLst>
          </a:prstGeom>
          <a:solidFill>
            <a:schemeClr val="accent3"/>
          </a:solidFill>
          <a:ln w="12700">
            <a:solidFill>
              <a:schemeClr val="accent3"/>
            </a:solidFill>
            <a:prstDash val="solid"/>
          </a:ln>
        </p:spPr>
      </p:sp>
      <p:sp>
        <p:nvSpPr>
          <p:cNvPr id="5" name="Text 3"/>
          <p:cNvSpPr txBox="1"/>
          <p:nvPr/>
        </p:nvSpPr>
        <p:spPr>
          <a:xfrm>
            <a:off x="548640" y="178308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2</a:t>
            </a:r>
            <a:endParaRPr lang="en-US" sz="1400" dirty="0"/>
          </a:p>
        </p:txBody>
      </p:sp>
      <p:sp>
        <p:nvSpPr>
          <p:cNvPr id="6" name="Text 4"/>
          <p:cNvSpPr txBox="1"/>
          <p:nvPr/>
        </p:nvSpPr>
        <p:spPr>
          <a:xfrm>
            <a:off x="1097280" y="1783080"/>
            <a:ext cx="3017520" cy="365760"/>
          </a:xfrm>
          <a:prstGeom prst="rect">
            <a:avLst/>
          </a:prstGeom>
          <a:noFill/>
          <a:ln/>
        </p:spPr>
        <p:txBody>
          <a:bodyPr wrap="square" lIns="0" tIns="0" rIns="0" bIns="0" rtlCol="0" anchor="ctr"/>
          <a:lstStyle/>
          <a:p>
            <a:pPr indent="0" marL="0">
              <a:buNone/>
            </a:pPr>
            <a:r>
              <a:rPr lang="en-US" sz="1500" b="1" dirty="0">
                <a:solidFill>
                  <a:schemeClr val="tx1"/>
                </a:solidFill>
              </a:rPr>
              <a:t>Leadership &amp; AI Strategy</a:t>
            </a:r>
            <a:endParaRPr lang="en-US" sz="1500" dirty="0"/>
          </a:p>
        </p:txBody>
      </p:sp>
      <p:sp>
        <p:nvSpPr>
          <p:cNvPr id="7" name="Text 5"/>
          <p:cNvSpPr txBox="1"/>
          <p:nvPr/>
        </p:nvSpPr>
        <p:spPr>
          <a:xfrm>
            <a:off x="4114800" y="1783080"/>
            <a:ext cx="1097280" cy="365760"/>
          </a:xfrm>
          <a:prstGeom prst="rect">
            <a:avLst/>
          </a:prstGeom>
          <a:noFill/>
          <a:ln/>
        </p:spPr>
        <p:txBody>
          <a:bodyPr wrap="square" lIns="0" tIns="0" rIns="0" bIns="0" rtlCol="0" anchor="ctr"/>
          <a:lstStyle/>
          <a:p>
            <a:pPr indent="0" marL="0">
              <a:buNone/>
            </a:pPr>
            <a:r>
              <a:rPr lang="en-US" sz="1400" dirty="0">
                <a:solidFill>
                  <a:schemeClr val="accent3"/>
                </a:solidFill>
              </a:rPr>
              <a:t>Partial</a:t>
            </a:r>
            <a:endParaRPr lang="en-US" sz="1400" dirty="0"/>
          </a:p>
        </p:txBody>
      </p:sp>
      <p:sp>
        <p:nvSpPr>
          <p:cNvPr id="8" name="Shape 6"/>
          <p:cNvSpPr/>
          <p:nvPr/>
        </p:nvSpPr>
        <p:spPr>
          <a:xfrm>
            <a:off x="548640" y="2240280"/>
            <a:ext cx="365760" cy="365760"/>
          </a:xfrm>
          <a:prstGeom prst="roundRect">
            <a:avLst>
              <a:gd name="adj" fmla="val 12500"/>
            </a:avLst>
          </a:prstGeom>
          <a:solidFill>
            <a:schemeClr val="accent4"/>
          </a:solidFill>
          <a:ln w="12700">
            <a:solidFill>
              <a:schemeClr val="accent4"/>
            </a:solidFill>
            <a:prstDash val="solid"/>
          </a:ln>
        </p:spPr>
      </p:sp>
      <p:sp>
        <p:nvSpPr>
          <p:cNvPr id="9" name="Text 7"/>
          <p:cNvSpPr txBox="1"/>
          <p:nvPr/>
        </p:nvSpPr>
        <p:spPr>
          <a:xfrm>
            <a:off x="548640" y="224028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10" name="Text 8"/>
          <p:cNvSpPr txBox="1"/>
          <p:nvPr/>
        </p:nvSpPr>
        <p:spPr>
          <a:xfrm>
            <a:off x="1097280" y="2240280"/>
            <a:ext cx="3017520" cy="365760"/>
          </a:xfrm>
          <a:prstGeom prst="rect">
            <a:avLst/>
          </a:prstGeom>
          <a:noFill/>
          <a:ln/>
        </p:spPr>
        <p:txBody>
          <a:bodyPr wrap="square" lIns="0" tIns="0" rIns="0" bIns="0" rtlCol="0" anchor="ctr"/>
          <a:lstStyle/>
          <a:p>
            <a:pPr indent="0" marL="0">
              <a:buNone/>
            </a:pPr>
            <a:r>
              <a:rPr lang="en-US" sz="1500" dirty="0">
                <a:solidFill>
                  <a:schemeClr val="tx1"/>
                </a:solidFill>
              </a:rPr>
              <a:t>Workflows</a:t>
            </a:r>
            <a:endParaRPr lang="en-US" sz="1500" dirty="0"/>
          </a:p>
        </p:txBody>
      </p:sp>
      <p:sp>
        <p:nvSpPr>
          <p:cNvPr id="11" name="Text 9"/>
          <p:cNvSpPr txBox="1"/>
          <p:nvPr/>
        </p:nvSpPr>
        <p:spPr>
          <a:xfrm>
            <a:off x="4114800" y="2240280"/>
            <a:ext cx="1097280" cy="365760"/>
          </a:xfrm>
          <a:prstGeom prst="rect">
            <a:avLst/>
          </a:prstGeom>
          <a:noFill/>
          <a:ln/>
        </p:spPr>
        <p:txBody>
          <a:bodyPr wrap="square" lIns="0" tIns="0" rIns="0" bIns="0" rtlCol="0" anchor="ctr"/>
          <a:lstStyle/>
          <a:p>
            <a:pPr indent="0" marL="0">
              <a:buNone/>
            </a:pPr>
            <a:r>
              <a:rPr lang="en-US" sz="1400" dirty="0">
                <a:solidFill>
                  <a:schemeClr val="accent4"/>
                </a:solidFill>
              </a:rPr>
              <a:t>Strong</a:t>
            </a:r>
            <a:endParaRPr lang="en-US" sz="1400" dirty="0"/>
          </a:p>
        </p:txBody>
      </p:sp>
      <p:sp>
        <p:nvSpPr>
          <p:cNvPr id="12" name="Shape 10"/>
          <p:cNvSpPr/>
          <p:nvPr/>
        </p:nvSpPr>
        <p:spPr>
          <a:xfrm>
            <a:off x="548640" y="2697480"/>
            <a:ext cx="365760" cy="365760"/>
          </a:xfrm>
          <a:prstGeom prst="roundRect">
            <a:avLst>
              <a:gd name="adj" fmla="val 12500"/>
            </a:avLst>
          </a:prstGeom>
          <a:solidFill>
            <a:schemeClr val="accent4"/>
          </a:solidFill>
          <a:ln w="12700">
            <a:solidFill>
              <a:schemeClr val="accent4"/>
            </a:solidFill>
            <a:prstDash val="solid"/>
          </a:ln>
        </p:spPr>
      </p:sp>
      <p:sp>
        <p:nvSpPr>
          <p:cNvPr id="13" name="Text 11"/>
          <p:cNvSpPr txBox="1"/>
          <p:nvPr/>
        </p:nvSpPr>
        <p:spPr>
          <a:xfrm>
            <a:off x="548640" y="269748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14" name="Text 12"/>
          <p:cNvSpPr txBox="1"/>
          <p:nvPr/>
        </p:nvSpPr>
        <p:spPr>
          <a:xfrm>
            <a:off x="1097280" y="2697480"/>
            <a:ext cx="3017520" cy="365760"/>
          </a:xfrm>
          <a:prstGeom prst="rect">
            <a:avLst/>
          </a:prstGeom>
          <a:noFill/>
          <a:ln/>
        </p:spPr>
        <p:txBody>
          <a:bodyPr wrap="square" lIns="0" tIns="0" rIns="0" bIns="0" rtlCol="0" anchor="ctr"/>
          <a:lstStyle/>
          <a:p>
            <a:pPr indent="0" marL="0">
              <a:buNone/>
            </a:pPr>
            <a:r>
              <a:rPr lang="en-US" sz="1500" dirty="0">
                <a:solidFill>
                  <a:schemeClr val="tx1"/>
                </a:solidFill>
              </a:rPr>
              <a:t>Data</a:t>
            </a:r>
            <a:endParaRPr lang="en-US" sz="1500" dirty="0"/>
          </a:p>
        </p:txBody>
      </p:sp>
      <p:sp>
        <p:nvSpPr>
          <p:cNvPr id="15" name="Text 13"/>
          <p:cNvSpPr txBox="1"/>
          <p:nvPr/>
        </p:nvSpPr>
        <p:spPr>
          <a:xfrm>
            <a:off x="4114800" y="2697480"/>
            <a:ext cx="1097280" cy="365760"/>
          </a:xfrm>
          <a:prstGeom prst="rect">
            <a:avLst/>
          </a:prstGeom>
          <a:noFill/>
          <a:ln/>
        </p:spPr>
        <p:txBody>
          <a:bodyPr wrap="square" lIns="0" tIns="0" rIns="0" bIns="0" rtlCol="0" anchor="ctr"/>
          <a:lstStyle/>
          <a:p>
            <a:pPr indent="0" marL="0">
              <a:buNone/>
            </a:pPr>
            <a:r>
              <a:rPr lang="en-US" sz="1400" dirty="0">
                <a:solidFill>
                  <a:schemeClr val="accent4"/>
                </a:solidFill>
              </a:rPr>
              <a:t>Strong</a:t>
            </a:r>
            <a:endParaRPr lang="en-US" sz="1400" dirty="0"/>
          </a:p>
        </p:txBody>
      </p:sp>
      <p:sp>
        <p:nvSpPr>
          <p:cNvPr id="16" name="Shape 14"/>
          <p:cNvSpPr/>
          <p:nvPr/>
        </p:nvSpPr>
        <p:spPr>
          <a:xfrm>
            <a:off x="548640" y="3154680"/>
            <a:ext cx="365760" cy="365760"/>
          </a:xfrm>
          <a:prstGeom prst="roundRect">
            <a:avLst>
              <a:gd name="adj" fmla="val 12500"/>
            </a:avLst>
          </a:prstGeom>
          <a:solidFill>
            <a:schemeClr val="accent4"/>
          </a:solidFill>
          <a:ln w="12700">
            <a:solidFill>
              <a:schemeClr val="accent4"/>
            </a:solidFill>
            <a:prstDash val="solid"/>
          </a:ln>
        </p:spPr>
      </p:sp>
      <p:sp>
        <p:nvSpPr>
          <p:cNvPr id="17" name="Text 15"/>
          <p:cNvSpPr txBox="1"/>
          <p:nvPr/>
        </p:nvSpPr>
        <p:spPr>
          <a:xfrm>
            <a:off x="548640" y="315468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18" name="Text 16"/>
          <p:cNvSpPr txBox="1"/>
          <p:nvPr/>
        </p:nvSpPr>
        <p:spPr>
          <a:xfrm>
            <a:off x="1097280" y="3154680"/>
            <a:ext cx="3017520" cy="365760"/>
          </a:xfrm>
          <a:prstGeom prst="rect">
            <a:avLst/>
          </a:prstGeom>
          <a:noFill/>
          <a:ln/>
        </p:spPr>
        <p:txBody>
          <a:bodyPr wrap="square" lIns="0" tIns="0" rIns="0" bIns="0" rtlCol="0" anchor="ctr"/>
          <a:lstStyle/>
          <a:p>
            <a:pPr indent="0" marL="0">
              <a:buNone/>
            </a:pPr>
            <a:r>
              <a:rPr lang="en-US" sz="1500" dirty="0">
                <a:solidFill>
                  <a:schemeClr val="tx1"/>
                </a:solidFill>
              </a:rPr>
              <a:t>People &amp; Trust</a:t>
            </a:r>
            <a:endParaRPr lang="en-US" sz="1500" dirty="0"/>
          </a:p>
        </p:txBody>
      </p:sp>
      <p:sp>
        <p:nvSpPr>
          <p:cNvPr id="19" name="Text 17"/>
          <p:cNvSpPr txBox="1"/>
          <p:nvPr/>
        </p:nvSpPr>
        <p:spPr>
          <a:xfrm>
            <a:off x="4114800" y="3154680"/>
            <a:ext cx="1097280" cy="365760"/>
          </a:xfrm>
          <a:prstGeom prst="rect">
            <a:avLst/>
          </a:prstGeom>
          <a:noFill/>
          <a:ln/>
        </p:spPr>
        <p:txBody>
          <a:bodyPr wrap="square" lIns="0" tIns="0" rIns="0" bIns="0" rtlCol="0" anchor="ctr"/>
          <a:lstStyle/>
          <a:p>
            <a:pPr indent="0" marL="0">
              <a:buNone/>
            </a:pPr>
            <a:r>
              <a:rPr lang="en-US" sz="1400" dirty="0">
                <a:solidFill>
                  <a:schemeClr val="accent4"/>
                </a:solidFill>
              </a:rPr>
              <a:t>Strong</a:t>
            </a:r>
            <a:endParaRPr lang="en-US" sz="1400" dirty="0"/>
          </a:p>
        </p:txBody>
      </p:sp>
      <p:sp>
        <p:nvSpPr>
          <p:cNvPr id="20" name="Shape 18"/>
          <p:cNvSpPr/>
          <p:nvPr/>
        </p:nvSpPr>
        <p:spPr>
          <a:xfrm>
            <a:off x="548640" y="3611880"/>
            <a:ext cx="365760" cy="365760"/>
          </a:xfrm>
          <a:prstGeom prst="roundRect">
            <a:avLst>
              <a:gd name="adj" fmla="val 12500"/>
            </a:avLst>
          </a:prstGeom>
          <a:solidFill>
            <a:schemeClr val="accent4"/>
          </a:solidFill>
          <a:ln w="12700">
            <a:solidFill>
              <a:schemeClr val="accent4"/>
            </a:solidFill>
            <a:prstDash val="solid"/>
          </a:ln>
        </p:spPr>
      </p:sp>
      <p:sp>
        <p:nvSpPr>
          <p:cNvPr id="21" name="Text 19"/>
          <p:cNvSpPr txBox="1"/>
          <p:nvPr/>
        </p:nvSpPr>
        <p:spPr>
          <a:xfrm>
            <a:off x="548640" y="361188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22" name="Text 20"/>
          <p:cNvSpPr txBox="1"/>
          <p:nvPr/>
        </p:nvSpPr>
        <p:spPr>
          <a:xfrm>
            <a:off x="1097280" y="3611880"/>
            <a:ext cx="3017520" cy="365760"/>
          </a:xfrm>
          <a:prstGeom prst="rect">
            <a:avLst/>
          </a:prstGeom>
          <a:noFill/>
          <a:ln/>
        </p:spPr>
        <p:txBody>
          <a:bodyPr wrap="square" lIns="0" tIns="0" rIns="0" bIns="0" rtlCol="0" anchor="ctr"/>
          <a:lstStyle/>
          <a:p>
            <a:pPr indent="0" marL="0">
              <a:buNone/>
            </a:pPr>
            <a:r>
              <a:rPr lang="en-US" sz="1500" dirty="0">
                <a:solidFill>
                  <a:schemeClr val="tx1"/>
                </a:solidFill>
              </a:rPr>
              <a:t>Technical Ability</a:t>
            </a:r>
            <a:endParaRPr lang="en-US" sz="1500" dirty="0"/>
          </a:p>
        </p:txBody>
      </p:sp>
      <p:sp>
        <p:nvSpPr>
          <p:cNvPr id="23" name="Text 21"/>
          <p:cNvSpPr txBox="1"/>
          <p:nvPr/>
        </p:nvSpPr>
        <p:spPr>
          <a:xfrm>
            <a:off x="4114800" y="3611880"/>
            <a:ext cx="1097280" cy="365760"/>
          </a:xfrm>
          <a:prstGeom prst="rect">
            <a:avLst/>
          </a:prstGeom>
          <a:noFill/>
          <a:ln/>
        </p:spPr>
        <p:txBody>
          <a:bodyPr wrap="square" lIns="0" tIns="0" rIns="0" bIns="0" rtlCol="0" anchor="ctr"/>
          <a:lstStyle/>
          <a:p>
            <a:pPr indent="0" marL="0">
              <a:buNone/>
            </a:pPr>
            <a:r>
              <a:rPr lang="en-US" sz="1400" dirty="0">
                <a:solidFill>
                  <a:schemeClr val="accent4"/>
                </a:solidFill>
              </a:rPr>
              <a:t>Strong</a:t>
            </a:r>
            <a:endParaRPr lang="en-US" sz="1400" dirty="0"/>
          </a:p>
        </p:txBody>
      </p:sp>
      <p:sp>
        <p:nvSpPr>
          <p:cNvPr id="24" name="Shape 22"/>
          <p:cNvSpPr/>
          <p:nvPr/>
        </p:nvSpPr>
        <p:spPr>
          <a:xfrm>
            <a:off x="548640" y="4069080"/>
            <a:ext cx="365760" cy="365760"/>
          </a:xfrm>
          <a:prstGeom prst="roundRect">
            <a:avLst>
              <a:gd name="adj" fmla="val 12500"/>
            </a:avLst>
          </a:prstGeom>
          <a:solidFill>
            <a:schemeClr val="accent3"/>
          </a:solidFill>
          <a:ln w="12700">
            <a:solidFill>
              <a:schemeClr val="accent3"/>
            </a:solidFill>
            <a:prstDash val="solid"/>
          </a:ln>
        </p:spPr>
      </p:sp>
      <p:sp>
        <p:nvSpPr>
          <p:cNvPr id="25" name="Text 23"/>
          <p:cNvSpPr txBox="1"/>
          <p:nvPr/>
        </p:nvSpPr>
        <p:spPr>
          <a:xfrm>
            <a:off x="548640" y="406908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2</a:t>
            </a:r>
            <a:endParaRPr lang="en-US" sz="1400" dirty="0"/>
          </a:p>
        </p:txBody>
      </p:sp>
      <p:sp>
        <p:nvSpPr>
          <p:cNvPr id="26" name="Text 24"/>
          <p:cNvSpPr txBox="1"/>
          <p:nvPr/>
        </p:nvSpPr>
        <p:spPr>
          <a:xfrm>
            <a:off x="1097280" y="4069080"/>
            <a:ext cx="3017520" cy="365760"/>
          </a:xfrm>
          <a:prstGeom prst="rect">
            <a:avLst/>
          </a:prstGeom>
          <a:noFill/>
          <a:ln/>
        </p:spPr>
        <p:txBody>
          <a:bodyPr wrap="square" lIns="0" tIns="0" rIns="0" bIns="0" rtlCol="0" anchor="ctr"/>
          <a:lstStyle/>
          <a:p>
            <a:pPr indent="0" marL="0">
              <a:buNone/>
            </a:pPr>
            <a:r>
              <a:rPr lang="en-US" sz="1500" b="1" dirty="0">
                <a:solidFill>
                  <a:schemeClr val="tx1"/>
                </a:solidFill>
              </a:rPr>
              <a:t>Oversight</a:t>
            </a:r>
            <a:endParaRPr lang="en-US" sz="1500" dirty="0"/>
          </a:p>
        </p:txBody>
      </p:sp>
      <p:sp>
        <p:nvSpPr>
          <p:cNvPr id="27" name="Text 25"/>
          <p:cNvSpPr txBox="1"/>
          <p:nvPr/>
        </p:nvSpPr>
        <p:spPr>
          <a:xfrm>
            <a:off x="4114800" y="4069080"/>
            <a:ext cx="1097280" cy="365760"/>
          </a:xfrm>
          <a:prstGeom prst="rect">
            <a:avLst/>
          </a:prstGeom>
          <a:noFill/>
          <a:ln/>
        </p:spPr>
        <p:txBody>
          <a:bodyPr wrap="square" lIns="0" tIns="0" rIns="0" bIns="0" rtlCol="0" anchor="ctr"/>
          <a:lstStyle/>
          <a:p>
            <a:pPr indent="0" marL="0">
              <a:buNone/>
            </a:pPr>
            <a:r>
              <a:rPr lang="en-US" sz="1400" dirty="0">
                <a:solidFill>
                  <a:schemeClr val="accent3"/>
                </a:solidFill>
              </a:rPr>
              <a:t>Partial</a:t>
            </a:r>
            <a:endParaRPr lang="en-US" sz="1400" dirty="0"/>
          </a:p>
        </p:txBody>
      </p:sp>
      <p:sp>
        <p:nvSpPr>
          <p:cNvPr id="28" name="Shape 26"/>
          <p:cNvSpPr/>
          <p:nvPr/>
        </p:nvSpPr>
        <p:spPr>
          <a:xfrm>
            <a:off x="548640" y="4526280"/>
            <a:ext cx="365760" cy="365760"/>
          </a:xfrm>
          <a:prstGeom prst="roundRect">
            <a:avLst>
              <a:gd name="adj" fmla="val 12500"/>
            </a:avLst>
          </a:prstGeom>
          <a:solidFill>
            <a:schemeClr val="accent3"/>
          </a:solidFill>
          <a:ln w="12700">
            <a:solidFill>
              <a:schemeClr val="accent3"/>
            </a:solidFill>
            <a:prstDash val="solid"/>
          </a:ln>
        </p:spPr>
      </p:sp>
      <p:sp>
        <p:nvSpPr>
          <p:cNvPr id="29" name="Text 27"/>
          <p:cNvSpPr txBox="1"/>
          <p:nvPr/>
        </p:nvSpPr>
        <p:spPr>
          <a:xfrm>
            <a:off x="548640" y="452628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2</a:t>
            </a:r>
            <a:endParaRPr lang="en-US" sz="1400" dirty="0"/>
          </a:p>
        </p:txBody>
      </p:sp>
      <p:sp>
        <p:nvSpPr>
          <p:cNvPr id="30" name="Text 28"/>
          <p:cNvSpPr txBox="1"/>
          <p:nvPr/>
        </p:nvSpPr>
        <p:spPr>
          <a:xfrm>
            <a:off x="1097280" y="4526280"/>
            <a:ext cx="3017520" cy="365760"/>
          </a:xfrm>
          <a:prstGeom prst="rect">
            <a:avLst/>
          </a:prstGeom>
          <a:noFill/>
          <a:ln/>
        </p:spPr>
        <p:txBody>
          <a:bodyPr wrap="square" lIns="0" tIns="0" rIns="0" bIns="0" rtlCol="0" anchor="ctr"/>
          <a:lstStyle/>
          <a:p>
            <a:pPr indent="0" marL="0">
              <a:buNone/>
            </a:pPr>
            <a:r>
              <a:rPr lang="en-US" sz="1500" b="1" dirty="0">
                <a:solidFill>
                  <a:schemeClr val="tx1"/>
                </a:solidFill>
              </a:rPr>
              <a:t>Measurement</a:t>
            </a:r>
            <a:endParaRPr lang="en-US" sz="1500" dirty="0"/>
          </a:p>
        </p:txBody>
      </p:sp>
      <p:sp>
        <p:nvSpPr>
          <p:cNvPr id="31" name="Text 29"/>
          <p:cNvSpPr txBox="1"/>
          <p:nvPr/>
        </p:nvSpPr>
        <p:spPr>
          <a:xfrm>
            <a:off x="4114800" y="4526280"/>
            <a:ext cx="1097280" cy="365760"/>
          </a:xfrm>
          <a:prstGeom prst="rect">
            <a:avLst/>
          </a:prstGeom>
          <a:noFill/>
          <a:ln/>
        </p:spPr>
        <p:txBody>
          <a:bodyPr wrap="square" lIns="0" tIns="0" rIns="0" bIns="0" rtlCol="0" anchor="ctr"/>
          <a:lstStyle/>
          <a:p>
            <a:pPr indent="0" marL="0">
              <a:buNone/>
            </a:pPr>
            <a:r>
              <a:rPr lang="en-US" sz="1400" dirty="0">
                <a:solidFill>
                  <a:schemeClr val="accent3"/>
                </a:solidFill>
              </a:rPr>
              <a:t>Partial</a:t>
            </a:r>
            <a:endParaRPr lang="en-US" sz="1400" dirty="0"/>
          </a:p>
        </p:txBody>
      </p:sp>
      <p:sp>
        <p:nvSpPr>
          <p:cNvPr id="32" name="Shape 30"/>
          <p:cNvSpPr/>
          <p:nvPr/>
        </p:nvSpPr>
        <p:spPr>
          <a:xfrm>
            <a:off x="548640" y="4983480"/>
            <a:ext cx="365760" cy="365760"/>
          </a:xfrm>
          <a:prstGeom prst="roundRect">
            <a:avLst>
              <a:gd name="adj" fmla="val 12500"/>
            </a:avLst>
          </a:prstGeom>
          <a:solidFill>
            <a:schemeClr val="accent4"/>
          </a:solidFill>
          <a:ln w="12700">
            <a:solidFill>
              <a:schemeClr val="accent4"/>
            </a:solidFill>
            <a:prstDash val="solid"/>
          </a:ln>
        </p:spPr>
      </p:sp>
      <p:sp>
        <p:nvSpPr>
          <p:cNvPr id="33" name="Text 31"/>
          <p:cNvSpPr txBox="1"/>
          <p:nvPr/>
        </p:nvSpPr>
        <p:spPr>
          <a:xfrm>
            <a:off x="548640" y="498348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34" name="Text 32"/>
          <p:cNvSpPr txBox="1"/>
          <p:nvPr/>
        </p:nvSpPr>
        <p:spPr>
          <a:xfrm>
            <a:off x="1097280" y="4983480"/>
            <a:ext cx="3017520" cy="365760"/>
          </a:xfrm>
          <a:prstGeom prst="rect">
            <a:avLst/>
          </a:prstGeom>
          <a:noFill/>
          <a:ln/>
        </p:spPr>
        <p:txBody>
          <a:bodyPr wrap="square" lIns="0" tIns="0" rIns="0" bIns="0" rtlCol="0" anchor="ctr"/>
          <a:lstStyle/>
          <a:p>
            <a:pPr indent="0" marL="0">
              <a:buNone/>
            </a:pPr>
            <a:r>
              <a:rPr lang="en-US" sz="1500" dirty="0">
                <a:solidFill>
                  <a:schemeClr val="tx1"/>
                </a:solidFill>
              </a:rPr>
              <a:t>From Storing to Doing</a:t>
            </a:r>
            <a:endParaRPr lang="en-US" sz="1500" dirty="0"/>
          </a:p>
        </p:txBody>
      </p:sp>
      <p:sp>
        <p:nvSpPr>
          <p:cNvPr id="35" name="Text 33"/>
          <p:cNvSpPr txBox="1"/>
          <p:nvPr/>
        </p:nvSpPr>
        <p:spPr>
          <a:xfrm>
            <a:off x="4114800" y="4983480"/>
            <a:ext cx="1097280" cy="365760"/>
          </a:xfrm>
          <a:prstGeom prst="rect">
            <a:avLst/>
          </a:prstGeom>
          <a:noFill/>
          <a:ln/>
        </p:spPr>
        <p:txBody>
          <a:bodyPr wrap="square" lIns="0" tIns="0" rIns="0" bIns="0" rtlCol="0" anchor="ctr"/>
          <a:lstStyle/>
          <a:p>
            <a:pPr indent="0" marL="0">
              <a:buNone/>
            </a:pPr>
            <a:r>
              <a:rPr lang="en-US" sz="1400" dirty="0">
                <a:solidFill>
                  <a:schemeClr val="accent4"/>
                </a:solidFill>
              </a:rPr>
              <a:t>Strong</a:t>
            </a:r>
            <a:endParaRPr lang="en-US" sz="1400" dirty="0"/>
          </a:p>
        </p:txBody>
      </p:sp>
      <p:sp>
        <p:nvSpPr>
          <p:cNvPr id="36" name="Text 34"/>
          <p:cNvSpPr txBox="1"/>
          <p:nvPr/>
        </p:nvSpPr>
        <p:spPr>
          <a:xfrm>
            <a:off x="548640" y="5577840"/>
            <a:ext cx="4937760" cy="411480"/>
          </a:xfrm>
          <a:prstGeom prst="rect">
            <a:avLst/>
          </a:prstGeom>
          <a:noFill/>
          <a:ln/>
        </p:spPr>
        <p:txBody>
          <a:bodyPr wrap="square" lIns="0" tIns="0" rIns="0" bIns="0" rtlCol="0" anchor="ctr"/>
          <a:lstStyle/>
          <a:p>
            <a:pPr indent="0" marL="0">
              <a:buNone/>
            </a:pPr>
            <a:r>
              <a:rPr lang="en-US" sz="1700" dirty="0">
                <a:solidFill>
                  <a:schemeClr val="accent6"/>
                </a:solidFill>
              </a:rPr>
              <a:t>Overall  </a:t>
            </a:r>
            <a:pPr indent="0" marL="0">
              <a:buNone/>
            </a:pPr>
            <a:r>
              <a:rPr lang="en-US" sz="1700" b="1" dirty="0">
                <a:solidFill>
                  <a:schemeClr val="tx2"/>
                </a:solidFill>
              </a:rPr>
              <a:t>55 / 100  ·  Developing</a:t>
            </a:r>
            <a:endParaRPr lang="en-US" sz="1700" dirty="0"/>
          </a:p>
        </p:txBody>
      </p:sp>
      <p:sp>
        <p:nvSpPr>
          <p:cNvPr id="37" name="without-gates"/>
          <p:cNvSpPr/>
          <p:nvPr/>
        </p:nvSpPr>
        <p:spPr>
          <a:xfrm>
            <a:off x="5989320" y="1783080"/>
            <a:ext cx="5653735" cy="1051560"/>
          </a:xfrm>
          <a:prstGeom prst="roundRect">
            <a:avLst>
              <a:gd name="adj" fmla="val 6957"/>
            </a:avLst>
          </a:prstGeom>
          <a:solidFill>
            <a:schemeClr val="bg1"/>
          </a:solidFill>
          <a:ln w="12700">
            <a:solidFill>
              <a:schemeClr val="accent6"/>
            </a:solidFill>
            <a:prstDash val="dash"/>
          </a:ln>
        </p:spPr>
      </p:sp>
      <p:sp>
        <p:nvSpPr>
          <p:cNvPr id="38" name="Text 36"/>
          <p:cNvSpPr txBox="1"/>
          <p:nvPr/>
        </p:nvSpPr>
        <p:spPr>
          <a:xfrm>
            <a:off x="6263640" y="1892808"/>
            <a:ext cx="5105095" cy="320040"/>
          </a:xfrm>
          <a:prstGeom prst="rect">
            <a:avLst/>
          </a:prstGeom>
          <a:noFill/>
          <a:ln/>
        </p:spPr>
        <p:txBody>
          <a:bodyPr wrap="square" lIns="0" tIns="0" rIns="0" bIns="0" rtlCol="0" anchor="t"/>
          <a:lstStyle/>
          <a:p>
            <a:pPr indent="0" marL="0">
              <a:buNone/>
            </a:pPr>
            <a:r>
              <a:rPr lang="en-US" sz="1400" b="1" dirty="0">
                <a:solidFill>
                  <a:schemeClr val="accent6"/>
                </a:solidFill>
              </a:rPr>
              <a:t>Without the deal-breaker check</a:t>
            </a:r>
            <a:endParaRPr lang="en-US" sz="1400" dirty="0"/>
          </a:p>
        </p:txBody>
      </p:sp>
      <p:sp>
        <p:nvSpPr>
          <p:cNvPr id="39" name="Text 37"/>
          <p:cNvSpPr txBox="1"/>
          <p:nvPr/>
        </p:nvSpPr>
        <p:spPr>
          <a:xfrm>
            <a:off x="6263640" y="2258568"/>
            <a:ext cx="5105095" cy="411480"/>
          </a:xfrm>
          <a:prstGeom prst="rect">
            <a:avLst/>
          </a:prstGeom>
          <a:noFill/>
          <a:ln/>
        </p:spPr>
        <p:txBody>
          <a:bodyPr wrap="square" lIns="0" tIns="0" rIns="0" bIns="0" rtlCol="0" anchor="t"/>
          <a:lstStyle/>
          <a:p>
            <a:pPr indent="0" marL="0">
              <a:buNone/>
            </a:pPr>
            <a:r>
              <a:rPr lang="en-US" sz="1800" dirty="0">
                <a:solidFill>
                  <a:schemeClr val="accent6"/>
                </a:solidFill>
              </a:rPr>
              <a:t>Step 3: run small, supervised trials</a:t>
            </a:r>
            <a:endParaRPr lang="en-US" sz="1800" dirty="0"/>
          </a:p>
        </p:txBody>
      </p:sp>
      <p:sp>
        <p:nvSpPr>
          <p:cNvPr id="40" name="with-gates"/>
          <p:cNvSpPr/>
          <p:nvPr/>
        </p:nvSpPr>
        <p:spPr>
          <a:xfrm>
            <a:off x="5989320" y="3017520"/>
            <a:ext cx="5653735" cy="1051560"/>
          </a:xfrm>
          <a:prstGeom prst="roundRect">
            <a:avLst>
              <a:gd name="adj" fmla="val 6957"/>
            </a:avLst>
          </a:prstGeom>
          <a:solidFill>
            <a:schemeClr val="tx2"/>
          </a:solidFill>
          <a:ln w="12700">
            <a:solidFill>
              <a:schemeClr val="tx2"/>
            </a:solidFill>
            <a:prstDash val="solid"/>
          </a:ln>
        </p:spPr>
      </p:sp>
      <p:sp>
        <p:nvSpPr>
          <p:cNvPr id="41" name="Text 39"/>
          <p:cNvSpPr txBox="1"/>
          <p:nvPr/>
        </p:nvSpPr>
        <p:spPr>
          <a:xfrm>
            <a:off x="6263640" y="3127248"/>
            <a:ext cx="5105095" cy="320040"/>
          </a:xfrm>
          <a:prstGeom prst="rect">
            <a:avLst/>
          </a:prstGeom>
          <a:noFill/>
          <a:ln/>
        </p:spPr>
        <p:txBody>
          <a:bodyPr wrap="square" lIns="0" tIns="0" rIns="0" bIns="0" rtlCol="0" anchor="t"/>
          <a:lstStyle/>
          <a:p>
            <a:pPr indent="0" marL="0">
              <a:buNone/>
            </a:pPr>
            <a:r>
              <a:rPr lang="en-US" sz="1400" b="1" dirty="0">
                <a:solidFill>
                  <a:schemeClr val="bg2"/>
                </a:solidFill>
              </a:rPr>
              <a:t>With the deal-breaker check (the default)</a:t>
            </a:r>
            <a:endParaRPr lang="en-US" sz="1400" dirty="0"/>
          </a:p>
        </p:txBody>
      </p:sp>
      <p:sp>
        <p:nvSpPr>
          <p:cNvPr id="42" name="Text 40"/>
          <p:cNvSpPr txBox="1"/>
          <p:nvPr/>
        </p:nvSpPr>
        <p:spPr>
          <a:xfrm>
            <a:off x="6263640" y="3493008"/>
            <a:ext cx="5105095" cy="411480"/>
          </a:xfrm>
          <a:prstGeom prst="rect">
            <a:avLst/>
          </a:prstGeom>
          <a:noFill/>
          <a:ln/>
        </p:spPr>
        <p:txBody>
          <a:bodyPr wrap="square" lIns="0" tIns="0" rIns="0" bIns="0" rtlCol="0" anchor="t"/>
          <a:lstStyle/>
          <a:p>
            <a:pPr indent="0" marL="0">
              <a:buNone/>
            </a:pPr>
            <a:r>
              <a:rPr lang="en-US" sz="2000" b="1" dirty="0">
                <a:solidFill>
                  <a:schemeClr val="bg1"/>
                </a:solidFill>
              </a:rPr>
              <a:t>Step 1: get leadership on the same page</a:t>
            </a:r>
            <a:endParaRPr lang="en-US" sz="2000" dirty="0"/>
          </a:p>
        </p:txBody>
      </p:sp>
      <p:sp>
        <p:nvSpPr>
          <p:cNvPr id="43" name="Text 41"/>
          <p:cNvSpPr txBox="1"/>
          <p:nvPr/>
        </p:nvSpPr>
        <p:spPr>
          <a:xfrm>
            <a:off x="5989320" y="4297680"/>
            <a:ext cx="5653735" cy="1691640"/>
          </a:xfrm>
          <a:prstGeom prst="rect">
            <a:avLst/>
          </a:prstGeom>
          <a:noFill/>
          <a:ln/>
        </p:spPr>
        <p:txBody>
          <a:bodyPr wrap="square" lIns="0" tIns="0" rIns="0" bIns="0" rtlCol="0" anchor="t"/>
          <a:lstStyle/>
          <a:p>
            <a:pPr indent="0" marL="0">
              <a:buNone/>
            </a:pPr>
            <a:r>
              <a:rPr lang="en-US" sz="1600" b="1" dirty="0">
                <a:solidFill>
                  <a:schemeClr val="tx2"/>
                </a:solidFill>
              </a:rPr>
              <a:t>Why Step 1 is the right call: </a:t>
            </a:r>
            <a:pPr indent="0" marL="0">
              <a:buNone/>
            </a:pPr>
            <a:r>
              <a:rPr lang="en-US" sz="1600" dirty="0">
                <a:solidFill>
                  <a:schemeClr val="tx1"/>
                </a:solidFill>
              </a:rPr>
              <a:t>a trial with no executive owner is an orphan. When it hits its first problem, nobody has the authority to fund the fix, defend it to the board, or decide what success means. A few weeks spent aligning leadership is what makes the trial worth running.</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31520"/>
          </a:xfrm>
          <a:prstGeom prst="rect">
            <a:avLst/>
          </a:prstGeom>
          <a:noFill/>
          <a:ln/>
        </p:spPr>
        <p:txBody>
          <a:bodyPr wrap="square" lIns="0" tIns="0" rIns="0" bIns="0" rtlCol="0" anchor="ctr"/>
          <a:lstStyle/>
          <a:p>
            <a:pPr algn="l" indent="0" marL="0">
              <a:buNone/>
            </a:pPr>
            <a:r>
              <a:rPr lang="en-US" sz="3600" b="1" dirty="0">
                <a:solidFill>
                  <a:schemeClr val="tx1"/>
                </a:solidFill>
              </a:rPr>
              <a:t>What you get at the end</a:t>
            </a:r>
            <a:endParaRPr lang="en-US" sz="3600" dirty="0"/>
          </a:p>
        </p:txBody>
      </p:sp>
      <p:sp>
        <p:nvSpPr>
          <p:cNvPr id="3" name="report-card"/>
          <p:cNvSpPr/>
          <p:nvPr/>
        </p:nvSpPr>
        <p:spPr>
          <a:xfrm>
            <a:off x="548640" y="1417320"/>
            <a:ext cx="5364328" cy="4526280"/>
          </a:xfrm>
          <a:prstGeom prst="roundRect">
            <a:avLst>
              <a:gd name="adj" fmla="val 1616"/>
            </a:avLst>
          </a:prstGeom>
          <a:solidFill>
            <a:schemeClr val="bg2"/>
          </a:solidFill>
          <a:ln w="12700">
            <a:solidFill>
              <a:schemeClr val="bg2"/>
            </a:solidFill>
            <a:prstDash val="solid"/>
          </a:ln>
        </p:spPr>
      </p:sp>
      <p:sp>
        <p:nvSpPr>
          <p:cNvPr id="4" name="Shape 2"/>
          <p:cNvSpPr/>
          <p:nvPr/>
        </p:nvSpPr>
        <p:spPr>
          <a:xfrm>
            <a:off x="868680" y="1691640"/>
            <a:ext cx="640080" cy="640080"/>
          </a:xfrm>
          <a:prstGeom prst="ellipse">
            <a:avLst/>
          </a:prstGeom>
          <a:solidFill>
            <a:schemeClr val="tx2"/>
          </a:solidFill>
          <a:ln w="12700">
            <a:solidFill>
              <a:schemeClr val="tx2"/>
            </a:solidFill>
            <a:prstDash val="solid"/>
          </a:ln>
        </p:spPr>
      </p:sp>
      <p:pic>
        <p:nvPicPr>
          <p:cNvPr id="5" name="Image 0" descr="FileText icon">    </p:cNvPr>
          <p:cNvPicPr>
            <a:picLocks noChangeAspect="1"/>
          </p:cNvPicPr>
          <p:nvPr/>
        </p:nvPicPr>
        <p:blipFill>
          <a:blip r:embed="rId1"/>
          <a:stretch>
            <a:fillRect/>
          </a:stretch>
        </p:blipFill>
        <p:spPr>
          <a:xfrm>
            <a:off x="1022299" y="1845259"/>
            <a:ext cx="332842" cy="332842"/>
          </a:xfrm>
          <a:prstGeom prst="rect">
            <a:avLst/>
          </a:prstGeom>
        </p:spPr>
      </p:pic>
      <p:sp>
        <p:nvSpPr>
          <p:cNvPr id="6" name="Text 3"/>
          <p:cNvSpPr txBox="1"/>
          <p:nvPr/>
        </p:nvSpPr>
        <p:spPr>
          <a:xfrm>
            <a:off x="1691640" y="1691640"/>
            <a:ext cx="3901288" cy="640080"/>
          </a:xfrm>
          <a:prstGeom prst="rect">
            <a:avLst/>
          </a:prstGeom>
          <a:noFill/>
          <a:ln/>
        </p:spPr>
        <p:txBody>
          <a:bodyPr wrap="square" lIns="0" tIns="0" rIns="0" bIns="0" rtlCol="0" anchor="ctr"/>
          <a:lstStyle/>
          <a:p>
            <a:pPr indent="0" marL="0">
              <a:buNone/>
            </a:pPr>
            <a:r>
              <a:rPr lang="en-US" sz="2200" b="1" dirty="0">
                <a:solidFill>
                  <a:schemeClr val="tx1"/>
                </a:solidFill>
              </a:rPr>
              <a:t>The report</a:t>
            </a:r>
            <a:endParaRPr lang="en-US" sz="2200" dirty="0"/>
          </a:p>
        </p:txBody>
      </p:sp>
      <p:sp>
        <p:nvSpPr>
          <p:cNvPr id="7" name="Text 4"/>
          <p:cNvSpPr txBox="1"/>
          <p:nvPr/>
        </p:nvSpPr>
        <p:spPr>
          <a:xfrm>
            <a:off x="868680" y="2560320"/>
            <a:ext cx="4724248" cy="32004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The overall score and readiness label</a:t>
            </a:r>
            <a:endParaRPr lang="en-US" sz="1600" dirty="0"/>
          </a:p>
          <a:p>
            <a:pPr marL="342900" indent="-342900">
              <a:spcAft>
                <a:spcPts val="600"/>
              </a:spcAft>
              <a:buSzPct val="100000"/>
              <a:buChar char="•"/>
            </a:pPr>
            <a:r>
              <a:rPr lang="en-US" sz="1600" dirty="0">
                <a:solidFill>
                  <a:schemeClr val="tx1"/>
                </a:solidFill>
              </a:rPr>
              <a:t>All eight area scores</a:t>
            </a:r>
            <a:endParaRPr lang="en-US" sz="1600" dirty="0"/>
          </a:p>
          <a:p>
            <a:pPr marL="342900" indent="-342900">
              <a:spcAft>
                <a:spcPts val="600"/>
              </a:spcAft>
              <a:buSzPct val="100000"/>
              <a:buChar char="•"/>
            </a:pPr>
            <a:r>
              <a:rPr lang="en-US" sz="1600" dirty="0">
                <a:solidFill>
                  <a:schemeClr val="tx1"/>
                </a:solidFill>
              </a:rPr>
              <a:t>Strengths and weaknesses</a:t>
            </a:r>
            <a:endParaRPr lang="en-US" sz="1600" dirty="0"/>
          </a:p>
          <a:p>
            <a:pPr marL="342900" indent="-342900">
              <a:spcAft>
                <a:spcPts val="600"/>
              </a:spcAft>
              <a:buSzPct val="100000"/>
              <a:buChar char="•"/>
            </a:pPr>
            <a:r>
              <a:rPr lang="en-US" sz="1600" dirty="0">
                <a:solidFill>
                  <a:schemeClr val="tx1"/>
                </a:solidFill>
              </a:rPr>
              <a:t>The recommended step, with its reasoning</a:t>
            </a:r>
            <a:endParaRPr lang="en-US" sz="1600" dirty="0"/>
          </a:p>
          <a:p>
            <a:pPr marL="342900" indent="-342900">
              <a:spcAft>
                <a:spcPts val="600"/>
              </a:spcAft>
              <a:buSzPct val="100000"/>
              <a:buChar char="•"/>
            </a:pPr>
            <a:r>
              <a:rPr lang="en-US" sz="1600" dirty="0">
                <a:solidFill>
                  <a:schemeClr val="tx1"/>
                </a:solidFill>
              </a:rPr>
              <a:t>Any deal-breakers that held it back</a:t>
            </a:r>
            <a:endParaRPr lang="en-US" sz="1600" dirty="0"/>
          </a:p>
          <a:p>
            <a:pPr marL="342900" indent="-342900">
              <a:spcAft>
                <a:spcPts val="600"/>
              </a:spcAft>
              <a:buSzPct val="100000"/>
              <a:buChar char="•"/>
            </a:pPr>
            <a:r>
              <a:rPr lang="en-US" sz="1600" dirty="0">
                <a:solidFill>
                  <a:schemeClr val="tx1"/>
                </a:solidFill>
              </a:rPr>
              <a:t>Six recommended activities and four next actions</a:t>
            </a:r>
            <a:endParaRPr lang="en-US" sz="1600" dirty="0"/>
          </a:p>
          <a:p>
            <a:pPr marL="342900" indent="-342900">
              <a:spcAft>
                <a:spcPts val="600"/>
              </a:spcAft>
              <a:buSzPct val="100000"/>
              <a:buChar char="•"/>
            </a:pPr>
            <a:r>
              <a:rPr lang="en-US" sz="1600" dirty="0">
                <a:solidFill>
                  <a:schemeClr val="tx1"/>
                </a:solidFill>
              </a:rPr>
              <a:t>The operator’s evidence and notes</a:t>
            </a:r>
            <a:endParaRPr lang="en-US" sz="1600" dirty="0"/>
          </a:p>
        </p:txBody>
      </p:sp>
      <p:sp>
        <p:nvSpPr>
          <p:cNvPr id="8" name="trace-card"/>
          <p:cNvSpPr/>
          <p:nvPr/>
        </p:nvSpPr>
        <p:spPr>
          <a:xfrm>
            <a:off x="6278728" y="1417320"/>
            <a:ext cx="5364328" cy="4526280"/>
          </a:xfrm>
          <a:prstGeom prst="roundRect">
            <a:avLst>
              <a:gd name="adj" fmla="val 1616"/>
            </a:avLst>
          </a:prstGeom>
          <a:solidFill>
            <a:schemeClr val="tx2"/>
          </a:solidFill>
          <a:ln w="12700">
            <a:solidFill>
              <a:schemeClr val="tx2"/>
            </a:solidFill>
            <a:prstDash val="solid"/>
          </a:ln>
        </p:spPr>
      </p:sp>
      <p:sp>
        <p:nvSpPr>
          <p:cNvPr id="9" name="Shape 6"/>
          <p:cNvSpPr/>
          <p:nvPr/>
        </p:nvSpPr>
        <p:spPr>
          <a:xfrm>
            <a:off x="6598768" y="1691640"/>
            <a:ext cx="640080" cy="640080"/>
          </a:xfrm>
          <a:prstGeom prst="ellipse">
            <a:avLst/>
          </a:prstGeom>
          <a:solidFill>
            <a:schemeClr val="bg1"/>
          </a:solidFill>
          <a:ln w="12700">
            <a:solidFill>
              <a:schemeClr val="bg1"/>
            </a:solidFill>
            <a:prstDash val="solid"/>
          </a:ln>
        </p:spPr>
      </p:sp>
      <p:pic>
        <p:nvPicPr>
          <p:cNvPr id="10" name="Image 1" descr="SearchCheck icon">    </p:cNvPr>
          <p:cNvPicPr>
            <a:picLocks noChangeAspect="1"/>
          </p:cNvPicPr>
          <p:nvPr/>
        </p:nvPicPr>
        <p:blipFill>
          <a:blip r:embed="rId2"/>
          <a:stretch>
            <a:fillRect/>
          </a:stretch>
        </p:blipFill>
        <p:spPr>
          <a:xfrm>
            <a:off x="6752387" y="1845259"/>
            <a:ext cx="332842" cy="332842"/>
          </a:xfrm>
          <a:prstGeom prst="rect">
            <a:avLst/>
          </a:prstGeom>
        </p:spPr>
      </p:pic>
      <p:sp>
        <p:nvSpPr>
          <p:cNvPr id="11" name="Text 7"/>
          <p:cNvSpPr txBox="1"/>
          <p:nvPr/>
        </p:nvSpPr>
        <p:spPr>
          <a:xfrm>
            <a:off x="7421728" y="1691640"/>
            <a:ext cx="3901288" cy="640080"/>
          </a:xfrm>
          <a:prstGeom prst="rect">
            <a:avLst/>
          </a:prstGeom>
          <a:noFill/>
          <a:ln/>
        </p:spPr>
        <p:txBody>
          <a:bodyPr wrap="square" lIns="0" tIns="0" rIns="0" bIns="0" rtlCol="0" anchor="ctr"/>
          <a:lstStyle/>
          <a:p>
            <a:pPr indent="0" marL="0">
              <a:buNone/>
            </a:pPr>
            <a:r>
              <a:rPr lang="en-US" sz="2200" b="1" dirty="0">
                <a:solidFill>
                  <a:schemeClr val="bg1"/>
                </a:solidFill>
              </a:rPr>
              <a:t>The “show your work” view</a:t>
            </a:r>
            <a:endParaRPr lang="en-US" sz="2200" dirty="0"/>
          </a:p>
        </p:txBody>
      </p:sp>
      <p:sp>
        <p:nvSpPr>
          <p:cNvPr id="12" name="Text 8"/>
          <p:cNvSpPr txBox="1"/>
          <p:nvPr/>
        </p:nvSpPr>
        <p:spPr>
          <a:xfrm>
            <a:off x="6598768" y="2560320"/>
            <a:ext cx="4724248" cy="173736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bg1"/>
                </a:solidFill>
              </a:rPr>
              <a:t>Every score traced back to the answers that produced it</a:t>
            </a:r>
            <a:endParaRPr lang="en-US" sz="1600" dirty="0"/>
          </a:p>
          <a:p>
            <a:pPr marL="342900" indent="-342900">
              <a:spcAft>
                <a:spcPts val="600"/>
              </a:spcAft>
              <a:buSzPct val="100000"/>
              <a:buChar char="•"/>
            </a:pPr>
            <a:r>
              <a:rPr lang="en-US" sz="1600" dirty="0">
                <a:solidFill>
                  <a:schemeClr val="bg1"/>
                </a:solidFill>
              </a:rPr>
              <a:t>Which answers helped and which hurt</a:t>
            </a:r>
            <a:endParaRPr lang="en-US" sz="1600" dirty="0"/>
          </a:p>
          <a:p>
            <a:pPr marL="342900" indent="-342900">
              <a:spcAft>
                <a:spcPts val="600"/>
              </a:spcAft>
              <a:buSzPct val="100000"/>
              <a:buChar char="•"/>
            </a:pPr>
            <a:r>
              <a:rPr lang="en-US" sz="1600" dirty="0">
                <a:solidFill>
                  <a:schemeClr val="bg1"/>
                </a:solidFill>
              </a:rPr>
              <a:t>Which rule decided the recommendation</a:t>
            </a:r>
            <a:endParaRPr lang="en-US" sz="1600" dirty="0"/>
          </a:p>
        </p:txBody>
      </p:sp>
      <p:sp>
        <p:nvSpPr>
          <p:cNvPr id="13" name="Text 9"/>
          <p:cNvSpPr txBox="1"/>
          <p:nvPr/>
        </p:nvSpPr>
        <p:spPr>
          <a:xfrm>
            <a:off x="6598768" y="4526280"/>
            <a:ext cx="4724248" cy="1097280"/>
          </a:xfrm>
          <a:prstGeom prst="rect">
            <a:avLst/>
          </a:prstGeom>
          <a:noFill/>
          <a:ln/>
        </p:spPr>
        <p:txBody>
          <a:bodyPr wrap="square" lIns="0" tIns="0" rIns="0" bIns="0" rtlCol="0" anchor="t"/>
          <a:lstStyle/>
          <a:p>
            <a:pPr indent="0" marL="0">
              <a:buNone/>
            </a:pPr>
            <a:r>
              <a:rPr lang="en-US" sz="2000" i="1" dirty="0">
                <a:solidFill>
                  <a:schemeClr val="bg2"/>
                </a:solidFill>
                <a:latin typeface="+mj-lt" pitchFamily="34" charset="0"/>
                <a:ea typeface="+mj-lt" pitchFamily="34" charset="-122"/>
                <a:cs typeface="+mj-lt" pitchFamily="34" charset="-120"/>
              </a:rPr>
              <a:t>If someone asks “Why Step 1?”, the answer is right there on the screen.</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31520"/>
          </a:xfrm>
          <a:prstGeom prst="rect">
            <a:avLst/>
          </a:prstGeom>
          <a:noFill/>
          <a:ln/>
        </p:spPr>
        <p:txBody>
          <a:bodyPr wrap="square" lIns="0" tIns="0" rIns="0" bIns="0" rtlCol="0" anchor="ctr"/>
          <a:lstStyle/>
          <a:p>
            <a:pPr algn="l" indent="0" marL="0">
              <a:buNone/>
            </a:pPr>
            <a:r>
              <a:rPr lang="en-US" sz="3600" b="1" dirty="0">
                <a:solidFill>
                  <a:schemeClr val="bg1"/>
                </a:solidFill>
              </a:rPr>
              <a:t>Why you can trust it, and its limits</a:t>
            </a:r>
            <a:endParaRPr lang="en-US" sz="3600" dirty="0"/>
          </a:p>
        </p:txBody>
      </p:sp>
      <p:sp>
        <p:nvSpPr>
          <p:cNvPr id="3" name="Text 1"/>
          <p:cNvSpPr txBox="1"/>
          <p:nvPr/>
        </p:nvSpPr>
        <p:spPr>
          <a:xfrm>
            <a:off x="548640" y="1417320"/>
            <a:ext cx="5272888" cy="457200"/>
          </a:xfrm>
          <a:prstGeom prst="rect">
            <a:avLst/>
          </a:prstGeom>
          <a:noFill/>
          <a:ln/>
        </p:spPr>
        <p:txBody>
          <a:bodyPr wrap="square" lIns="0" tIns="0" rIns="0" bIns="0" rtlCol="0" anchor="t"/>
          <a:lstStyle/>
          <a:p>
            <a:pPr indent="0" marL="0">
              <a:buNone/>
            </a:pPr>
            <a:r>
              <a:rPr lang="en-US" sz="2200" b="1" dirty="0">
                <a:solidFill>
                  <a:schemeClr val="bg1"/>
                </a:solidFill>
              </a:rPr>
              <a:t>Why you can trust it</a:t>
            </a:r>
            <a:endParaRPr lang="en-US" sz="2200" dirty="0"/>
          </a:p>
        </p:txBody>
      </p:sp>
      <p:sp>
        <p:nvSpPr>
          <p:cNvPr id="4" name="Shape 2"/>
          <p:cNvSpPr/>
          <p:nvPr/>
        </p:nvSpPr>
        <p:spPr>
          <a:xfrm>
            <a:off x="548640" y="2148840"/>
            <a:ext cx="457200" cy="457200"/>
          </a:xfrm>
          <a:prstGeom prst="ellipse">
            <a:avLst/>
          </a:prstGeom>
          <a:solidFill>
            <a:schemeClr val="bg1"/>
          </a:solidFill>
          <a:ln w="12700">
            <a:solidFill>
              <a:schemeClr val="bg1"/>
            </a:solidFill>
            <a:prstDash val="solid"/>
          </a:ln>
        </p:spPr>
      </p:sp>
      <p:pic>
        <p:nvPicPr>
          <p:cNvPr id="5" name="Image 0" descr="Check icon">    </p:cNvPr>
          <p:cNvPicPr>
            <a:picLocks noChangeAspect="1"/>
          </p:cNvPicPr>
          <p:nvPr/>
        </p:nvPicPr>
        <p:blipFill>
          <a:blip r:embed="rId1"/>
          <a:stretch>
            <a:fillRect/>
          </a:stretch>
        </p:blipFill>
        <p:spPr>
          <a:xfrm>
            <a:off x="658368" y="2258568"/>
            <a:ext cx="237744" cy="237744"/>
          </a:xfrm>
          <a:prstGeom prst="rect">
            <a:avLst/>
          </a:prstGeom>
        </p:spPr>
      </p:pic>
      <p:sp>
        <p:nvSpPr>
          <p:cNvPr id="6" name="Text 3"/>
          <p:cNvSpPr txBox="1"/>
          <p:nvPr/>
        </p:nvSpPr>
        <p:spPr>
          <a:xfrm>
            <a:off x="1234440" y="2103120"/>
            <a:ext cx="4587088" cy="896112"/>
          </a:xfrm>
          <a:prstGeom prst="rect">
            <a:avLst/>
          </a:prstGeom>
          <a:noFill/>
          <a:ln/>
        </p:spPr>
        <p:txBody>
          <a:bodyPr wrap="square" lIns="0" tIns="0" rIns="0" bIns="0" rtlCol="0" anchor="t"/>
          <a:lstStyle/>
          <a:p>
            <a:pPr indent="0" marL="0">
              <a:buNone/>
            </a:pPr>
            <a:r>
              <a:rPr lang="en-US" sz="1500" b="1" dirty="0">
                <a:solidFill>
                  <a:schemeClr val="bg1"/>
                </a:solidFill>
              </a:rPr>
              <a:t>Built on checkable facts</a:t>
            </a:r>
            <a:endParaRPr lang="en-US" sz="1500" dirty="0"/>
          </a:p>
          <a:p>
            <a:pPr indent="0" marL="0">
              <a:buNone/>
            </a:pPr>
            <a:r>
              <a:rPr lang="en-US" sz="1500" dirty="0">
                <a:solidFill>
                  <a:schemeClr val="bg2"/>
                </a:solidFill>
              </a:rPr>
              <a:t>Not opinions. Every answer can be verified.</a:t>
            </a:r>
            <a:endParaRPr lang="en-US" sz="1500" dirty="0"/>
          </a:p>
        </p:txBody>
      </p:sp>
      <p:sp>
        <p:nvSpPr>
          <p:cNvPr id="7" name="Shape 4"/>
          <p:cNvSpPr/>
          <p:nvPr/>
        </p:nvSpPr>
        <p:spPr>
          <a:xfrm>
            <a:off x="548640" y="3136392"/>
            <a:ext cx="457200" cy="457200"/>
          </a:xfrm>
          <a:prstGeom prst="ellipse">
            <a:avLst/>
          </a:prstGeom>
          <a:solidFill>
            <a:schemeClr val="bg1"/>
          </a:solidFill>
          <a:ln w="12700">
            <a:solidFill>
              <a:schemeClr val="bg1"/>
            </a:solidFill>
            <a:prstDash val="solid"/>
          </a:ln>
        </p:spPr>
      </p:sp>
      <p:pic>
        <p:nvPicPr>
          <p:cNvPr id="8" name="Image 1" descr="Check icon">    </p:cNvPr>
          <p:cNvPicPr>
            <a:picLocks noChangeAspect="1"/>
          </p:cNvPicPr>
          <p:nvPr/>
        </p:nvPicPr>
        <p:blipFill>
          <a:blip r:embed="rId2"/>
          <a:stretch>
            <a:fillRect/>
          </a:stretch>
        </p:blipFill>
        <p:spPr>
          <a:xfrm>
            <a:off x="658368" y="3246120"/>
            <a:ext cx="237744" cy="237744"/>
          </a:xfrm>
          <a:prstGeom prst="rect">
            <a:avLst/>
          </a:prstGeom>
        </p:spPr>
      </p:pic>
      <p:sp>
        <p:nvSpPr>
          <p:cNvPr id="9" name="Text 5"/>
          <p:cNvSpPr txBox="1"/>
          <p:nvPr/>
        </p:nvSpPr>
        <p:spPr>
          <a:xfrm>
            <a:off x="1234440" y="3090672"/>
            <a:ext cx="4587088" cy="896112"/>
          </a:xfrm>
          <a:prstGeom prst="rect">
            <a:avLst/>
          </a:prstGeom>
          <a:noFill/>
          <a:ln/>
        </p:spPr>
        <p:txBody>
          <a:bodyPr wrap="square" lIns="0" tIns="0" rIns="0" bIns="0" rtlCol="0" anchor="t"/>
          <a:lstStyle/>
          <a:p>
            <a:pPr indent="0" marL="0">
              <a:buNone/>
            </a:pPr>
            <a:r>
              <a:rPr lang="en-US" sz="1500" b="1" dirty="0">
                <a:solidFill>
                  <a:schemeClr val="bg1"/>
                </a:solidFill>
              </a:rPr>
              <a:t>Consistent</a:t>
            </a:r>
            <a:endParaRPr lang="en-US" sz="1500" dirty="0"/>
          </a:p>
          <a:p>
            <a:pPr indent="0" marL="0">
              <a:buNone/>
            </a:pPr>
            <a:r>
              <a:rPr lang="en-US" sz="1500" dirty="0">
                <a:solidFill>
                  <a:schemeClr val="bg2"/>
                </a:solidFill>
              </a:rPr>
              <a:t>The same answers give the same result, whoever runs it.</a:t>
            </a:r>
            <a:endParaRPr lang="en-US" sz="1500" dirty="0"/>
          </a:p>
        </p:txBody>
      </p:sp>
      <p:sp>
        <p:nvSpPr>
          <p:cNvPr id="10" name="Shape 6"/>
          <p:cNvSpPr/>
          <p:nvPr/>
        </p:nvSpPr>
        <p:spPr>
          <a:xfrm>
            <a:off x="548640" y="4123944"/>
            <a:ext cx="457200" cy="457200"/>
          </a:xfrm>
          <a:prstGeom prst="ellipse">
            <a:avLst/>
          </a:prstGeom>
          <a:solidFill>
            <a:schemeClr val="bg1"/>
          </a:solidFill>
          <a:ln w="12700">
            <a:solidFill>
              <a:schemeClr val="bg1"/>
            </a:solidFill>
            <a:prstDash val="solid"/>
          </a:ln>
        </p:spPr>
      </p:sp>
      <p:pic>
        <p:nvPicPr>
          <p:cNvPr id="11" name="Image 2" descr="Check icon">    </p:cNvPr>
          <p:cNvPicPr>
            <a:picLocks noChangeAspect="1"/>
          </p:cNvPicPr>
          <p:nvPr/>
        </p:nvPicPr>
        <p:blipFill>
          <a:blip r:embed="rId3"/>
          <a:stretch>
            <a:fillRect/>
          </a:stretch>
        </p:blipFill>
        <p:spPr>
          <a:xfrm>
            <a:off x="658368" y="4233672"/>
            <a:ext cx="237744" cy="237744"/>
          </a:xfrm>
          <a:prstGeom prst="rect">
            <a:avLst/>
          </a:prstGeom>
        </p:spPr>
      </p:pic>
      <p:sp>
        <p:nvSpPr>
          <p:cNvPr id="12" name="Text 7"/>
          <p:cNvSpPr txBox="1"/>
          <p:nvPr/>
        </p:nvSpPr>
        <p:spPr>
          <a:xfrm>
            <a:off x="1234440" y="4078224"/>
            <a:ext cx="4587088" cy="896112"/>
          </a:xfrm>
          <a:prstGeom prst="rect">
            <a:avLst/>
          </a:prstGeom>
          <a:noFill/>
          <a:ln/>
        </p:spPr>
        <p:txBody>
          <a:bodyPr wrap="square" lIns="0" tIns="0" rIns="0" bIns="0" rtlCol="0" anchor="t"/>
          <a:lstStyle/>
          <a:p>
            <a:pPr indent="0" marL="0">
              <a:buNone/>
            </a:pPr>
            <a:r>
              <a:rPr lang="en-US" sz="1500" b="1" dirty="0">
                <a:solidFill>
                  <a:schemeClr val="bg1"/>
                </a:solidFill>
              </a:rPr>
              <a:t>Explains itself</a:t>
            </a:r>
            <a:endParaRPr lang="en-US" sz="1500" dirty="0"/>
          </a:p>
          <a:p>
            <a:pPr indent="0" marL="0">
              <a:buNone/>
            </a:pPr>
            <a:r>
              <a:rPr lang="en-US" sz="1500" dirty="0">
                <a:solidFill>
                  <a:schemeClr val="bg2"/>
                </a:solidFill>
              </a:rPr>
              <a:t>Every number traces back to the answers behind it.</a:t>
            </a:r>
            <a:endParaRPr lang="en-US" sz="1500" dirty="0"/>
          </a:p>
        </p:txBody>
      </p:sp>
      <p:sp>
        <p:nvSpPr>
          <p:cNvPr id="13" name="Shape 8"/>
          <p:cNvSpPr/>
          <p:nvPr/>
        </p:nvSpPr>
        <p:spPr>
          <a:xfrm>
            <a:off x="548640" y="5111496"/>
            <a:ext cx="457200" cy="457200"/>
          </a:xfrm>
          <a:prstGeom prst="ellipse">
            <a:avLst/>
          </a:prstGeom>
          <a:solidFill>
            <a:schemeClr val="bg1"/>
          </a:solidFill>
          <a:ln w="12700">
            <a:solidFill>
              <a:schemeClr val="bg1"/>
            </a:solidFill>
            <a:prstDash val="solid"/>
          </a:ln>
        </p:spPr>
      </p:sp>
      <p:pic>
        <p:nvPicPr>
          <p:cNvPr id="14" name="Image 3" descr="Check icon">    </p:cNvPr>
          <p:cNvPicPr>
            <a:picLocks noChangeAspect="1"/>
          </p:cNvPicPr>
          <p:nvPr/>
        </p:nvPicPr>
        <p:blipFill>
          <a:blip r:embed="rId4"/>
          <a:stretch>
            <a:fillRect/>
          </a:stretch>
        </p:blipFill>
        <p:spPr>
          <a:xfrm>
            <a:off x="658368" y="5221224"/>
            <a:ext cx="237744" cy="237744"/>
          </a:xfrm>
          <a:prstGeom prst="rect">
            <a:avLst/>
          </a:prstGeom>
        </p:spPr>
      </p:pic>
      <p:sp>
        <p:nvSpPr>
          <p:cNvPr id="15" name="Text 9"/>
          <p:cNvSpPr txBox="1"/>
          <p:nvPr/>
        </p:nvSpPr>
        <p:spPr>
          <a:xfrm>
            <a:off x="1234440" y="5065776"/>
            <a:ext cx="4587088" cy="896112"/>
          </a:xfrm>
          <a:prstGeom prst="rect">
            <a:avLst/>
          </a:prstGeom>
          <a:noFill/>
          <a:ln/>
        </p:spPr>
        <p:txBody>
          <a:bodyPr wrap="square" lIns="0" tIns="0" rIns="0" bIns="0" rtlCol="0" anchor="t"/>
          <a:lstStyle/>
          <a:p>
            <a:pPr indent="0" marL="0">
              <a:buNone/>
            </a:pPr>
            <a:r>
              <a:rPr lang="en-US" sz="1500" b="1" dirty="0">
                <a:solidFill>
                  <a:schemeClr val="bg1"/>
                </a:solidFill>
              </a:rPr>
              <a:t>Cautious</a:t>
            </a:r>
            <a:endParaRPr lang="en-US" sz="1500" dirty="0"/>
          </a:p>
          <a:p>
            <a:pPr indent="0" marL="0">
              <a:buNone/>
            </a:pPr>
            <a:r>
              <a:rPr lang="en-US" sz="1500" dirty="0">
                <a:solidFill>
                  <a:schemeClr val="bg2"/>
                </a:solidFill>
              </a:rPr>
              <a:t>Missing information counts as weak, and deal-breakers only lower.</a:t>
            </a:r>
            <a:endParaRPr lang="en-US" sz="1500" dirty="0"/>
          </a:p>
        </p:txBody>
      </p:sp>
      <p:sp>
        <p:nvSpPr>
          <p:cNvPr id="16" name="Text 10"/>
          <p:cNvSpPr txBox="1"/>
          <p:nvPr/>
        </p:nvSpPr>
        <p:spPr>
          <a:xfrm>
            <a:off x="6370168" y="1417320"/>
            <a:ext cx="5272888" cy="457200"/>
          </a:xfrm>
          <a:prstGeom prst="rect">
            <a:avLst/>
          </a:prstGeom>
          <a:noFill/>
          <a:ln/>
        </p:spPr>
        <p:txBody>
          <a:bodyPr wrap="square" lIns="0" tIns="0" rIns="0" bIns="0" rtlCol="0" anchor="t"/>
          <a:lstStyle/>
          <a:p>
            <a:pPr indent="0" marL="0">
              <a:buNone/>
            </a:pPr>
            <a:r>
              <a:rPr lang="en-US" sz="2200" b="1" dirty="0">
                <a:solidFill>
                  <a:schemeClr val="bg1"/>
                </a:solidFill>
              </a:rPr>
              <a:t>Where its limits are</a:t>
            </a:r>
            <a:endParaRPr lang="en-US" sz="2200" dirty="0"/>
          </a:p>
        </p:txBody>
      </p:sp>
      <p:sp>
        <p:nvSpPr>
          <p:cNvPr id="17" name="Shape 11"/>
          <p:cNvSpPr/>
          <p:nvPr/>
        </p:nvSpPr>
        <p:spPr>
          <a:xfrm>
            <a:off x="6370168" y="2148840"/>
            <a:ext cx="457200" cy="457200"/>
          </a:xfrm>
          <a:prstGeom prst="ellipse">
            <a:avLst/>
          </a:prstGeom>
          <a:solidFill>
            <a:schemeClr val="bg1"/>
          </a:solidFill>
          <a:ln w="12700">
            <a:solidFill>
              <a:schemeClr val="bg1"/>
            </a:solidFill>
            <a:prstDash val="solid"/>
          </a:ln>
        </p:spPr>
      </p:sp>
      <p:pic>
        <p:nvPicPr>
          <p:cNvPr id="18" name="Image 4" descr="TriangleAlert icon">    </p:cNvPr>
          <p:cNvPicPr>
            <a:picLocks noChangeAspect="1"/>
          </p:cNvPicPr>
          <p:nvPr/>
        </p:nvPicPr>
        <p:blipFill>
          <a:blip r:embed="rId5"/>
          <a:stretch>
            <a:fillRect/>
          </a:stretch>
        </p:blipFill>
        <p:spPr>
          <a:xfrm>
            <a:off x="6479896" y="2258568"/>
            <a:ext cx="237744" cy="237744"/>
          </a:xfrm>
          <a:prstGeom prst="rect">
            <a:avLst/>
          </a:prstGeom>
        </p:spPr>
      </p:pic>
      <p:sp>
        <p:nvSpPr>
          <p:cNvPr id="19" name="Text 12"/>
          <p:cNvSpPr txBox="1"/>
          <p:nvPr/>
        </p:nvSpPr>
        <p:spPr>
          <a:xfrm>
            <a:off x="7055968" y="2103120"/>
            <a:ext cx="4587088" cy="896112"/>
          </a:xfrm>
          <a:prstGeom prst="rect">
            <a:avLst/>
          </a:prstGeom>
          <a:noFill/>
          <a:ln/>
        </p:spPr>
        <p:txBody>
          <a:bodyPr wrap="square" lIns="0" tIns="0" rIns="0" bIns="0" rtlCol="0" anchor="t"/>
          <a:lstStyle/>
          <a:p>
            <a:pPr indent="0" marL="0">
              <a:buNone/>
            </a:pPr>
            <a:r>
              <a:rPr lang="en-US" sz="1500" b="1" dirty="0">
                <a:solidFill>
                  <a:schemeClr val="bg1"/>
                </a:solidFill>
              </a:rPr>
              <a:t>A first version</a:t>
            </a:r>
            <a:endParaRPr lang="en-US" sz="1500" dirty="0"/>
          </a:p>
          <a:p>
            <a:pPr indent="0" marL="0">
              <a:buNone/>
            </a:pPr>
            <a:r>
              <a:rPr lang="en-US" sz="1500" dirty="0">
                <a:solidFill>
                  <a:schemeClr val="bg2"/>
                </a:solidFill>
              </a:rPr>
              <a:t>Its weights and score lines are informed judgment, not yet tested against real outcomes.</a:t>
            </a:r>
            <a:endParaRPr lang="en-US" sz="1500" dirty="0"/>
          </a:p>
        </p:txBody>
      </p:sp>
      <p:sp>
        <p:nvSpPr>
          <p:cNvPr id="20" name="Shape 13"/>
          <p:cNvSpPr/>
          <p:nvPr/>
        </p:nvSpPr>
        <p:spPr>
          <a:xfrm>
            <a:off x="6370168" y="3136392"/>
            <a:ext cx="457200" cy="457200"/>
          </a:xfrm>
          <a:prstGeom prst="ellipse">
            <a:avLst/>
          </a:prstGeom>
          <a:solidFill>
            <a:schemeClr val="bg1"/>
          </a:solidFill>
          <a:ln w="12700">
            <a:solidFill>
              <a:schemeClr val="bg1"/>
            </a:solidFill>
            <a:prstDash val="solid"/>
          </a:ln>
        </p:spPr>
      </p:sp>
      <p:pic>
        <p:nvPicPr>
          <p:cNvPr id="21" name="Image 5" descr="TriangleAlert icon">    </p:cNvPr>
          <p:cNvPicPr>
            <a:picLocks noChangeAspect="1"/>
          </p:cNvPicPr>
          <p:nvPr/>
        </p:nvPicPr>
        <p:blipFill>
          <a:blip r:embed="rId6"/>
          <a:stretch>
            <a:fillRect/>
          </a:stretch>
        </p:blipFill>
        <p:spPr>
          <a:xfrm>
            <a:off x="6479896" y="3246120"/>
            <a:ext cx="237744" cy="237744"/>
          </a:xfrm>
          <a:prstGeom prst="rect">
            <a:avLst/>
          </a:prstGeom>
        </p:spPr>
      </p:pic>
      <p:sp>
        <p:nvSpPr>
          <p:cNvPr id="22" name="Text 14"/>
          <p:cNvSpPr txBox="1"/>
          <p:nvPr/>
        </p:nvSpPr>
        <p:spPr>
          <a:xfrm>
            <a:off x="7055968" y="3090672"/>
            <a:ext cx="4587088" cy="896112"/>
          </a:xfrm>
          <a:prstGeom prst="rect">
            <a:avLst/>
          </a:prstGeom>
          <a:noFill/>
          <a:ln/>
        </p:spPr>
        <p:txBody>
          <a:bodyPr wrap="square" lIns="0" tIns="0" rIns="0" bIns="0" rtlCol="0" anchor="t"/>
          <a:lstStyle/>
          <a:p>
            <a:pPr indent="0" marL="0">
              <a:buNone/>
            </a:pPr>
            <a:r>
              <a:rPr lang="en-US" sz="1500" b="1" dirty="0">
                <a:solidFill>
                  <a:schemeClr val="bg1"/>
                </a:solidFill>
              </a:rPr>
              <a:t>Only as good as its answers</a:t>
            </a:r>
            <a:endParaRPr lang="en-US" sz="1500" dirty="0"/>
          </a:p>
          <a:p>
            <a:pPr indent="0" marL="0">
              <a:buNone/>
            </a:pPr>
            <a:r>
              <a:rPr lang="en-US" sz="1500" dirty="0">
                <a:solidFill>
                  <a:schemeClr val="bg2"/>
                </a:solidFill>
              </a:rPr>
              <a:t>Rushed or half-finished assessments give shaky results.</a:t>
            </a:r>
            <a:endParaRPr lang="en-US" sz="1500" dirty="0"/>
          </a:p>
        </p:txBody>
      </p:sp>
      <p:sp>
        <p:nvSpPr>
          <p:cNvPr id="23" name="Shape 15"/>
          <p:cNvSpPr/>
          <p:nvPr/>
        </p:nvSpPr>
        <p:spPr>
          <a:xfrm>
            <a:off x="6370168" y="4123944"/>
            <a:ext cx="457200" cy="457200"/>
          </a:xfrm>
          <a:prstGeom prst="ellipse">
            <a:avLst/>
          </a:prstGeom>
          <a:solidFill>
            <a:schemeClr val="bg1"/>
          </a:solidFill>
          <a:ln w="12700">
            <a:solidFill>
              <a:schemeClr val="bg1"/>
            </a:solidFill>
            <a:prstDash val="solid"/>
          </a:ln>
        </p:spPr>
      </p:sp>
      <p:pic>
        <p:nvPicPr>
          <p:cNvPr id="24" name="Image 6" descr="TriangleAlert icon">    </p:cNvPr>
          <p:cNvPicPr>
            <a:picLocks noChangeAspect="1"/>
          </p:cNvPicPr>
          <p:nvPr/>
        </p:nvPicPr>
        <p:blipFill>
          <a:blip r:embed="rId7"/>
          <a:stretch>
            <a:fillRect/>
          </a:stretch>
        </p:blipFill>
        <p:spPr>
          <a:xfrm>
            <a:off x="6479896" y="4233672"/>
            <a:ext cx="237744" cy="237744"/>
          </a:xfrm>
          <a:prstGeom prst="rect">
            <a:avLst/>
          </a:prstGeom>
        </p:spPr>
      </p:pic>
      <p:sp>
        <p:nvSpPr>
          <p:cNvPr id="25" name="Text 16"/>
          <p:cNvSpPr txBox="1"/>
          <p:nvPr/>
        </p:nvSpPr>
        <p:spPr>
          <a:xfrm>
            <a:off x="7055968" y="4078224"/>
            <a:ext cx="4587088" cy="896112"/>
          </a:xfrm>
          <a:prstGeom prst="rect">
            <a:avLst/>
          </a:prstGeom>
          <a:noFill/>
          <a:ln/>
        </p:spPr>
        <p:txBody>
          <a:bodyPr wrap="square" lIns="0" tIns="0" rIns="0" bIns="0" rtlCol="0" anchor="t"/>
          <a:lstStyle/>
          <a:p>
            <a:pPr indent="0" marL="0">
              <a:buNone/>
            </a:pPr>
            <a:r>
              <a:rPr lang="en-US" sz="1500" b="1" dirty="0">
                <a:solidFill>
                  <a:schemeClr val="bg1"/>
                </a:solidFill>
              </a:rPr>
              <a:t>The next step, not the whole journey</a:t>
            </a:r>
            <a:endParaRPr lang="en-US" sz="1500" dirty="0"/>
          </a:p>
          <a:p>
            <a:pPr indent="0" marL="0">
              <a:buNone/>
            </a:pPr>
            <a:r>
              <a:rPr lang="en-US" sz="1500" dirty="0">
                <a:solidFill>
                  <a:schemeClr val="bg2"/>
                </a:solidFill>
              </a:rPr>
              <a:t>It structures the operator’s judgment; it doesn’t replace it.</a:t>
            </a:r>
            <a:endParaRPr lang="en-US" sz="1500" dirty="0"/>
          </a:p>
        </p:txBody>
      </p:sp>
      <p:sp>
        <p:nvSpPr>
          <p:cNvPr id="26" name="Shape 17"/>
          <p:cNvSpPr/>
          <p:nvPr/>
        </p:nvSpPr>
        <p:spPr>
          <a:xfrm>
            <a:off x="6370168" y="5111496"/>
            <a:ext cx="457200" cy="457200"/>
          </a:xfrm>
          <a:prstGeom prst="ellipse">
            <a:avLst/>
          </a:prstGeom>
          <a:solidFill>
            <a:schemeClr val="bg1"/>
          </a:solidFill>
          <a:ln w="12700">
            <a:solidFill>
              <a:schemeClr val="bg1"/>
            </a:solidFill>
            <a:prstDash val="solid"/>
          </a:ln>
        </p:spPr>
      </p:sp>
      <p:pic>
        <p:nvPicPr>
          <p:cNvPr id="27" name="Image 7" descr="TriangleAlert icon">    </p:cNvPr>
          <p:cNvPicPr>
            <a:picLocks noChangeAspect="1"/>
          </p:cNvPicPr>
          <p:nvPr/>
        </p:nvPicPr>
        <p:blipFill>
          <a:blip r:embed="rId8"/>
          <a:stretch>
            <a:fillRect/>
          </a:stretch>
        </p:blipFill>
        <p:spPr>
          <a:xfrm>
            <a:off x="6479896" y="5221224"/>
            <a:ext cx="237744" cy="237744"/>
          </a:xfrm>
          <a:prstGeom prst="rect">
            <a:avLst/>
          </a:prstGeom>
        </p:spPr>
      </p:pic>
      <p:sp>
        <p:nvSpPr>
          <p:cNvPr id="28" name="Text 18"/>
          <p:cNvSpPr txBox="1"/>
          <p:nvPr/>
        </p:nvSpPr>
        <p:spPr>
          <a:xfrm>
            <a:off x="7055968" y="5065776"/>
            <a:ext cx="4587088" cy="896112"/>
          </a:xfrm>
          <a:prstGeom prst="rect">
            <a:avLst/>
          </a:prstGeom>
          <a:noFill/>
          <a:ln/>
        </p:spPr>
        <p:txBody>
          <a:bodyPr wrap="square" lIns="0" tIns="0" rIns="0" bIns="0" rtlCol="0" anchor="t"/>
          <a:lstStyle/>
          <a:p>
            <a:pPr indent="0" marL="0">
              <a:buNone/>
            </a:pPr>
            <a:r>
              <a:rPr lang="en-US" sz="1500" b="1" dirty="0">
                <a:solidFill>
                  <a:schemeClr val="bg1"/>
                </a:solidFill>
              </a:rPr>
              <a:t>Conditions, not people</a:t>
            </a:r>
            <a:endParaRPr lang="en-US" sz="1500" dirty="0"/>
          </a:p>
          <a:p>
            <a:pPr indent="0" marL="0">
              <a:buNone/>
            </a:pPr>
            <a:r>
              <a:rPr lang="en-US" sz="1500" dirty="0">
                <a:solidFill>
                  <a:schemeClr val="bg2"/>
                </a:solidFill>
              </a:rPr>
              <a:t>A low score describes a starting point, not a grade on the team.</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31520"/>
          </a:xfrm>
          <a:prstGeom prst="rect">
            <a:avLst/>
          </a:prstGeom>
          <a:noFill/>
          <a:ln/>
        </p:spPr>
        <p:txBody>
          <a:bodyPr wrap="square" lIns="0" tIns="0" rIns="0" bIns="0" rtlCol="0" anchor="ctr"/>
          <a:lstStyle/>
          <a:p>
            <a:pPr algn="l" indent="0" marL="0">
              <a:buNone/>
            </a:pPr>
            <a:r>
              <a:rPr lang="en-US" sz="3600" b="1" dirty="0">
                <a:solidFill>
                  <a:schemeClr val="tx1"/>
                </a:solidFill>
              </a:rPr>
              <a:t>Words worth knowing</a:t>
            </a:r>
            <a:endParaRPr lang="en-US" sz="3600" dirty="0"/>
          </a:p>
        </p:txBody>
      </p:sp>
      <p:sp>
        <p:nvSpPr>
          <p:cNvPr id="3" name="term-1"/>
          <p:cNvSpPr/>
          <p:nvPr/>
        </p:nvSpPr>
        <p:spPr>
          <a:xfrm>
            <a:off x="548640" y="1371600"/>
            <a:ext cx="3515258" cy="1371600"/>
          </a:xfrm>
          <a:prstGeom prst="roundRect">
            <a:avLst>
              <a:gd name="adj" fmla="val 5333"/>
            </a:avLst>
          </a:prstGeom>
          <a:solidFill>
            <a:schemeClr val="bg2"/>
          </a:solidFill>
          <a:ln w="12700">
            <a:solidFill>
              <a:schemeClr val="bg2"/>
            </a:solidFill>
            <a:prstDash val="solid"/>
          </a:ln>
        </p:spPr>
      </p:sp>
      <p:sp>
        <p:nvSpPr>
          <p:cNvPr id="4" name="Text 2"/>
          <p:cNvSpPr txBox="1"/>
          <p:nvPr/>
        </p:nvSpPr>
        <p:spPr>
          <a:xfrm>
            <a:off x="777240" y="1536192"/>
            <a:ext cx="3058058" cy="365760"/>
          </a:xfrm>
          <a:prstGeom prst="rect">
            <a:avLst/>
          </a:prstGeom>
          <a:noFill/>
          <a:ln/>
        </p:spPr>
        <p:txBody>
          <a:bodyPr wrap="square" lIns="0" tIns="0" rIns="0" bIns="0" rtlCol="0" anchor="t"/>
          <a:lstStyle/>
          <a:p>
            <a:pPr indent="0" marL="0">
              <a:buNone/>
            </a:pPr>
            <a:r>
              <a:rPr lang="en-US" sz="1700" b="1" dirty="0">
                <a:solidFill>
                  <a:schemeClr val="tx2"/>
                </a:solidFill>
              </a:rPr>
              <a:t>AI readiness</a:t>
            </a:r>
            <a:endParaRPr lang="en-US" sz="1700" dirty="0"/>
          </a:p>
        </p:txBody>
      </p:sp>
      <p:sp>
        <p:nvSpPr>
          <p:cNvPr id="5" name="Text 3"/>
          <p:cNvSpPr txBox="1"/>
          <p:nvPr/>
        </p:nvSpPr>
        <p:spPr>
          <a:xfrm>
            <a:off x="777240" y="1920240"/>
            <a:ext cx="3058058" cy="731520"/>
          </a:xfrm>
          <a:prstGeom prst="rect">
            <a:avLst/>
          </a:prstGeom>
          <a:noFill/>
          <a:ln/>
        </p:spPr>
        <p:txBody>
          <a:bodyPr wrap="square" lIns="0" tIns="0" rIns="0" bIns="0" rtlCol="0" anchor="t"/>
          <a:lstStyle/>
          <a:p>
            <a:pPr indent="0" marL="0">
              <a:buNone/>
            </a:pPr>
            <a:r>
              <a:rPr lang="en-US" sz="1400" dirty="0">
                <a:solidFill>
                  <a:schemeClr val="tx1"/>
                </a:solidFill>
              </a:rPr>
              <a:t>How prepared a company is to use AI in a way that actually works and lasts.</a:t>
            </a:r>
            <a:endParaRPr lang="en-US" sz="1400" dirty="0"/>
          </a:p>
        </p:txBody>
      </p:sp>
      <p:sp>
        <p:nvSpPr>
          <p:cNvPr id="6" name="term-2"/>
          <p:cNvSpPr/>
          <p:nvPr/>
        </p:nvSpPr>
        <p:spPr>
          <a:xfrm>
            <a:off x="4338218" y="1371600"/>
            <a:ext cx="3515258" cy="1371600"/>
          </a:xfrm>
          <a:prstGeom prst="roundRect">
            <a:avLst>
              <a:gd name="adj" fmla="val 5333"/>
            </a:avLst>
          </a:prstGeom>
          <a:solidFill>
            <a:schemeClr val="bg2"/>
          </a:solidFill>
          <a:ln w="12700">
            <a:solidFill>
              <a:schemeClr val="bg2"/>
            </a:solidFill>
            <a:prstDash val="solid"/>
          </a:ln>
        </p:spPr>
      </p:sp>
      <p:sp>
        <p:nvSpPr>
          <p:cNvPr id="7" name="Text 5"/>
          <p:cNvSpPr txBox="1"/>
          <p:nvPr/>
        </p:nvSpPr>
        <p:spPr>
          <a:xfrm>
            <a:off x="4566818" y="1536192"/>
            <a:ext cx="3058058" cy="365760"/>
          </a:xfrm>
          <a:prstGeom prst="rect">
            <a:avLst/>
          </a:prstGeom>
          <a:noFill/>
          <a:ln/>
        </p:spPr>
        <p:txBody>
          <a:bodyPr wrap="square" lIns="0" tIns="0" rIns="0" bIns="0" rtlCol="0" anchor="t"/>
          <a:lstStyle/>
          <a:p>
            <a:pPr indent="0" marL="0">
              <a:buNone/>
            </a:pPr>
            <a:r>
              <a:rPr lang="en-US" sz="1700" b="1" dirty="0">
                <a:solidFill>
                  <a:schemeClr val="tx2"/>
                </a:solidFill>
              </a:rPr>
              <a:t>Operator</a:t>
            </a:r>
            <a:endParaRPr lang="en-US" sz="1700" dirty="0"/>
          </a:p>
        </p:txBody>
      </p:sp>
      <p:sp>
        <p:nvSpPr>
          <p:cNvPr id="8" name="Text 6"/>
          <p:cNvSpPr txBox="1"/>
          <p:nvPr/>
        </p:nvSpPr>
        <p:spPr>
          <a:xfrm>
            <a:off x="4566818" y="1920240"/>
            <a:ext cx="3058058" cy="731520"/>
          </a:xfrm>
          <a:prstGeom prst="rect">
            <a:avLst/>
          </a:prstGeom>
          <a:noFill/>
          <a:ln/>
        </p:spPr>
        <p:txBody>
          <a:bodyPr wrap="square" lIns="0" tIns="0" rIns="0" bIns="0" rtlCol="0" anchor="t"/>
          <a:lstStyle/>
          <a:p>
            <a:pPr indent="0" marL="0">
              <a:buNone/>
            </a:pPr>
            <a:r>
              <a:rPr lang="en-US" sz="1400" dirty="0">
                <a:solidFill>
                  <a:schemeClr val="tx1"/>
                </a:solidFill>
              </a:rPr>
              <a:t>The person running the assessment.</a:t>
            </a:r>
            <a:endParaRPr lang="en-US" sz="1400" dirty="0"/>
          </a:p>
        </p:txBody>
      </p:sp>
      <p:sp>
        <p:nvSpPr>
          <p:cNvPr id="9" name="term-3"/>
          <p:cNvSpPr/>
          <p:nvPr/>
        </p:nvSpPr>
        <p:spPr>
          <a:xfrm>
            <a:off x="8127797" y="1371600"/>
            <a:ext cx="3515258" cy="1371600"/>
          </a:xfrm>
          <a:prstGeom prst="roundRect">
            <a:avLst>
              <a:gd name="adj" fmla="val 5333"/>
            </a:avLst>
          </a:prstGeom>
          <a:solidFill>
            <a:schemeClr val="bg2"/>
          </a:solidFill>
          <a:ln w="12700">
            <a:solidFill>
              <a:schemeClr val="bg2"/>
            </a:solidFill>
            <a:prstDash val="solid"/>
          </a:ln>
        </p:spPr>
      </p:sp>
      <p:sp>
        <p:nvSpPr>
          <p:cNvPr id="10" name="Text 8"/>
          <p:cNvSpPr txBox="1"/>
          <p:nvPr/>
        </p:nvSpPr>
        <p:spPr>
          <a:xfrm>
            <a:off x="8356397" y="1536192"/>
            <a:ext cx="3058058" cy="365760"/>
          </a:xfrm>
          <a:prstGeom prst="rect">
            <a:avLst/>
          </a:prstGeom>
          <a:noFill/>
          <a:ln/>
        </p:spPr>
        <p:txBody>
          <a:bodyPr wrap="square" lIns="0" tIns="0" rIns="0" bIns="0" rtlCol="0" anchor="t"/>
          <a:lstStyle/>
          <a:p>
            <a:pPr indent="0" marL="0">
              <a:buNone/>
            </a:pPr>
            <a:r>
              <a:rPr lang="en-US" sz="1700" b="1" dirty="0">
                <a:solidFill>
                  <a:schemeClr val="tx2"/>
                </a:solidFill>
              </a:rPr>
              <a:t>Workflow</a:t>
            </a:r>
            <a:endParaRPr lang="en-US" sz="1700" dirty="0"/>
          </a:p>
        </p:txBody>
      </p:sp>
      <p:sp>
        <p:nvSpPr>
          <p:cNvPr id="11" name="Text 9"/>
          <p:cNvSpPr txBox="1"/>
          <p:nvPr/>
        </p:nvSpPr>
        <p:spPr>
          <a:xfrm>
            <a:off x="8356397" y="1920240"/>
            <a:ext cx="3058058" cy="731520"/>
          </a:xfrm>
          <a:prstGeom prst="rect">
            <a:avLst/>
          </a:prstGeom>
          <a:noFill/>
          <a:ln/>
        </p:spPr>
        <p:txBody>
          <a:bodyPr wrap="square" lIns="0" tIns="0" rIns="0" bIns="0" rtlCol="0" anchor="t"/>
          <a:lstStyle/>
          <a:p>
            <a:pPr indent="0" marL="0">
              <a:buNone/>
            </a:pPr>
            <a:r>
              <a:rPr lang="en-US" sz="1400" dirty="0">
                <a:solidFill>
                  <a:schemeClr val="tx1"/>
                </a:solidFill>
              </a:rPr>
              <a:t>A repeatable sequence of work, like processing an order or approving an invoice.</a:t>
            </a:r>
            <a:endParaRPr lang="en-US" sz="1400" dirty="0"/>
          </a:p>
        </p:txBody>
      </p:sp>
      <p:sp>
        <p:nvSpPr>
          <p:cNvPr id="12" name="term-4"/>
          <p:cNvSpPr/>
          <p:nvPr/>
        </p:nvSpPr>
        <p:spPr>
          <a:xfrm>
            <a:off x="548640" y="2944368"/>
            <a:ext cx="3515258" cy="1371600"/>
          </a:xfrm>
          <a:prstGeom prst="roundRect">
            <a:avLst>
              <a:gd name="adj" fmla="val 5333"/>
            </a:avLst>
          </a:prstGeom>
          <a:solidFill>
            <a:schemeClr val="bg2"/>
          </a:solidFill>
          <a:ln w="12700">
            <a:solidFill>
              <a:schemeClr val="bg2"/>
            </a:solidFill>
            <a:prstDash val="solid"/>
          </a:ln>
        </p:spPr>
      </p:sp>
      <p:sp>
        <p:nvSpPr>
          <p:cNvPr id="13" name="Text 11"/>
          <p:cNvSpPr txBox="1"/>
          <p:nvPr/>
        </p:nvSpPr>
        <p:spPr>
          <a:xfrm>
            <a:off x="777240" y="3108960"/>
            <a:ext cx="3058058" cy="365760"/>
          </a:xfrm>
          <a:prstGeom prst="rect">
            <a:avLst/>
          </a:prstGeom>
          <a:noFill/>
          <a:ln/>
        </p:spPr>
        <p:txBody>
          <a:bodyPr wrap="square" lIns="0" tIns="0" rIns="0" bIns="0" rtlCol="0" anchor="t"/>
          <a:lstStyle/>
          <a:p>
            <a:pPr indent="0" marL="0">
              <a:buNone/>
            </a:pPr>
            <a:r>
              <a:rPr lang="en-US" sz="1700" b="1" dirty="0">
                <a:solidFill>
                  <a:schemeClr val="tx2"/>
                </a:solidFill>
              </a:rPr>
              <a:t>System of record</a:t>
            </a:r>
            <a:endParaRPr lang="en-US" sz="1700" dirty="0"/>
          </a:p>
        </p:txBody>
      </p:sp>
      <p:sp>
        <p:nvSpPr>
          <p:cNvPr id="14" name="Text 12"/>
          <p:cNvSpPr txBox="1"/>
          <p:nvPr/>
        </p:nvSpPr>
        <p:spPr>
          <a:xfrm>
            <a:off x="777240" y="3493008"/>
            <a:ext cx="3058058" cy="731520"/>
          </a:xfrm>
          <a:prstGeom prst="rect">
            <a:avLst/>
          </a:prstGeom>
          <a:noFill/>
          <a:ln/>
        </p:spPr>
        <p:txBody>
          <a:bodyPr wrap="square" lIns="0" tIns="0" rIns="0" bIns="0" rtlCol="0" anchor="t"/>
          <a:lstStyle/>
          <a:p>
            <a:pPr indent="0" marL="0">
              <a:buNone/>
            </a:pPr>
            <a:r>
              <a:rPr lang="en-US" sz="1400" dirty="0">
                <a:solidFill>
                  <a:schemeClr val="tx1"/>
                </a:solidFill>
              </a:rPr>
              <a:t>Software that mainly stores information, like a filing cabinet.</a:t>
            </a:r>
            <a:endParaRPr lang="en-US" sz="1400" dirty="0"/>
          </a:p>
        </p:txBody>
      </p:sp>
      <p:sp>
        <p:nvSpPr>
          <p:cNvPr id="15" name="term-5"/>
          <p:cNvSpPr/>
          <p:nvPr/>
        </p:nvSpPr>
        <p:spPr>
          <a:xfrm>
            <a:off x="4338218" y="2944368"/>
            <a:ext cx="3515258" cy="1371600"/>
          </a:xfrm>
          <a:prstGeom prst="roundRect">
            <a:avLst>
              <a:gd name="adj" fmla="val 5333"/>
            </a:avLst>
          </a:prstGeom>
          <a:solidFill>
            <a:schemeClr val="bg2"/>
          </a:solidFill>
          <a:ln w="12700">
            <a:solidFill>
              <a:schemeClr val="bg2"/>
            </a:solidFill>
            <a:prstDash val="solid"/>
          </a:ln>
        </p:spPr>
      </p:sp>
      <p:sp>
        <p:nvSpPr>
          <p:cNvPr id="16" name="Text 14"/>
          <p:cNvSpPr txBox="1"/>
          <p:nvPr/>
        </p:nvSpPr>
        <p:spPr>
          <a:xfrm>
            <a:off x="4566818" y="3108960"/>
            <a:ext cx="3058058" cy="365760"/>
          </a:xfrm>
          <a:prstGeom prst="rect">
            <a:avLst/>
          </a:prstGeom>
          <a:noFill/>
          <a:ln/>
        </p:spPr>
        <p:txBody>
          <a:bodyPr wrap="square" lIns="0" tIns="0" rIns="0" bIns="0" rtlCol="0" anchor="t"/>
          <a:lstStyle/>
          <a:p>
            <a:pPr indent="0" marL="0">
              <a:buNone/>
            </a:pPr>
            <a:r>
              <a:rPr lang="en-US" sz="1700" b="1" dirty="0">
                <a:solidFill>
                  <a:schemeClr val="tx2"/>
                </a:solidFill>
              </a:rPr>
              <a:t>System of action</a:t>
            </a:r>
            <a:endParaRPr lang="en-US" sz="1700" dirty="0"/>
          </a:p>
        </p:txBody>
      </p:sp>
      <p:sp>
        <p:nvSpPr>
          <p:cNvPr id="17" name="Text 15"/>
          <p:cNvSpPr txBox="1"/>
          <p:nvPr/>
        </p:nvSpPr>
        <p:spPr>
          <a:xfrm>
            <a:off x="4566818" y="3493008"/>
            <a:ext cx="3058058" cy="731520"/>
          </a:xfrm>
          <a:prstGeom prst="rect">
            <a:avLst/>
          </a:prstGeom>
          <a:noFill/>
          <a:ln/>
        </p:spPr>
        <p:txBody>
          <a:bodyPr wrap="square" lIns="0" tIns="0" rIns="0" bIns="0" rtlCol="0" anchor="t"/>
          <a:lstStyle/>
          <a:p>
            <a:pPr indent="0" marL="0">
              <a:buNone/>
            </a:pPr>
            <a:r>
              <a:rPr lang="en-US" sz="1400" dirty="0">
                <a:solidFill>
                  <a:schemeClr val="tx1"/>
                </a:solidFill>
              </a:rPr>
              <a:t>Software that can do things: send, approve, schedule, update.</a:t>
            </a:r>
            <a:endParaRPr lang="en-US" sz="1400" dirty="0"/>
          </a:p>
        </p:txBody>
      </p:sp>
      <p:sp>
        <p:nvSpPr>
          <p:cNvPr id="18" name="term-6"/>
          <p:cNvSpPr/>
          <p:nvPr/>
        </p:nvSpPr>
        <p:spPr>
          <a:xfrm>
            <a:off x="8127797" y="2944368"/>
            <a:ext cx="3515258" cy="1371600"/>
          </a:xfrm>
          <a:prstGeom prst="roundRect">
            <a:avLst>
              <a:gd name="adj" fmla="val 5333"/>
            </a:avLst>
          </a:prstGeom>
          <a:solidFill>
            <a:schemeClr val="bg2"/>
          </a:solidFill>
          <a:ln w="12700">
            <a:solidFill>
              <a:schemeClr val="bg2"/>
            </a:solidFill>
            <a:prstDash val="solid"/>
          </a:ln>
        </p:spPr>
      </p:sp>
      <p:sp>
        <p:nvSpPr>
          <p:cNvPr id="19" name="Text 17"/>
          <p:cNvSpPr txBox="1"/>
          <p:nvPr/>
        </p:nvSpPr>
        <p:spPr>
          <a:xfrm>
            <a:off x="8356397" y="3108960"/>
            <a:ext cx="3058058" cy="365760"/>
          </a:xfrm>
          <a:prstGeom prst="rect">
            <a:avLst/>
          </a:prstGeom>
          <a:noFill/>
          <a:ln/>
        </p:spPr>
        <p:txBody>
          <a:bodyPr wrap="square" lIns="0" tIns="0" rIns="0" bIns="0" rtlCol="0" anchor="t"/>
          <a:lstStyle/>
          <a:p>
            <a:pPr indent="0" marL="0">
              <a:buNone/>
            </a:pPr>
            <a:r>
              <a:rPr lang="en-US" sz="1700" b="1" dirty="0">
                <a:solidFill>
                  <a:schemeClr val="tx2"/>
                </a:solidFill>
              </a:rPr>
              <a:t>Oversight (governance)</a:t>
            </a:r>
            <a:endParaRPr lang="en-US" sz="1700" dirty="0"/>
          </a:p>
        </p:txBody>
      </p:sp>
      <p:sp>
        <p:nvSpPr>
          <p:cNvPr id="20" name="Text 18"/>
          <p:cNvSpPr txBox="1"/>
          <p:nvPr/>
        </p:nvSpPr>
        <p:spPr>
          <a:xfrm>
            <a:off x="8356397" y="3493008"/>
            <a:ext cx="3058058" cy="731520"/>
          </a:xfrm>
          <a:prstGeom prst="rect">
            <a:avLst/>
          </a:prstGeom>
          <a:noFill/>
          <a:ln/>
        </p:spPr>
        <p:txBody>
          <a:bodyPr wrap="square" lIns="0" tIns="0" rIns="0" bIns="0" rtlCol="0" anchor="t"/>
          <a:lstStyle/>
          <a:p>
            <a:pPr indent="0" marL="0">
              <a:buNone/>
            </a:pPr>
            <a:r>
              <a:rPr lang="en-US" sz="1400" dirty="0">
                <a:solidFill>
                  <a:schemeClr val="tx1"/>
                </a:solidFill>
              </a:rPr>
              <a:t>The rules and people that check AI’s work and decide what it may do.</a:t>
            </a:r>
            <a:endParaRPr lang="en-US" sz="1400" dirty="0"/>
          </a:p>
        </p:txBody>
      </p:sp>
      <p:sp>
        <p:nvSpPr>
          <p:cNvPr id="21" name="term-7"/>
          <p:cNvSpPr/>
          <p:nvPr/>
        </p:nvSpPr>
        <p:spPr>
          <a:xfrm>
            <a:off x="548640" y="4517136"/>
            <a:ext cx="3515258" cy="1371600"/>
          </a:xfrm>
          <a:prstGeom prst="roundRect">
            <a:avLst>
              <a:gd name="adj" fmla="val 5333"/>
            </a:avLst>
          </a:prstGeom>
          <a:solidFill>
            <a:schemeClr val="bg2"/>
          </a:solidFill>
          <a:ln w="12700">
            <a:solidFill>
              <a:schemeClr val="bg2"/>
            </a:solidFill>
            <a:prstDash val="solid"/>
          </a:ln>
        </p:spPr>
      </p:sp>
      <p:sp>
        <p:nvSpPr>
          <p:cNvPr id="22" name="Text 20"/>
          <p:cNvSpPr txBox="1"/>
          <p:nvPr/>
        </p:nvSpPr>
        <p:spPr>
          <a:xfrm>
            <a:off x="777240" y="4681728"/>
            <a:ext cx="3058058" cy="365760"/>
          </a:xfrm>
          <a:prstGeom prst="rect">
            <a:avLst/>
          </a:prstGeom>
          <a:noFill/>
          <a:ln/>
        </p:spPr>
        <p:txBody>
          <a:bodyPr wrap="square" lIns="0" tIns="0" rIns="0" bIns="0" rtlCol="0" anchor="t"/>
          <a:lstStyle/>
          <a:p>
            <a:pPr indent="0" marL="0">
              <a:buNone/>
            </a:pPr>
            <a:r>
              <a:rPr lang="en-US" sz="1700" b="1" dirty="0">
                <a:solidFill>
                  <a:schemeClr val="tx2"/>
                </a:solidFill>
              </a:rPr>
              <a:t>Pilot</a:t>
            </a:r>
            <a:endParaRPr lang="en-US" sz="1700" dirty="0"/>
          </a:p>
        </p:txBody>
      </p:sp>
      <p:sp>
        <p:nvSpPr>
          <p:cNvPr id="23" name="Text 21"/>
          <p:cNvSpPr txBox="1"/>
          <p:nvPr/>
        </p:nvSpPr>
        <p:spPr>
          <a:xfrm>
            <a:off x="777240" y="5065776"/>
            <a:ext cx="3058058" cy="731520"/>
          </a:xfrm>
          <a:prstGeom prst="rect">
            <a:avLst/>
          </a:prstGeom>
          <a:noFill/>
          <a:ln/>
        </p:spPr>
        <p:txBody>
          <a:bodyPr wrap="square" lIns="0" tIns="0" rIns="0" bIns="0" rtlCol="0" anchor="t"/>
          <a:lstStyle/>
          <a:p>
            <a:pPr indent="0" marL="0">
              <a:buNone/>
            </a:pPr>
            <a:r>
              <a:rPr lang="en-US" sz="1400" dirty="0">
                <a:solidFill>
                  <a:schemeClr val="tx1"/>
                </a:solidFill>
              </a:rPr>
              <a:t>A small, controlled trial before a wider rollout.</a:t>
            </a:r>
            <a:endParaRPr lang="en-US" sz="1400" dirty="0"/>
          </a:p>
        </p:txBody>
      </p:sp>
      <p:sp>
        <p:nvSpPr>
          <p:cNvPr id="24" name="term-8"/>
          <p:cNvSpPr/>
          <p:nvPr/>
        </p:nvSpPr>
        <p:spPr>
          <a:xfrm>
            <a:off x="4338218" y="4517136"/>
            <a:ext cx="3515258" cy="1371600"/>
          </a:xfrm>
          <a:prstGeom prst="roundRect">
            <a:avLst>
              <a:gd name="adj" fmla="val 5333"/>
            </a:avLst>
          </a:prstGeom>
          <a:solidFill>
            <a:schemeClr val="bg2"/>
          </a:solidFill>
          <a:ln w="12700">
            <a:solidFill>
              <a:schemeClr val="bg2"/>
            </a:solidFill>
            <a:prstDash val="solid"/>
          </a:ln>
        </p:spPr>
      </p:sp>
      <p:sp>
        <p:nvSpPr>
          <p:cNvPr id="25" name="Text 23"/>
          <p:cNvSpPr txBox="1"/>
          <p:nvPr/>
        </p:nvSpPr>
        <p:spPr>
          <a:xfrm>
            <a:off x="4566818" y="4681728"/>
            <a:ext cx="3058058" cy="365760"/>
          </a:xfrm>
          <a:prstGeom prst="rect">
            <a:avLst/>
          </a:prstGeom>
          <a:noFill/>
          <a:ln/>
        </p:spPr>
        <p:txBody>
          <a:bodyPr wrap="square" lIns="0" tIns="0" rIns="0" bIns="0" rtlCol="0" anchor="t"/>
          <a:lstStyle/>
          <a:p>
            <a:pPr indent="0" marL="0">
              <a:buNone/>
            </a:pPr>
            <a:r>
              <a:rPr lang="en-US" sz="1700" b="1" dirty="0">
                <a:solidFill>
                  <a:schemeClr val="tx2"/>
                </a:solidFill>
              </a:rPr>
              <a:t>Bounded action</a:t>
            </a:r>
            <a:endParaRPr lang="en-US" sz="1700" dirty="0"/>
          </a:p>
        </p:txBody>
      </p:sp>
      <p:sp>
        <p:nvSpPr>
          <p:cNvPr id="26" name="Text 24"/>
          <p:cNvSpPr txBox="1"/>
          <p:nvPr/>
        </p:nvSpPr>
        <p:spPr>
          <a:xfrm>
            <a:off x="4566818" y="5065776"/>
            <a:ext cx="3058058" cy="731520"/>
          </a:xfrm>
          <a:prstGeom prst="rect">
            <a:avLst/>
          </a:prstGeom>
          <a:noFill/>
          <a:ln/>
        </p:spPr>
        <p:txBody>
          <a:bodyPr wrap="square" lIns="0" tIns="0" rIns="0" bIns="0" rtlCol="0" anchor="t"/>
          <a:lstStyle/>
          <a:p>
            <a:pPr indent="0" marL="0">
              <a:buNone/>
            </a:pPr>
            <a:r>
              <a:rPr lang="en-US" sz="1400" dirty="0">
                <a:solidFill>
                  <a:schemeClr val="tx1"/>
                </a:solidFill>
              </a:rPr>
              <a:t>AI acting on its own, but only inside clearly defined limits.</a:t>
            </a:r>
            <a:endParaRPr lang="en-US" sz="1400" dirty="0"/>
          </a:p>
        </p:txBody>
      </p:sp>
      <p:sp>
        <p:nvSpPr>
          <p:cNvPr id="27" name="term-9"/>
          <p:cNvSpPr/>
          <p:nvPr/>
        </p:nvSpPr>
        <p:spPr>
          <a:xfrm>
            <a:off x="8127797" y="4517136"/>
            <a:ext cx="3515258" cy="1371600"/>
          </a:xfrm>
          <a:prstGeom prst="roundRect">
            <a:avLst>
              <a:gd name="adj" fmla="val 5333"/>
            </a:avLst>
          </a:prstGeom>
          <a:solidFill>
            <a:schemeClr val="bg2"/>
          </a:solidFill>
          <a:ln w="12700">
            <a:solidFill>
              <a:schemeClr val="bg2"/>
            </a:solidFill>
            <a:prstDash val="solid"/>
          </a:ln>
        </p:spPr>
      </p:sp>
      <p:sp>
        <p:nvSpPr>
          <p:cNvPr id="28" name="Text 26"/>
          <p:cNvSpPr txBox="1"/>
          <p:nvPr/>
        </p:nvSpPr>
        <p:spPr>
          <a:xfrm>
            <a:off x="8356397" y="4681728"/>
            <a:ext cx="3058058" cy="365760"/>
          </a:xfrm>
          <a:prstGeom prst="rect">
            <a:avLst/>
          </a:prstGeom>
          <a:noFill/>
          <a:ln/>
        </p:spPr>
        <p:txBody>
          <a:bodyPr wrap="square" lIns="0" tIns="0" rIns="0" bIns="0" rtlCol="0" anchor="t"/>
          <a:lstStyle/>
          <a:p>
            <a:pPr indent="0" marL="0">
              <a:buNone/>
            </a:pPr>
            <a:r>
              <a:rPr lang="en-US" sz="1700" b="1" dirty="0">
                <a:solidFill>
                  <a:schemeClr val="tx2"/>
                </a:solidFill>
              </a:rPr>
              <a:t>Deal-breaker (gate)</a:t>
            </a:r>
            <a:endParaRPr lang="en-US" sz="1700" dirty="0"/>
          </a:p>
        </p:txBody>
      </p:sp>
      <p:sp>
        <p:nvSpPr>
          <p:cNvPr id="29" name="Text 27"/>
          <p:cNvSpPr txBox="1"/>
          <p:nvPr/>
        </p:nvSpPr>
        <p:spPr>
          <a:xfrm>
            <a:off x="8356397" y="5065776"/>
            <a:ext cx="3058058" cy="731520"/>
          </a:xfrm>
          <a:prstGeom prst="rect">
            <a:avLst/>
          </a:prstGeom>
          <a:noFill/>
          <a:ln/>
        </p:spPr>
        <p:txBody>
          <a:bodyPr wrap="square" lIns="0" tIns="0" rIns="0" bIns="0" rtlCol="0" anchor="t"/>
          <a:lstStyle/>
          <a:p>
            <a:pPr indent="0" marL="0">
              <a:buNone/>
            </a:pPr>
            <a:r>
              <a:rPr lang="en-US" sz="1400" dirty="0">
                <a:solidFill>
                  <a:schemeClr val="tx1"/>
                </a:solidFill>
              </a:rPr>
              <a:t>A weakness serious enough to cap the recommendation, however strong the rest is.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AI Readiness">
  <a:themeElements>
    <a:clrScheme name="AI Readiness">
      <a:dk1>
        <a:srgbClr val="12161C"/>
      </a:dk1>
      <a:lt1>
        <a:srgbClr val="FFFFFF"/>
      </a:lt1>
      <a:dk2>
        <a:srgbClr val="1D3E6E"/>
      </a:dk2>
      <a:lt2>
        <a:srgbClr val="E8EEF7"/>
      </a:lt2>
      <a:accent1>
        <a:srgbClr val="2E5A96"/>
      </a:accent1>
      <a:accent2>
        <a:srgbClr val="B4453B"/>
      </a:accent2>
      <a:accent3>
        <a:srgbClr val="A8761F"/>
      </a:accent3>
      <a:accent4>
        <a:srgbClr val="2F7D5C"/>
      </a:accent4>
      <a:accent5>
        <a:srgbClr val="2C5FA8"/>
      </a:accent5>
      <a:accent6>
        <a:srgbClr val="5E6878"/>
      </a:accent6>
      <a:hlink>
        <a:srgbClr val="2C5FA8"/>
      </a:hlink>
      <a:folHlink>
        <a:srgbClr val="4C5665"/>
      </a:folHlink>
    </a:clrScheme>
    <a:fontScheme name="AI Readines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Readiness Assessment: Executive Summary v1.0</dc:title>
  <dc:subject>How the AI Readiness Assessment works</dc:subject>
  <dc:creator>Austin Stretz</dc:creator>
  <cp:lastModifiedBy>Austin Stretz</cp:lastModifiedBy>
  <cp:revision>1</cp:revision>
  <dcterms:created xsi:type="dcterms:W3CDTF">2026-10-13T15:06:54Z</dcterms:created>
  <dcterms:modified xsi:type="dcterms:W3CDTF">2026-10-13T15:06:54Z</dcterms:modified>
</cp:coreProperties>
</file>